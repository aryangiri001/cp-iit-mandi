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sv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sv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-1079"/>
            <a:ext cx="9144000" cy="3810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15205"/>
            <a:ext cx="898676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3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</a:t>
            </a:r>
            <a:endParaRPr lang="en-US" sz="1580" dirty="0"/>
          </a:p>
        </p:txBody>
      </p:sp>
      <p:sp>
        <p:nvSpPr>
          <p:cNvPr id="7" name="Text 3"/>
          <p:cNvSpPr/>
          <p:nvPr/>
        </p:nvSpPr>
        <p:spPr>
          <a:xfrm>
            <a:off x="7226871" y="230312"/>
            <a:ext cx="19550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43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Project — 2026</a:t>
            </a:r>
            <a:endParaRPr lang="en-US" sz="860" dirty="0"/>
          </a:p>
        </p:txBody>
      </p:sp>
      <p:sp>
        <p:nvSpPr>
          <p:cNvPr id="8" name="Text 4"/>
          <p:cNvSpPr/>
          <p:nvPr/>
        </p:nvSpPr>
        <p:spPr>
          <a:xfrm>
            <a:off x="2970955" y="1393887"/>
            <a:ext cx="320201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013"/>
              </a:spcAft>
              <a:buNone/>
            </a:pPr>
            <a:r>
              <a:rPr lang="en-US" sz="860" b="1" spc="24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QUICK-COMMERCE ANALYTICS</a:t>
            </a:r>
            <a:endParaRPr lang="en-US" sz="860" dirty="0"/>
          </a:p>
        </p:txBody>
      </p:sp>
      <p:sp>
        <p:nvSpPr>
          <p:cNvPr id="9" name="Text 5"/>
          <p:cNvSpPr/>
          <p:nvPr/>
        </p:nvSpPr>
        <p:spPr>
          <a:xfrm>
            <a:off x="304450" y="1577541"/>
            <a:ext cx="8535099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Quick-Commerce</a:t>
            </a:r>
            <a:endParaRPr lang="en-US" sz="3960" dirty="0"/>
          </a:p>
        </p:txBody>
      </p:sp>
      <p:sp>
        <p:nvSpPr>
          <p:cNvPr id="10" name="Text 6"/>
          <p:cNvSpPr/>
          <p:nvPr/>
        </p:nvSpPr>
        <p:spPr>
          <a:xfrm>
            <a:off x="2031035" y="2080431"/>
            <a:ext cx="5081930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SLA Diagnostic</a:t>
            </a:r>
            <a:endParaRPr lang="en-US" sz="3960" dirty="0"/>
          </a:p>
        </p:txBody>
      </p:sp>
      <p:sp>
        <p:nvSpPr>
          <p:cNvPr id="11" name="Shape 7"/>
          <p:cNvSpPr/>
          <p:nvPr/>
        </p:nvSpPr>
        <p:spPr>
          <a:xfrm>
            <a:off x="4024275" y="2843101"/>
            <a:ext cx="1095375" cy="1905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12" name="Text 8"/>
          <p:cNvSpPr/>
          <p:nvPr/>
        </p:nvSpPr>
        <p:spPr>
          <a:xfrm>
            <a:off x="823075" y="3040968"/>
            <a:ext cx="7497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Delivery Delays and Identifying Operational Bottlenecks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2473516" y="3567745"/>
            <a:ext cx="419696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025"/>
              </a:spcBef>
              <a:buNone/>
            </a:pPr>
            <a:r>
              <a:rPr lang="en-US" sz="108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Aryan Giri | Aakash Sharma | Mrinal Shaurya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39903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Business Problem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0641"/>
            <a:ext cx="8229600" cy="995362"/>
          </a:xfrm>
          <a:prstGeom prst="roundRect">
            <a:avLst>
              <a:gd name="adj" fmla="val 11024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810518" y="1264890"/>
            <a:ext cx="9795019" cy="622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5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promises ultra-fast deliveries — but delivery delays damage</a:t>
            </a:r>
            <a:endParaRPr lang="en-US" sz="1730" dirty="0"/>
          </a:p>
          <a:p>
            <a:pPr algn="l" indent="0" marL="0">
              <a:lnSpc>
                <a:spcPts val="2505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satisfaction and operational credibility.</a:t>
            </a:r>
            <a:endParaRPr lang="en-US" sz="1730" dirty="0"/>
          </a:p>
        </p:txBody>
      </p:sp>
      <p:sp>
        <p:nvSpPr>
          <p:cNvPr id="8" name="Shape 6"/>
          <p:cNvSpPr/>
          <p:nvPr/>
        </p:nvSpPr>
        <p:spPr>
          <a:xfrm>
            <a:off x="458167" y="2230748"/>
            <a:ext cx="2619375" cy="121920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640035" y="2383185"/>
            <a:ext cx="40463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02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20" dirty="0"/>
          </a:p>
        </p:txBody>
      </p:sp>
      <p:sp>
        <p:nvSpPr>
          <p:cNvPr id="10" name="Text 8"/>
          <p:cNvSpPr/>
          <p:nvPr/>
        </p:nvSpPr>
        <p:spPr>
          <a:xfrm>
            <a:off x="640035" y="2849091"/>
            <a:ext cx="2507724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factors influence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time?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3262313" y="2230748"/>
            <a:ext cx="2619375" cy="121920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3444180" y="2383185"/>
            <a:ext cx="465192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02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20" dirty="0"/>
          </a:p>
        </p:txBody>
      </p:sp>
      <p:sp>
        <p:nvSpPr>
          <p:cNvPr id="13" name="Text 11"/>
          <p:cNvSpPr/>
          <p:nvPr/>
        </p:nvSpPr>
        <p:spPr>
          <a:xfrm>
            <a:off x="3444180" y="2849091"/>
            <a:ext cx="2908704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orders are at risk of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delays?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6066458" y="2230748"/>
            <a:ext cx="2619375" cy="1219200"/>
          </a:xfrm>
          <a:prstGeom prst="roundRect">
            <a:avLst>
              <a:gd name="adj" fmla="val 7500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326" y="2383185"/>
            <a:ext cx="478832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02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20" dirty="0"/>
          </a:p>
        </p:txBody>
      </p:sp>
      <p:sp>
        <p:nvSpPr>
          <p:cNvPr id="16" name="Text 14"/>
          <p:cNvSpPr/>
          <p:nvPr/>
        </p:nvSpPr>
        <p:spPr>
          <a:xfrm>
            <a:off x="6248326" y="2849091"/>
            <a:ext cx="2932792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can operations teams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better decisions?</a:t>
            </a:r>
            <a:endParaRPr lang="en-US" sz="1370" dirty="0"/>
          </a:p>
        </p:txBody>
      </p:sp>
      <p:sp>
        <p:nvSpPr>
          <p:cNvPr id="17" name="Shape 15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80641"/>
            <a:ext cx="8229600" cy="99536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167" y="2230748"/>
            <a:ext cx="2619375" cy="121920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2313" y="2230748"/>
            <a:ext cx="2619375" cy="12192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66458" y="2230748"/>
            <a:ext cx="2619375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37729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Charter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535" y="1080492"/>
            <a:ext cx="3076575" cy="900113"/>
          </a:xfrm>
          <a:prstGeom prst="roundRect">
            <a:avLst>
              <a:gd name="adj" fmla="val 10159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73373" y="1222995"/>
            <a:ext cx="7983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673373" y="1391341"/>
            <a:ext cx="3355248" cy="46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Quick-Commerce SLA</a:t>
            </a:r>
            <a:endParaRPr lang="en-US" sz="1370" dirty="0"/>
          </a:p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Diagnostic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457535" y="2109936"/>
            <a:ext cx="3076575" cy="900113"/>
          </a:xfrm>
          <a:prstGeom prst="roundRect">
            <a:avLst>
              <a:gd name="adj" fmla="val 10159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673373" y="2252439"/>
            <a:ext cx="4767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673373" y="2420785"/>
            <a:ext cx="3015020" cy="46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Analytics &amp; Machine</a:t>
            </a:r>
            <a:endParaRPr lang="en-US" sz="1370" dirty="0"/>
          </a:p>
          <a:p>
            <a:pPr algn="l" indent="0" marL="0">
              <a:lnSpc>
                <a:spcPts val="1778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 Capstone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457535" y="3140013"/>
            <a:ext cx="3076575" cy="690562"/>
          </a:xfrm>
          <a:prstGeom prst="roundRect">
            <a:avLst>
              <a:gd name="adj" fmla="val 13241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73373" y="3281883"/>
            <a:ext cx="85417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764753" y="3509516"/>
            <a:ext cx="3866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1252389" y="3509516"/>
            <a:ext cx="3894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EDA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1742182" y="3509516"/>
            <a:ext cx="3031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2165598" y="3509516"/>
            <a:ext cx="6868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FFE000"/>
                </a:solidFill>
                <a:highlight>
                  <a:srgbClr val="25252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Tableau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3762710" y="1080157"/>
            <a:ext cx="4924425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037335" y="1264890"/>
            <a:ext cx="20962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140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4037335" y="1579290"/>
            <a:ext cx="5537470" cy="142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Blinkit is a leading quick-commerce platform that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promises fast and reliable delivery of everyday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essentials. Maintaining this promise requires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 of delivery performance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operational efficiency.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4037335" y="3216622"/>
            <a:ext cx="5699023" cy="1426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analyzes a large quick-commerce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dataset to identify the factors influencing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performance, uncover operational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bottlenecks, and develop a machine learning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to predict orders at risk of delayed delivery.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535" y="1080492"/>
            <a:ext cx="3076575" cy="900113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535" y="2109936"/>
            <a:ext cx="3076575" cy="900113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535" y="3140013"/>
            <a:ext cx="3076575" cy="690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48050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Objectives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233" y="1079674"/>
            <a:ext cx="4281487" cy="3867150"/>
          </a:xfrm>
          <a:prstGeom prst="roundRect">
            <a:avLst>
              <a:gd name="adj" fmla="val 2837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50168" y="1266379"/>
            <a:ext cx="1512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12" kern="0" dirty="0">
                <a:solidFill>
                  <a:srgbClr val="000000"/>
                </a:solidFill>
                <a:highlight>
                  <a:srgbClr val="FFE000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P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960090" y="1250603"/>
            <a:ext cx="206862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1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OBJECTIVES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85019" y="1585206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0" name="Text 8"/>
          <p:cNvSpPr/>
          <p:nvPr/>
        </p:nvSpPr>
        <p:spPr>
          <a:xfrm>
            <a:off x="832024" y="1578397"/>
            <a:ext cx="4246498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delivery performance across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cities and product categories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85019" y="2200163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32024" y="2193354"/>
            <a:ext cx="4661312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operational bottlenecks affecting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time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85019" y="2815121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24" y="2808312"/>
            <a:ext cx="4668277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relationships between distance,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characteristics, and customer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685019" y="3686138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024" y="3679329"/>
            <a:ext cx="4667213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ML models to classify orders at risk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delayed delivery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685019" y="4301096"/>
            <a:ext cx="38100" cy="142875"/>
          </a:xfrm>
          <a:prstGeom prst="roundRect">
            <a:avLst>
              <a:gd name="adj" fmla="val 48000"/>
            </a:avLst>
          </a:prstGeom>
          <a:solidFill>
            <a:srgbClr val="FFE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024" y="4294287"/>
            <a:ext cx="4404085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findings through an interactive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dashboard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4966283" y="1079674"/>
            <a:ext cx="3719512" cy="3867150"/>
          </a:xfrm>
          <a:prstGeom prst="roundRect">
            <a:avLst>
              <a:gd name="adj" fmla="val 2950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258991" y="1266379"/>
            <a:ext cx="149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12" kern="0" dirty="0">
                <a:solidFill>
                  <a:srgbClr val="FFFFFF"/>
                </a:solidFill>
                <a:highlight>
                  <a:srgbClr val="1DA462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468243" y="1250603"/>
            <a:ext cx="23673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12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SECONDARY OBJECTIVES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193171" y="1585206"/>
            <a:ext cx="38100" cy="142875"/>
          </a:xfrm>
          <a:prstGeom prst="roundRect">
            <a:avLst>
              <a:gd name="adj" fmla="val 48000"/>
            </a:avLst>
          </a:prstGeom>
          <a:solidFill>
            <a:srgbClr val="1DA462"/>
          </a:solidFill>
          <a:ln/>
        </p:spPr>
      </p:sp>
      <p:sp>
        <p:nvSpPr>
          <p:cNvPr id="23" name="Text 21"/>
          <p:cNvSpPr/>
          <p:nvPr/>
        </p:nvSpPr>
        <p:spPr>
          <a:xfrm>
            <a:off x="5340176" y="1578397"/>
            <a:ext cx="4033771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 SQL proficiency using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Joins, GROUP BY, Window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Functions, and CTEs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5193171" y="2481969"/>
            <a:ext cx="38100" cy="142875"/>
          </a:xfrm>
          <a:prstGeom prst="roundRect">
            <a:avLst>
              <a:gd name="adj" fmla="val 48000"/>
            </a:avLst>
          </a:prstGeom>
          <a:solidFill>
            <a:srgbClr val="1DA462"/>
          </a:solidFill>
          <a:ln/>
        </p:spPr>
      </p:sp>
      <p:sp>
        <p:nvSpPr>
          <p:cNvPr id="25" name="Text 23"/>
          <p:cNvSpPr/>
          <p:nvPr/>
        </p:nvSpPr>
        <p:spPr>
          <a:xfrm>
            <a:off x="5340176" y="2475161"/>
            <a:ext cx="2866720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data cleaning and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techniques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5193171" y="3378733"/>
            <a:ext cx="38100" cy="142875"/>
          </a:xfrm>
          <a:prstGeom prst="roundRect">
            <a:avLst>
              <a:gd name="adj" fmla="val 48000"/>
            </a:avLst>
          </a:prstGeom>
          <a:solidFill>
            <a:srgbClr val="1DA462"/>
          </a:solidFill>
          <a:ln/>
        </p:spPr>
      </p:sp>
      <p:sp>
        <p:nvSpPr>
          <p:cNvPr id="27" name="Text 25"/>
          <p:cNvSpPr/>
          <p:nvPr/>
        </p:nvSpPr>
        <p:spPr>
          <a:xfrm>
            <a:off x="5340176" y="3371924"/>
            <a:ext cx="3638304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business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supported by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evidence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81667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Questions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716" y="1080418"/>
            <a:ext cx="4024312" cy="2752725"/>
          </a:xfrm>
          <a:prstGeom prst="roundRect">
            <a:avLst>
              <a:gd name="adj" fmla="val 3322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58341" y="1212279"/>
            <a:ext cx="20491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Performance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41" y="1523628"/>
            <a:ext cx="380662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is the average delivery time?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41" y="1828056"/>
            <a:ext cx="4740637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city has the highest average delivery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41" y="2395835"/>
            <a:ext cx="3922328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company records the fastest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deliveries?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41" y="2963614"/>
            <a:ext cx="4618650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product categories take the longest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deliver?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2934" y="1080418"/>
            <a:ext cx="4024312" cy="2752725"/>
          </a:xfrm>
          <a:prstGeom prst="roundRect">
            <a:avLst>
              <a:gd name="adj" fmla="val 3322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522" y="1212279"/>
            <a:ext cx="180085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Analysis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864522" y="1523628"/>
            <a:ext cx="4547257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do customer ratings vary by delivery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522" y="2091407"/>
            <a:ext cx="3657749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segments have the lowest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522" y="2659187"/>
            <a:ext cx="4553062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is the relationship between distance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rating?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522" y="3226966"/>
            <a:ext cx="4325049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Are late deliveries correlated with lower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6716" y="3935871"/>
            <a:ext cx="4024312" cy="2490787"/>
          </a:xfrm>
          <a:prstGeom prst="roundRect">
            <a:avLst>
              <a:gd name="adj" fmla="val 3671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41" y="4068440"/>
            <a:ext cx="19852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Analysis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58341" y="4379788"/>
            <a:ext cx="4618263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does payment method affect delivery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41" y="4947568"/>
            <a:ext cx="414115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is the late delivery rate per city?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41" y="5251996"/>
            <a:ext cx="4431558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categories have the highest delay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41" y="5819775"/>
            <a:ext cx="4406503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distance thresholds drive the most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2934" y="3935871"/>
            <a:ext cx="4024312" cy="2490787"/>
          </a:xfrm>
          <a:prstGeom prst="roundRect">
            <a:avLst>
              <a:gd name="adj" fmla="val 3671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522" y="4068440"/>
            <a:ext cx="16965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864522" y="4379788"/>
            <a:ext cx="45245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features best predict late delivery?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522" y="4684216"/>
            <a:ext cx="4166302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Which ML model achieves the highest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522" y="5251996"/>
            <a:ext cx="4385124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can predictions support operations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522" y="5819775"/>
            <a:ext cx="4559059" cy="45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are the optimal hyperparameters for</a:t>
            </a:r>
            <a:endParaRPr lang="en-US" sz="1300" dirty="0"/>
          </a:p>
          <a:p>
            <a:pPr algn="l" indent="0" marL="0">
              <a:lnSpc>
                <a:spcPts val="207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16" y="1080418"/>
            <a:ext cx="4024312" cy="2752725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934" y="1080418"/>
            <a:ext cx="4024312" cy="2752725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16" y="3935871"/>
            <a:ext cx="4024312" cy="2490787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934" y="3935871"/>
            <a:ext cx="4024312" cy="2490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98161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&amp; Key Metrics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79376"/>
            <a:ext cx="4000500" cy="1990725"/>
          </a:xfrm>
          <a:prstGeom prst="roundRect">
            <a:avLst>
              <a:gd name="adj" fmla="val 459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719137" y="1213470"/>
            <a:ext cx="9513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940" b="1" spc="140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SCOPE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19137" y="1506885"/>
            <a:ext cx="38627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Data cleaning and preprocessing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719137" y="1802234"/>
            <a:ext cx="32187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SQL analysis and reporting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719137" y="2097584"/>
            <a:ext cx="369944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Exploratory data analysis (EDA)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719137" y="2392933"/>
            <a:ext cx="32345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Machine learning modeling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719137" y="2688282"/>
            <a:ext cx="38409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Tableau dashboard development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457200" y="3171379"/>
            <a:ext cx="4000500" cy="1400175"/>
          </a:xfrm>
          <a:prstGeom prst="roundRect">
            <a:avLst>
              <a:gd name="adj" fmla="val 6531"/>
            </a:avLst>
          </a:prstGeom>
          <a:solidFill>
            <a:srgbClr val="1C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19137" y="3305547"/>
            <a:ext cx="14426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940" b="1" spc="140" kern="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 OF SCOPE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719137" y="3598962"/>
            <a:ext cx="281525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Real-time GPS tracking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719137" y="3894311"/>
            <a:ext cx="32986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Deep learning architectures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719137" y="4189661"/>
            <a:ext cx="33203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Live production deployment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4686300" y="1080157"/>
            <a:ext cx="4000500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960590" y="1239143"/>
            <a:ext cx="31405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40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PERFORMANCE INDICATORS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960144" y="1540222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426" y="1657573"/>
            <a:ext cx="20132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Delivery Time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7642399" y="1665982"/>
            <a:ext cx="8206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960144" y="2088803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24" name="Text 22"/>
          <p:cNvSpPr/>
          <p:nvPr/>
        </p:nvSpPr>
        <p:spPr>
          <a:xfrm>
            <a:off x="5143426" y="2206154"/>
            <a:ext cx="20096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Delivery Rate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8110314" y="2214563"/>
            <a:ext cx="2123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960144" y="2637383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27" name="Text 25"/>
          <p:cNvSpPr/>
          <p:nvPr/>
        </p:nvSpPr>
        <p:spPr>
          <a:xfrm>
            <a:off x="5143426" y="2754734"/>
            <a:ext cx="161376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by City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7818760" y="2763143"/>
            <a:ext cx="5913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960144" y="3185964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30" name="Text 28"/>
          <p:cNvSpPr/>
          <p:nvPr/>
        </p:nvSpPr>
        <p:spPr>
          <a:xfrm>
            <a:off x="5143426" y="3303315"/>
            <a:ext cx="23250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Customer Rating</a:t>
            </a:r>
            <a:endParaRPr lang="en-US" sz="1370" dirty="0"/>
          </a:p>
        </p:txBody>
      </p:sp>
      <p:sp>
        <p:nvSpPr>
          <p:cNvPr id="31" name="Text 29"/>
          <p:cNvSpPr/>
          <p:nvPr/>
        </p:nvSpPr>
        <p:spPr>
          <a:xfrm>
            <a:off x="7586960" y="3311723"/>
            <a:ext cx="8926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1–5 scale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960144" y="3734544"/>
            <a:ext cx="3452813" cy="447675"/>
          </a:xfrm>
          <a:prstGeom prst="roundRect">
            <a:avLst>
              <a:gd name="adj" fmla="val 16340"/>
            </a:avLst>
          </a:prstGeom>
          <a:solidFill>
            <a:srgbClr val="252525"/>
          </a:solidFill>
          <a:ln/>
        </p:spPr>
      </p:sp>
      <p:sp>
        <p:nvSpPr>
          <p:cNvPr id="33" name="Text 31"/>
          <p:cNvSpPr/>
          <p:nvPr/>
        </p:nvSpPr>
        <p:spPr>
          <a:xfrm>
            <a:off x="5143426" y="3851895"/>
            <a:ext cx="181411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7285806" y="3860304"/>
            <a:ext cx="12841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F1 + accuracy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79376"/>
            <a:ext cx="4000500" cy="1990725"/>
          </a:xfrm>
          <a:prstGeom prst="rect">
            <a:avLst/>
          </a:prstGeom>
        </p:spPr>
      </p:pic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171379"/>
            <a:ext cx="400050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66658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Deliverables &amp; Success Criteria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0157"/>
            <a:ext cx="4000500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9143"/>
            <a:ext cx="24358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40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DELIVERABLES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542343"/>
            <a:ext cx="3543300" cy="457200"/>
          </a:xfrm>
          <a:prstGeom prst="roundRect">
            <a:avLst>
              <a:gd name="adj" fmla="val 16000"/>
            </a:avLst>
          </a:prstGeom>
          <a:solidFill>
            <a:srgbClr val="252525"/>
          </a:solidFill>
          <a:ln/>
        </p:spPr>
      </p:sp>
      <p:sp>
        <p:nvSpPr>
          <p:cNvPr id="9" name="Text 7"/>
          <p:cNvSpPr/>
          <p:nvPr/>
        </p:nvSpPr>
        <p:spPr>
          <a:xfrm>
            <a:off x="901973" y="1652215"/>
            <a:ext cx="2805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13408" y="1657573"/>
            <a:ext cx="340874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scripts and query results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685800" y="2114029"/>
            <a:ext cx="3543300" cy="733425"/>
          </a:xfrm>
          <a:prstGeom prst="roundRect">
            <a:avLst>
              <a:gd name="adj" fmla="val 9974"/>
            </a:avLst>
          </a:prstGeom>
          <a:solidFill>
            <a:srgbClr val="252525"/>
          </a:solidFill>
          <a:ln/>
        </p:spPr>
      </p:sp>
      <p:sp>
        <p:nvSpPr>
          <p:cNvPr id="12" name="Text 10"/>
          <p:cNvSpPr/>
          <p:nvPr/>
        </p:nvSpPr>
        <p:spPr>
          <a:xfrm>
            <a:off x="901973" y="2362051"/>
            <a:ext cx="3194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13408" y="2230189"/>
            <a:ext cx="3135362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ML model (Logistic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Regression, RF, XGBoost)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685800" y="2961940"/>
            <a:ext cx="3543300" cy="457200"/>
          </a:xfrm>
          <a:prstGeom prst="roundRect">
            <a:avLst>
              <a:gd name="adj" fmla="val 16000"/>
            </a:avLst>
          </a:prstGeom>
          <a:solidFill>
            <a:srgbClr val="2525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1973" y="3071813"/>
            <a:ext cx="3282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13408" y="3077170"/>
            <a:ext cx="3499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Tableau dashboard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685800" y="3533626"/>
            <a:ext cx="3543300" cy="733425"/>
          </a:xfrm>
          <a:prstGeom prst="roundRect">
            <a:avLst>
              <a:gd name="adj" fmla="val 9974"/>
            </a:avLst>
          </a:prstGeom>
          <a:solidFill>
            <a:srgbClr val="252525"/>
          </a:solidFill>
          <a:ln/>
        </p:spPr>
      </p:sp>
      <p:sp>
        <p:nvSpPr>
          <p:cNvPr id="18" name="Text 16"/>
          <p:cNvSpPr/>
          <p:nvPr/>
        </p:nvSpPr>
        <p:spPr>
          <a:xfrm>
            <a:off x="901973" y="3781648"/>
            <a:ext cx="3455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3408" y="3649787"/>
            <a:ext cx="3126656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presentation and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video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4686300" y="1080157"/>
            <a:ext cx="4000500" cy="3857625"/>
          </a:xfrm>
          <a:prstGeom prst="roundRect">
            <a:avLst>
              <a:gd name="adj" fmla="val 2844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914900" y="1239143"/>
            <a:ext cx="187283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940" b="1" spc="140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CRITERIA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4914900" y="1535311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5193134" y="1555477"/>
            <a:ext cx="3333192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all defined business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with evidence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4914900" y="2160538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5193134" y="2180704"/>
            <a:ext cx="4145793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analytics pipeline from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to insights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4914900" y="2785765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7" name="Text 25"/>
          <p:cNvSpPr/>
          <p:nvPr/>
        </p:nvSpPr>
        <p:spPr>
          <a:xfrm>
            <a:off x="5193134" y="2805931"/>
            <a:ext cx="4153339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Well-evaluated ML model (accuracy,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F1)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4914900" y="3410992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5193134" y="3431158"/>
            <a:ext cx="3060100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Executive-friendly Tableau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4914900" y="4036219"/>
            <a:ext cx="276262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580" dirty="0"/>
          </a:p>
        </p:txBody>
      </p:sp>
      <p:sp>
        <p:nvSpPr>
          <p:cNvPr id="31" name="Text 29"/>
          <p:cNvSpPr/>
          <p:nvPr/>
        </p:nvSpPr>
        <p:spPr>
          <a:xfrm>
            <a:off x="5193134" y="4056385"/>
            <a:ext cx="4196484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business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supported by data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542343"/>
            <a:ext cx="3543300" cy="457200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114029"/>
            <a:ext cx="3543300" cy="733425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2961940"/>
            <a:ext cx="3543300" cy="457200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533626"/>
            <a:ext cx="354330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40389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Overview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865" y="1079785"/>
            <a:ext cx="2809875" cy="1362075"/>
          </a:xfrm>
          <a:prstGeom prst="roundRect">
            <a:avLst>
              <a:gd name="adj" fmla="val 8056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244930" y="1141065"/>
            <a:ext cx="3233745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607"/>
              </a:spcAft>
              <a:buNone/>
            </a:pPr>
            <a:r>
              <a:rPr lang="en-US" sz="54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54,499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26656" y="2061121"/>
            <a:ext cx="187021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spc="11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5154" y="1079785"/>
            <a:ext cx="2481263" cy="1362075"/>
          </a:xfrm>
          <a:prstGeom prst="roundRect">
            <a:avLst>
              <a:gd name="adj" fmla="val 8056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4262709" y="1141065"/>
            <a:ext cx="946078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607"/>
              </a:spcAft>
              <a:buNone/>
            </a:pPr>
            <a:r>
              <a:rPr lang="en-US" sz="54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145645" y="2061121"/>
            <a:ext cx="118028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spc="11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5351" y="1079785"/>
            <a:ext cx="2481263" cy="1362075"/>
          </a:xfrm>
          <a:prstGeom prst="roundRect">
            <a:avLst>
              <a:gd name="adj" fmla="val 8056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244875" y="1141065"/>
            <a:ext cx="402215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607"/>
              </a:spcAft>
              <a:buNone/>
            </a:pPr>
            <a:r>
              <a:rPr lang="en-US" sz="54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19418" y="2061121"/>
            <a:ext cx="205305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spc="11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20938"/>
            <a:ext cx="8229600" cy="971550"/>
          </a:xfrm>
          <a:prstGeom prst="roundRect">
            <a:avLst>
              <a:gd name="adj" fmla="val 11294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490" y="2819251"/>
            <a:ext cx="152689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731490" y="3011239"/>
            <a:ext cx="266521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Late_Delivery</a:t>
            </a:r>
            <a:endParaRPr lang="en-US" sz="2160" dirty="0"/>
          </a:p>
        </p:txBody>
      </p:sp>
      <p:sp>
        <p:nvSpPr>
          <p:cNvPr id="18" name="Shape 16"/>
          <p:cNvSpPr/>
          <p:nvPr/>
        </p:nvSpPr>
        <p:spPr>
          <a:xfrm>
            <a:off x="3012653" y="2901888"/>
            <a:ext cx="4763" cy="40957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3292376" y="2764408"/>
            <a:ext cx="202006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spc="11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INCLUDE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3292376" y="2965921"/>
            <a:ext cx="6476993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City, Product Category, Delivery Distance, Payment Method,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Rating, Delivery Time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865" y="1079785"/>
            <a:ext cx="2809875" cy="1362075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5154" y="1079785"/>
            <a:ext cx="2481263" cy="136207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5351" y="1079785"/>
            <a:ext cx="2481263" cy="1362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20033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&amp; Technologies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233" y="1081274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35" y="1241822"/>
            <a:ext cx="128959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920106" y="1182216"/>
            <a:ext cx="92402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56233" y="1623008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35" y="1783556"/>
            <a:ext cx="8889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920106" y="1723951"/>
            <a:ext cx="872460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MySQL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6233" y="2164742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35" y="2325291"/>
            <a:ext cx="13175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1920106" y="2265685"/>
            <a:ext cx="199027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Pandas, NumPy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56233" y="2706477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35" y="2867025"/>
            <a:ext cx="12901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1920106" y="2807419"/>
            <a:ext cx="246167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Matplotlib, Seaborn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4753905" y="1081274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671" y="1241822"/>
            <a:ext cx="10503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217741" y="1182216"/>
            <a:ext cx="1058585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Tableau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4753905" y="1623008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671" y="1783556"/>
            <a:ext cx="10146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LIBRARY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217741" y="1723951"/>
            <a:ext cx="1508514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Scikit-learn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4753905" y="2163589"/>
            <a:ext cx="3933825" cy="514350"/>
          </a:xfrm>
          <a:prstGeom prst="roundRect">
            <a:avLst>
              <a:gd name="adj" fmla="val 14222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671" y="2270447"/>
            <a:ext cx="834249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217741" y="2293069"/>
            <a:ext cx="153850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&amp; GitHub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4753905" y="2761320"/>
            <a:ext cx="3933825" cy="457200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671" y="2921868"/>
            <a:ext cx="31921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spc="6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217741" y="2862262"/>
            <a:ext cx="222989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Code / Jupyter</a:t>
            </a:r>
            <a:endParaRPr lang="en-US" sz="144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20093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Workflow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349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1092171" y="2129061"/>
            <a:ext cx="50669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840254" y="2315542"/>
            <a:ext cx="101060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2325291" y="2183234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8362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11" name="Text 9"/>
          <p:cNvSpPr/>
          <p:nvPr/>
        </p:nvSpPr>
        <p:spPr>
          <a:xfrm>
            <a:off x="3230500" y="2129061"/>
            <a:ext cx="53213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2707448" y="2315542"/>
            <a:ext cx="1578166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Analysis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476304" y="2183234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9375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5379288" y="2129061"/>
            <a:ext cx="53658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5070027" y="2315542"/>
            <a:ext cx="115503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627316" y="2183234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10387" y="2007059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7525561" y="2129061"/>
            <a:ext cx="54606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7536407" y="2315542"/>
            <a:ext cx="52429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8495258" y="2847008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10239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7527165" y="3456533"/>
            <a:ext cx="54248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5</a:t>
            </a:r>
            <a:endParaRPr lang="en-US" sz="790" dirty="0"/>
          </a:p>
        </p:txBody>
      </p:sp>
      <p:sp>
        <p:nvSpPr>
          <p:cNvPr id="24" name="Text 22"/>
          <p:cNvSpPr/>
          <p:nvPr/>
        </p:nvSpPr>
        <p:spPr>
          <a:xfrm>
            <a:off x="7025383" y="3643015"/>
            <a:ext cx="1546049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Eng.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627168" y="3510707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9226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5377011" y="3456533"/>
            <a:ext cx="54084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6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4994798" y="3643015"/>
            <a:ext cx="130526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Models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4476155" y="3510707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08213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3232673" y="3456533"/>
            <a:ext cx="52749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7</a:t>
            </a:r>
            <a:endParaRPr lang="en-US" sz="790" dirty="0"/>
          </a:p>
        </p:txBody>
      </p:sp>
      <p:sp>
        <p:nvSpPr>
          <p:cNvPr id="32" name="Text 30"/>
          <p:cNvSpPr/>
          <p:nvPr/>
        </p:nvSpPr>
        <p:spPr>
          <a:xfrm>
            <a:off x="2714833" y="3643015"/>
            <a:ext cx="156317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2325142" y="3510707"/>
            <a:ext cx="30615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←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3334531"/>
            <a:ext cx="1776413" cy="676275"/>
          </a:xfrm>
          <a:prstGeom prst="roundRect">
            <a:avLst>
              <a:gd name="adj" fmla="val 10817"/>
            </a:avLst>
          </a:prstGeom>
          <a:solidFill>
            <a:srgbClr val="1C1C1C"/>
          </a:solidFill>
          <a:ln/>
        </p:spPr>
      </p:sp>
      <p:sp>
        <p:nvSpPr>
          <p:cNvPr id="35" name="Text 33"/>
          <p:cNvSpPr/>
          <p:nvPr/>
        </p:nvSpPr>
        <p:spPr>
          <a:xfrm>
            <a:off x="1074308" y="3456533"/>
            <a:ext cx="54219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43"/>
              </a:spcAft>
              <a:buNone/>
            </a:pPr>
            <a:r>
              <a:rPr lang="en-US" sz="790" b="1" spc="63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8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642093" y="3643015"/>
            <a:ext cx="1406552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349" y="2007059"/>
            <a:ext cx="1776413" cy="676275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362" y="2007059"/>
            <a:ext cx="1776413" cy="676275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9375" y="2007059"/>
            <a:ext cx="1776413" cy="676275"/>
          </a:xfrm>
          <a:prstGeom prst="rect">
            <a:avLst/>
          </a:prstGeom>
        </p:spPr>
      </p:pic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0387" y="2007059"/>
            <a:ext cx="1776413" cy="676275"/>
          </a:xfrm>
          <a:prstGeom prst="rect">
            <a:avLst/>
          </a:prstGeom>
        </p:spPr>
      </p:pic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0239" y="3334531"/>
            <a:ext cx="1776413" cy="676275"/>
          </a:xfrm>
          <a:prstGeom prst="rect">
            <a:avLst/>
          </a:prstGeom>
        </p:spPr>
      </p:pic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9226" y="3334531"/>
            <a:ext cx="1776413" cy="676275"/>
          </a:xfrm>
          <a:prstGeom prst="rect">
            <a:avLst/>
          </a:prstGeom>
        </p:spPr>
      </p:pic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08213" y="3334531"/>
            <a:ext cx="1776413" cy="676275"/>
          </a:xfrm>
          <a:prstGeom prst="rect">
            <a:avLst/>
          </a:prstGeom>
        </p:spPr>
      </p:pic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200" y="3334531"/>
            <a:ext cx="1776413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315722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Analysis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716" y="108060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719137" y="1213470"/>
            <a:ext cx="189246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City-wise Analysis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9137" y="1543348"/>
            <a:ext cx="35274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Average delivery time per city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719137" y="1865933"/>
            <a:ext cx="34282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Late delivery rate by location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719137" y="2188518"/>
            <a:ext cx="30546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Order volume distribution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719137" y="2511103"/>
            <a:ext cx="36574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City-level performance ranking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4662934" y="108060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925318" y="1213470"/>
            <a:ext cx="185996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25318" y="1543348"/>
            <a:ext cx="41029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Categories with highest delay rates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4925318" y="1865933"/>
            <a:ext cx="34972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Delivery time by product type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4925318" y="2188518"/>
            <a:ext cx="39528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Revenue contribution by category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4925318" y="2511103"/>
            <a:ext cx="39947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Top performing product segments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456716" y="306087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719137" y="3193703"/>
            <a:ext cx="261936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Method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9137" y="3523580"/>
            <a:ext cx="35952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Delivery time by payment type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719137" y="3846165"/>
            <a:ext cx="429496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COD vs digital payment performance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719137" y="4168750"/>
            <a:ext cx="328443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Payment preference by city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719137" y="4491335"/>
            <a:ext cx="357523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Correlation with late deliveries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4662934" y="3060874"/>
            <a:ext cx="4024312" cy="1876425"/>
          </a:xfrm>
          <a:prstGeom prst="roundRect">
            <a:avLst>
              <a:gd name="adj" fmla="val 4873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925318" y="3193703"/>
            <a:ext cx="88087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KPIs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25318" y="3523580"/>
            <a:ext cx="33794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Overall on-time delivery rate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4925318" y="3846165"/>
            <a:ext cx="324777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Average distance per order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4925318" y="4168750"/>
            <a:ext cx="34549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Customer satisfaction scores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4925318" y="4491335"/>
            <a:ext cx="41532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Window functions for running totals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16" y="1080604"/>
            <a:ext cx="4024312" cy="1876425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934" y="1080604"/>
            <a:ext cx="4024312" cy="1876425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16" y="3060874"/>
            <a:ext cx="4024312" cy="1876425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934" y="3060874"/>
            <a:ext cx="4024312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637764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Exploratory Data Analysis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716" y="1079302"/>
            <a:ext cx="4024312" cy="1824037"/>
          </a:xfrm>
          <a:prstGeom prst="roundRect">
            <a:avLst>
              <a:gd name="adj" fmla="val 501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27758"/>
            <a:ext cx="258559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Time Distribution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557635"/>
            <a:ext cx="37015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Histogram of delivery durations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685800" y="1880220"/>
            <a:ext cx="286643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Identification of outliers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685800" y="2202805"/>
            <a:ext cx="35338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Median vs mean delivery time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685800" y="2525390"/>
            <a:ext cx="314842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Distribution by time of day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4662934" y="1079302"/>
            <a:ext cx="4024312" cy="1824037"/>
          </a:xfrm>
          <a:prstGeom prst="roundRect">
            <a:avLst>
              <a:gd name="adj" fmla="val 5013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1980" y="1227758"/>
            <a:ext cx="145027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by City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1980" y="1557635"/>
            <a:ext cx="39483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Bar chart of order volume per city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4891980" y="1880220"/>
            <a:ext cx="351157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Geographic demand heatmap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4891980" y="2202805"/>
            <a:ext cx="37962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City-wise delay rate comparison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4891980" y="2525390"/>
            <a:ext cx="37579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Top-5 and bottom-5 performers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456716" y="3004989"/>
            <a:ext cx="4024312" cy="2109788"/>
          </a:xfrm>
          <a:prstGeom prst="roundRect">
            <a:avLst>
              <a:gd name="adj" fmla="val 4334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2998"/>
            <a:ext cx="205363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Correlation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482876"/>
            <a:ext cx="37426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Heatmap of feature correlations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685800" y="3805461"/>
            <a:ext cx="3844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Strong predictors of late delivery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685800" y="4128046"/>
            <a:ext cx="310305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Multicollinearity detection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685800" y="4450631"/>
            <a:ext cx="32354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Feature importance signals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4662934" y="3004989"/>
            <a:ext cx="4024312" cy="2109788"/>
          </a:xfrm>
          <a:prstGeom prst="roundRect">
            <a:avLst>
              <a:gd name="adj" fmla="val 4334"/>
            </a:avLst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4891980" y="3152998"/>
            <a:ext cx="171737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Distance vs Time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1980" y="3482876"/>
            <a:ext cx="420528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Scatter plot of distance and delivery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4891980" y="4092104"/>
            <a:ext cx="30733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Linear trend identification</a:t>
            </a:r>
            <a:endParaRPr lang="en-US" sz="1370" dirty="0"/>
          </a:p>
        </p:txBody>
      </p:sp>
      <p:sp>
        <p:nvSpPr>
          <p:cNvPr id="28" name="Text 26"/>
          <p:cNvSpPr/>
          <p:nvPr/>
        </p:nvSpPr>
        <p:spPr>
          <a:xfrm>
            <a:off x="4891980" y="4414689"/>
            <a:ext cx="35815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Distance thresholds for delays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4891980" y="4737274"/>
            <a:ext cx="28140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Segment-wise analysis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16" y="1079302"/>
            <a:ext cx="4024312" cy="1824037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934" y="1079302"/>
            <a:ext cx="4024312" cy="1824037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16" y="3004989"/>
            <a:ext cx="4024312" cy="2109788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934" y="3004989"/>
            <a:ext cx="4024312" cy="21097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97783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Engineering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0753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730523" y="1342653"/>
            <a:ext cx="504825" cy="504825"/>
          </a:xfrm>
          <a:prstGeom prst="ellipse">
            <a:avLst/>
          </a:prstGeom>
          <a:solidFill>
            <a:srgbClr val="FFE000"/>
          </a:solidFill>
          <a:ln/>
        </p:spPr>
      </p:sp>
      <p:sp>
        <p:nvSpPr>
          <p:cNvPr id="8" name="Text 6"/>
          <p:cNvSpPr/>
          <p:nvPr/>
        </p:nvSpPr>
        <p:spPr>
          <a:xfrm>
            <a:off x="938659" y="1433140"/>
            <a:ext cx="17217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671" y="1213470"/>
            <a:ext cx="353818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Late_Delivery Target Variable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1508671" y="1509266"/>
            <a:ext cx="8627581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binary classification target — 1 for late delivery, 0 for on-time — derived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actual vs expected delivery time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457200" y="2239305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0523" y="2501205"/>
            <a:ext cx="504825" cy="504825"/>
          </a:xfrm>
          <a:prstGeom prst="ellipse">
            <a:avLst/>
          </a:prstGeom>
          <a:solidFill>
            <a:srgbClr val="1DA462"/>
          </a:solidFill>
          <a:ln/>
        </p:spPr>
      </p:sp>
      <p:sp>
        <p:nvSpPr>
          <p:cNvPr id="13" name="Text 11"/>
          <p:cNvSpPr/>
          <p:nvPr/>
        </p:nvSpPr>
        <p:spPr>
          <a:xfrm>
            <a:off x="917897" y="2591693"/>
            <a:ext cx="226249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671" y="2372023"/>
            <a:ext cx="218548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One-Hot Encoding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1508671" y="2667819"/>
            <a:ext cx="8408953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categorical features (City, Product Category, Payment Method) into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 binary columns for ML compatibility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457200" y="3397858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0523" y="3659758"/>
            <a:ext cx="504825" cy="504825"/>
          </a:xfrm>
          <a:prstGeom prst="ellipse">
            <a:avLst/>
          </a:prstGeom>
          <a:solidFill>
            <a:srgbClr val="FFE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3209" y="3750246"/>
            <a:ext cx="238438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671" y="3530575"/>
            <a:ext cx="18679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Scaling</a:t>
            </a:r>
            <a:endParaRPr lang="en-US" sz="1370" dirty="0"/>
          </a:p>
        </p:txBody>
      </p:sp>
      <p:sp>
        <p:nvSpPr>
          <p:cNvPr id="20" name="Text 18"/>
          <p:cNvSpPr/>
          <p:nvPr/>
        </p:nvSpPr>
        <p:spPr>
          <a:xfrm>
            <a:off x="1508671" y="3826371"/>
            <a:ext cx="8511786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StandardScaler to normalize numerical features for Logistic Regression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(not required for tree-based models)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457200" y="4556410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730523" y="4818311"/>
            <a:ext cx="504825" cy="504825"/>
          </a:xfrm>
          <a:prstGeom prst="ellipse">
            <a:avLst/>
          </a:prstGeom>
          <a:solidFill>
            <a:srgbClr val="1DA462"/>
          </a:solidFill>
          <a:ln/>
        </p:spPr>
      </p:sp>
      <p:sp>
        <p:nvSpPr>
          <p:cNvPr id="23" name="Text 21"/>
          <p:cNvSpPr/>
          <p:nvPr/>
        </p:nvSpPr>
        <p:spPr>
          <a:xfrm>
            <a:off x="903908" y="4908798"/>
            <a:ext cx="26252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671" y="4689128"/>
            <a:ext cx="191249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/ Test Split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1508671" y="4984924"/>
            <a:ext cx="8987157" cy="45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dataset 80/20 into training and test sets with stratification to maintain class</a:t>
            </a:r>
            <a:endParaRPr lang="en-US" sz="1370" dirty="0"/>
          </a:p>
          <a:p>
            <a:pPr algn="l" indent="0" marL="0">
              <a:lnSpc>
                <a:spcPts val="1915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across both splits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629057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 Models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79934"/>
            <a:ext cx="2590800" cy="5405438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3940"/>
            <a:ext cx="8768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spc="86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85800" y="1571476"/>
            <a:ext cx="1776673" cy="661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Logistic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414439"/>
            <a:ext cx="246844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Linear classification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685800" y="3028801"/>
            <a:ext cx="2099972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Requires feature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685800" y="3643164"/>
            <a:ext cx="2119804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Fast training and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685800" y="4257526"/>
            <a:ext cx="1709827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Interpretable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coefficients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685800" y="4871889"/>
            <a:ext cx="2581729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Good for imbalanced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with class weights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685800" y="5534658"/>
            <a:ext cx="2133600" cy="771525"/>
          </a:xfrm>
          <a:prstGeom prst="roundRect">
            <a:avLst>
              <a:gd name="adj" fmla="val 7111"/>
            </a:avLst>
          </a:prstGeom>
          <a:solidFill>
            <a:srgbClr val="25252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8282" y="5627043"/>
            <a:ext cx="7486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94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1241312" y="5830937"/>
            <a:ext cx="102250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~97%</a:t>
            </a:r>
            <a:endParaRPr lang="en-US" sz="2160" dirty="0"/>
          </a:p>
        </p:txBody>
      </p:sp>
      <p:sp>
        <p:nvSpPr>
          <p:cNvPr id="17" name="Shape 15"/>
          <p:cNvSpPr/>
          <p:nvPr/>
        </p:nvSpPr>
        <p:spPr>
          <a:xfrm>
            <a:off x="3276600" y="1079934"/>
            <a:ext cx="2590800" cy="5405438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3505200" y="1283940"/>
            <a:ext cx="9115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spc="86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2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05200" y="1571476"/>
            <a:ext cx="239009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05200" y="2071539"/>
            <a:ext cx="2630969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Ensemble of decision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(Bagging)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3505200" y="2685901"/>
            <a:ext cx="2622359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Reduces variance via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averaging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3505200" y="3300264"/>
            <a:ext cx="229519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 feature scaling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needed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3505200" y="3914626"/>
            <a:ext cx="192313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Built-in feature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</a:t>
            </a:r>
            <a:endParaRPr lang="en-US" sz="1370" dirty="0"/>
          </a:p>
        </p:txBody>
      </p:sp>
      <p:sp>
        <p:nvSpPr>
          <p:cNvPr id="24" name="Text 22"/>
          <p:cNvSpPr/>
          <p:nvPr/>
        </p:nvSpPr>
        <p:spPr>
          <a:xfrm>
            <a:off x="3505200" y="4528989"/>
            <a:ext cx="22106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Robust to outliers</a:t>
            </a:r>
            <a:endParaRPr lang="en-US" sz="1370" dirty="0"/>
          </a:p>
        </p:txBody>
      </p:sp>
      <p:sp>
        <p:nvSpPr>
          <p:cNvPr id="25" name="Shape 23"/>
          <p:cNvSpPr/>
          <p:nvPr/>
        </p:nvSpPr>
        <p:spPr>
          <a:xfrm>
            <a:off x="3505200" y="5534658"/>
            <a:ext cx="2133600" cy="771525"/>
          </a:xfrm>
          <a:prstGeom prst="roundRect">
            <a:avLst>
              <a:gd name="adj" fmla="val 7111"/>
            </a:avLst>
          </a:prstGeom>
          <a:solidFill>
            <a:srgbClr val="252525"/>
          </a:solidFill>
          <a:ln/>
        </p:spPr>
      </p:sp>
      <p:sp>
        <p:nvSpPr>
          <p:cNvPr id="26" name="Text 24"/>
          <p:cNvSpPr/>
          <p:nvPr/>
        </p:nvSpPr>
        <p:spPr>
          <a:xfrm>
            <a:off x="4197682" y="5627043"/>
            <a:ext cx="7486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94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3863742" y="5830937"/>
            <a:ext cx="141651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98.04%</a:t>
            </a:r>
            <a:endParaRPr lang="en-US" sz="2160" dirty="0"/>
          </a:p>
        </p:txBody>
      </p:sp>
      <p:sp>
        <p:nvSpPr>
          <p:cNvPr id="28" name="Shape 26"/>
          <p:cNvSpPr/>
          <p:nvPr/>
        </p:nvSpPr>
        <p:spPr>
          <a:xfrm>
            <a:off x="6096000" y="1079934"/>
            <a:ext cx="2590800" cy="5405438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8144173" y="1176896"/>
            <a:ext cx="404813" cy="166688"/>
          </a:xfrm>
          <a:prstGeom prst="roundRect">
            <a:avLst>
              <a:gd name="adj" fmla="val 21943"/>
            </a:avLst>
          </a:prstGeom>
          <a:solidFill>
            <a:srgbClr val="FFE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216652" y="1191667"/>
            <a:ext cx="3949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72" kern="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6324600" y="1283940"/>
            <a:ext cx="9176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spc="86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3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324600" y="1571476"/>
            <a:ext cx="1373081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24600" y="2071539"/>
            <a:ext cx="226017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Gradient Boosting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(sequential trees)</a:t>
            </a:r>
            <a:endParaRPr lang="en-US" sz="1370" dirty="0"/>
          </a:p>
        </p:txBody>
      </p:sp>
      <p:sp>
        <p:nvSpPr>
          <p:cNvPr id="34" name="Text 32"/>
          <p:cNvSpPr/>
          <p:nvPr/>
        </p:nvSpPr>
        <p:spPr>
          <a:xfrm>
            <a:off x="6324600" y="2685901"/>
            <a:ext cx="2235986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Reduces bias and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370" dirty="0"/>
          </a:p>
        </p:txBody>
      </p:sp>
      <p:sp>
        <p:nvSpPr>
          <p:cNvPr id="35" name="Text 33"/>
          <p:cNvSpPr/>
          <p:nvPr/>
        </p:nvSpPr>
        <p:spPr>
          <a:xfrm>
            <a:off x="6324600" y="3300264"/>
            <a:ext cx="229519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 feature scaling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needed</a:t>
            </a:r>
            <a:endParaRPr lang="en-US" sz="1370" dirty="0"/>
          </a:p>
        </p:txBody>
      </p:sp>
      <p:sp>
        <p:nvSpPr>
          <p:cNvPr id="36" name="Text 34"/>
          <p:cNvSpPr/>
          <p:nvPr/>
        </p:nvSpPr>
        <p:spPr>
          <a:xfrm>
            <a:off x="6324600" y="3914626"/>
            <a:ext cx="250027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Advanced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</a:t>
            </a:r>
            <a:endParaRPr lang="en-US" sz="1370" dirty="0"/>
          </a:p>
        </p:txBody>
      </p:sp>
      <p:sp>
        <p:nvSpPr>
          <p:cNvPr id="37" name="Text 35"/>
          <p:cNvSpPr/>
          <p:nvPr/>
        </p:nvSpPr>
        <p:spPr>
          <a:xfrm>
            <a:off x="6324600" y="4528989"/>
            <a:ext cx="2592564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Best performance on</a:t>
            </a:r>
            <a:endParaRPr lang="en-US" sz="1370" dirty="0"/>
          </a:p>
          <a:p>
            <a:pPr algn="l" indent="0" marL="0">
              <a:lnSpc>
                <a:spcPts val="2257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</a:t>
            </a:r>
            <a:endParaRPr lang="en-US" sz="1370" dirty="0"/>
          </a:p>
        </p:txBody>
      </p:sp>
      <p:sp>
        <p:nvSpPr>
          <p:cNvPr id="38" name="Shape 36"/>
          <p:cNvSpPr/>
          <p:nvPr/>
        </p:nvSpPr>
        <p:spPr>
          <a:xfrm>
            <a:off x="6324600" y="5534658"/>
            <a:ext cx="2133600" cy="771525"/>
          </a:xfrm>
          <a:prstGeom prst="roundRect">
            <a:avLst>
              <a:gd name="adj" fmla="val 7111"/>
            </a:avLst>
          </a:prstGeom>
          <a:solidFill>
            <a:srgbClr val="252525"/>
          </a:solidFill>
          <a:ln/>
        </p:spPr>
      </p:sp>
      <p:sp>
        <p:nvSpPr>
          <p:cNvPr id="39" name="Text 37"/>
          <p:cNvSpPr/>
          <p:nvPr/>
        </p:nvSpPr>
        <p:spPr>
          <a:xfrm>
            <a:off x="7017082" y="5627043"/>
            <a:ext cx="7486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94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6705596" y="5830937"/>
            <a:ext cx="137153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98.28%</a:t>
            </a:r>
            <a:endParaRPr lang="en-US" sz="2160" dirty="0"/>
          </a:p>
        </p:txBody>
      </p:sp>
      <p:sp>
        <p:nvSpPr>
          <p:cNvPr id="41" name="Shape 39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79934"/>
            <a:ext cx="2590800" cy="5405438"/>
          </a:xfrm>
          <a:prstGeom prst="rect">
            <a:avLst/>
          </a:prstGeom>
        </p:spPr>
      </p:pic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6600" y="1079934"/>
            <a:ext cx="2590800" cy="5405438"/>
          </a:xfrm>
          <a:prstGeom prst="rect">
            <a:avLst/>
          </a:prstGeom>
        </p:spPr>
      </p:pic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1079934"/>
            <a:ext cx="2590800" cy="54054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57864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 vs Parameter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498" y="1079413"/>
            <a:ext cx="4338637" cy="2366963"/>
          </a:xfrm>
          <a:prstGeom prst="roundRect">
            <a:avLst>
              <a:gd name="adj" fmla="val 4636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56158" y="1079711"/>
            <a:ext cx="2171700" cy="41910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8" name="Text 6"/>
          <p:cNvSpPr/>
          <p:nvPr/>
        </p:nvSpPr>
        <p:spPr>
          <a:xfrm>
            <a:off x="637178" y="1177454"/>
            <a:ext cx="18096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Hyperparameter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625775" y="1079711"/>
            <a:ext cx="2171700" cy="419100"/>
          </a:xfrm>
          <a:prstGeom prst="rect">
            <a:avLst/>
          </a:prstGeom>
          <a:solidFill>
            <a:srgbClr val="1DA462"/>
          </a:solidFill>
          <a:ln/>
        </p:spPr>
      </p:sp>
      <p:sp>
        <p:nvSpPr>
          <p:cNvPr id="10" name="Text 8"/>
          <p:cNvSpPr/>
          <p:nvPr/>
        </p:nvSpPr>
        <p:spPr>
          <a:xfrm>
            <a:off x="3123999" y="1177454"/>
            <a:ext cx="11752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Parameter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56158" y="1497509"/>
            <a:ext cx="2171700" cy="652463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640035" y="1605260"/>
            <a:ext cx="1926037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before training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25775" y="1497509"/>
            <a:ext cx="2171700" cy="652463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2814414" y="1605260"/>
            <a:ext cx="160051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during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6158" y="2148185"/>
            <a:ext cx="2171700" cy="652463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640035" y="2255937"/>
            <a:ext cx="1838392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n_estimators,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25775" y="2148185"/>
            <a:ext cx="2171700" cy="652463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2814414" y="2255937"/>
            <a:ext cx="1370372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tree split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35" y="2906613"/>
            <a:ext cx="170915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by 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5775" y="2798862"/>
            <a:ext cx="2171700" cy="647700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2814414" y="2906613"/>
            <a:ext cx="157942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by the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1393" y="1080157"/>
            <a:ext cx="3614738" cy="3857625"/>
          </a:xfrm>
          <a:prstGeom prst="roundRect">
            <a:avLst>
              <a:gd name="adj" fmla="val 3036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5299323" y="1239143"/>
            <a:ext cx="182765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10" b="1" spc="121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TUNING?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5299323" y="1562546"/>
            <a:ext cx="4135442" cy="10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ML model has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— settings chosen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training that shape how the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learns.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5299323" y="2861518"/>
            <a:ext cx="4009683" cy="10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used </a:t>
            </a:r>
            <a:pPr algn="l" indent="0" marL="0">
              <a:lnSpc>
                <a:spcPts val="2304"/>
              </a:lnSpc>
              <a:buNone/>
            </a:pPr>
            <a:r>
              <a:rPr lang="en-US" sz="144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GridSearchCV</a:t>
            </a:r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systematically test combinations of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and find the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 configuration.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5299993" y="4126669"/>
            <a:ext cx="3157538" cy="633412"/>
          </a:xfrm>
          <a:prstGeom prst="roundRect">
            <a:avLst>
              <a:gd name="adj" fmla="val 11549"/>
            </a:avLst>
          </a:prstGeom>
          <a:solidFill>
            <a:srgbClr val="252525"/>
          </a:solidFill>
          <a:ln/>
        </p:spPr>
      </p:sp>
      <p:sp>
        <p:nvSpPr>
          <p:cNvPr id="27" name="Text 25"/>
          <p:cNvSpPr/>
          <p:nvPr/>
        </p:nvSpPr>
        <p:spPr>
          <a:xfrm>
            <a:off x="5515496" y="4209008"/>
            <a:ext cx="162624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Optimization metric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5515496" y="4431953"/>
            <a:ext cx="348932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Score (for class imbalance)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158" y="1497509"/>
            <a:ext cx="2171700" cy="652463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5775" y="1497509"/>
            <a:ext cx="2171700" cy="652463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158" y="2148185"/>
            <a:ext cx="2171700" cy="652463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25775" y="2148185"/>
            <a:ext cx="2171700" cy="652463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5775" y="2798862"/>
            <a:ext cx="2171700" cy="647700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9993" y="4126669"/>
            <a:ext cx="3157538" cy="6334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433636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XGBoost?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8205" y="1079897"/>
            <a:ext cx="3786188" cy="2333625"/>
          </a:xfrm>
          <a:prstGeom prst="roundRect">
            <a:avLst>
              <a:gd name="adj" fmla="val 4702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9143"/>
            <a:ext cx="118550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10" b="1" spc="121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685800" y="1536799"/>
            <a:ext cx="4279873" cy="168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(Extreme Gradient Boosting)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an advanced ensemble algorithm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gradient boosting. It builds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trees sequentially, where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new tree focuses on correcting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mistakes made by previous trees.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58205" y="3541142"/>
            <a:ext cx="3786188" cy="1990725"/>
          </a:xfrm>
          <a:prstGeom prst="roundRect">
            <a:avLst>
              <a:gd name="adj" fmla="val 5512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75236"/>
            <a:ext cx="172027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10" b="1" spc="121" kern="0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ADVANTAGE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685800" y="3972892"/>
            <a:ext cx="4135442" cy="1389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Random Forest which builds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independently, XGBoost builds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 one after another — each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from the previous —</a:t>
            </a:r>
            <a:endParaRPr lang="en-US" sz="144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progressively improving predictions.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19650" y="1079153"/>
            <a:ext cx="4167187" cy="4452937"/>
          </a:xfrm>
          <a:prstGeom prst="roundRect">
            <a:avLst>
              <a:gd name="adj" fmla="val 2633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19650" y="1079711"/>
            <a:ext cx="4167187" cy="41910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4" name="Text 12"/>
          <p:cNvSpPr/>
          <p:nvPr/>
        </p:nvSpPr>
        <p:spPr>
          <a:xfrm>
            <a:off x="4746728" y="1177454"/>
            <a:ext cx="16294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177017" y="1177454"/>
            <a:ext cx="9406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519650" y="1497509"/>
            <a:ext cx="4167187" cy="652463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4702522" y="1610023"/>
            <a:ext cx="149816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built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90804" y="1610023"/>
            <a:ext cx="127005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Trees built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19650" y="2149673"/>
            <a:ext cx="4167187" cy="419100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4702522" y="2260699"/>
            <a:ext cx="145879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Bagging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0804" y="2260699"/>
            <a:ext cx="151567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Boosting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19650" y="2568476"/>
            <a:ext cx="4167187" cy="652463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4702522" y="2680990"/>
            <a:ext cx="186083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variance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90804" y="2680990"/>
            <a:ext cx="1847195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bias and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19650" y="3219152"/>
            <a:ext cx="4167187" cy="652463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4702522" y="3331666"/>
            <a:ext cx="14496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to train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90804" y="3331666"/>
            <a:ext cx="1679451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parameter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19650" y="3869829"/>
            <a:ext cx="4167187" cy="652463"/>
          </a:xfrm>
          <a:prstGeom prst="rect">
            <a:avLst/>
          </a:prstGeom>
          <a:ln/>
        </p:spPr>
      </p:sp>
      <p:sp>
        <p:nvSpPr>
          <p:cNvPr id="29" name="Text 27"/>
          <p:cNvSpPr/>
          <p:nvPr/>
        </p:nvSpPr>
        <p:spPr>
          <a:xfrm>
            <a:off x="4702522" y="3982343"/>
            <a:ext cx="184942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to interpret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90804" y="3982343"/>
            <a:ext cx="1553981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accurate</a:t>
            </a:r>
            <a:endParaRPr lang="en-US" sz="1300" dirty="0"/>
          </a:p>
          <a:p>
            <a:pPr algn="l" indent="0" marL="0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2016" y="1079711"/>
            <a:ext cx="2085975" cy="419100"/>
          </a:xfrm>
          <a:prstGeom prst="rect">
            <a:avLst/>
          </a:prstGeom>
        </p:spPr>
      </p:pic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9650" y="1497509"/>
            <a:ext cx="4167187" cy="652463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2016" y="1502271"/>
            <a:ext cx="2085975" cy="647700"/>
          </a:xfrm>
          <a:prstGeom prst="rect">
            <a:avLst/>
          </a:prstGeom>
        </p:spPr>
      </p:pic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9650" y="2149673"/>
            <a:ext cx="4167187" cy="419100"/>
          </a:xfrm>
          <a:prstGeom prst="rect">
            <a:avLst/>
          </a:prstGeom>
        </p:spPr>
      </p:pic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2016" y="2154436"/>
            <a:ext cx="2085975" cy="414338"/>
          </a:xfrm>
          <a:prstGeom prst="rect">
            <a:avLst/>
          </a:prstGeom>
        </p:spPr>
      </p:pic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19650" y="2568476"/>
            <a:ext cx="4167187" cy="652463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2016" y="2573238"/>
            <a:ext cx="2085975" cy="647700"/>
          </a:xfrm>
          <a:prstGeom prst="rect">
            <a:avLst/>
          </a:prstGeom>
        </p:spPr>
      </p:pic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19650" y="3219152"/>
            <a:ext cx="4167187" cy="652463"/>
          </a:xfrm>
          <a:prstGeom prst="rect">
            <a:avLst/>
          </a:prstGeom>
        </p:spPr>
      </p:pic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2016" y="3223915"/>
            <a:ext cx="2085975" cy="647700"/>
          </a:xfrm>
          <a:prstGeom prst="rect">
            <a:avLst/>
          </a:prstGeom>
        </p:spPr>
      </p:pic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19650" y="3869829"/>
            <a:ext cx="4167187" cy="652463"/>
          </a:xfrm>
          <a:prstGeom prst="rect">
            <a:avLst/>
          </a:prstGeom>
        </p:spPr>
      </p:pic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2016" y="3874591"/>
            <a:ext cx="208597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99897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Performance Comparison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6567" y="1079897"/>
            <a:ext cx="2571750" cy="1109662"/>
          </a:xfrm>
          <a:prstGeom prst="roundRect">
            <a:avLst>
              <a:gd name="adj" fmla="val 8240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904507" y="1227758"/>
            <a:ext cx="167587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1010" b="1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Logistic Regression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928412" y="1342579"/>
            <a:ext cx="1627986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97%</a:t>
            </a:r>
            <a:endParaRPr lang="en-US" sz="4680" dirty="0"/>
          </a:p>
        </p:txBody>
      </p:sp>
      <p:sp>
        <p:nvSpPr>
          <p:cNvPr id="9" name="Shape 7"/>
          <p:cNvSpPr/>
          <p:nvPr/>
        </p:nvSpPr>
        <p:spPr>
          <a:xfrm>
            <a:off x="3255132" y="1079897"/>
            <a:ext cx="2633662" cy="1109662"/>
          </a:xfrm>
          <a:prstGeom prst="roundRect">
            <a:avLst>
              <a:gd name="adj" fmla="val 8240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902448" y="1227758"/>
            <a:ext cx="133902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101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3070693" y="1342579"/>
            <a:ext cx="3002540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98.04%</a:t>
            </a:r>
            <a:endParaRPr lang="en-US" sz="4680" dirty="0"/>
          </a:p>
        </p:txBody>
      </p:sp>
      <p:sp>
        <p:nvSpPr>
          <p:cNvPr id="12" name="Shape 10"/>
          <p:cNvSpPr/>
          <p:nvPr/>
        </p:nvSpPr>
        <p:spPr>
          <a:xfrm>
            <a:off x="6115645" y="1079897"/>
            <a:ext cx="2571750" cy="1109662"/>
          </a:xfrm>
          <a:prstGeom prst="roundRect">
            <a:avLst>
              <a:gd name="adj" fmla="val 8240"/>
            </a:avLst>
          </a:prstGeom>
          <a:solidFill>
            <a:srgbClr val="1C1C1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2537" y="1172133"/>
            <a:ext cx="576262" cy="166688"/>
          </a:xfrm>
          <a:prstGeom prst="roundRect">
            <a:avLst>
              <a:gd name="adj" fmla="val 21943"/>
            </a:avLst>
          </a:prstGeom>
          <a:solidFill>
            <a:srgbClr val="FFE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951503" y="1186904"/>
            <a:ext cx="6183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b="1" spc="72" kern="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WINNER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014638" y="1227758"/>
            <a:ext cx="77369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101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5948872" y="1342579"/>
            <a:ext cx="2905222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6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98.28%</a:t>
            </a:r>
            <a:endParaRPr lang="en-US" sz="4680" dirty="0"/>
          </a:p>
        </p:txBody>
      </p:sp>
      <p:sp>
        <p:nvSpPr>
          <p:cNvPr id="17" name="Shape 15"/>
          <p:cNvSpPr/>
          <p:nvPr/>
        </p:nvSpPr>
        <p:spPr>
          <a:xfrm>
            <a:off x="457200" y="2369865"/>
            <a:ext cx="8229600" cy="1576388"/>
          </a:xfrm>
          <a:prstGeom prst="roundRect">
            <a:avLst>
              <a:gd name="adj" fmla="val 6961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68302"/>
            <a:ext cx="8229600" cy="36195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35" y="2451199"/>
            <a:ext cx="6179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978523" y="2451199"/>
            <a:ext cx="9424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Accuracy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495554" y="2451199"/>
            <a:ext cx="9009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Precision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133605" y="2451199"/>
            <a:ext cx="6173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Recall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550211" y="2451199"/>
            <a:ext cx="7767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F1 Score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7200" y="2729731"/>
            <a:ext cx="8229600" cy="404813"/>
          </a:xfrm>
          <a:prstGeom prst="rect">
            <a:avLst/>
          </a:prstGeom>
          <a:ln/>
        </p:spPr>
      </p:sp>
      <p:sp>
        <p:nvSpPr>
          <p:cNvPr id="25" name="Text 23"/>
          <p:cNvSpPr/>
          <p:nvPr/>
        </p:nvSpPr>
        <p:spPr>
          <a:xfrm>
            <a:off x="640035" y="2834878"/>
            <a:ext cx="203061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41693" y="2834878"/>
            <a:ext cx="8160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97.00%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0523" y="2834878"/>
            <a:ext cx="27103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6767" y="2834878"/>
            <a:ext cx="27103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03085" y="2834878"/>
            <a:ext cx="27103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135585"/>
            <a:ext cx="8229600" cy="404813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640035" y="3240732"/>
            <a:ext cx="160825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A4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06276" y="3240732"/>
            <a:ext cx="88697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A4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98.04%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91825" y="3240732"/>
            <a:ext cx="5084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89122" y="3240732"/>
            <a:ext cx="50640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83698" y="3240732"/>
            <a:ext cx="50988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541440"/>
            <a:ext cx="8229600" cy="404813"/>
          </a:xfrm>
          <a:prstGeom prst="rect">
            <a:avLst/>
          </a:prstGeom>
          <a:solidFill>
            <a:srgbClr val="FFE000">
              <a:alpha val="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35" y="3646587"/>
            <a:ext cx="95584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09963" y="3646587"/>
            <a:ext cx="8795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98.28%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80421" y="3646587"/>
            <a:ext cx="53116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78105" y="3646587"/>
            <a:ext cx="5283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73057" y="3646587"/>
            <a:ext cx="53116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567" y="1079897"/>
            <a:ext cx="2571750" cy="110966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5132" y="1079897"/>
            <a:ext cx="2633662" cy="110966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5645" y="1079897"/>
            <a:ext cx="2571750" cy="110966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2729731"/>
            <a:ext cx="8229600" cy="404813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3135585"/>
            <a:ext cx="8229600" cy="404813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3541440"/>
            <a:ext cx="8229600" cy="4048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702279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Recommendations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78929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47924"/>
            <a:ext cx="2009329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Improve Routing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686967"/>
            <a:ext cx="4391218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delivery route algorithms to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average transit time, especially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high-distance orders that show the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correlation with delays.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686300" y="1078929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4914900" y="1247924"/>
            <a:ext cx="2327211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Increase Resources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4900" y="1686967"/>
            <a:ext cx="4524524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additional delivery personnel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vehicles to cities and time windows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highest delay rates identified in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SQL and EDA analysis.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457200" y="3072073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41030"/>
            <a:ext cx="2518752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Predictive Monitoring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680073"/>
            <a:ext cx="4591757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XGBoost model in operations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flag at-risk orders before dispatch,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proactive intervention before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impact customers.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686300" y="3072073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4914900" y="3241030"/>
            <a:ext cx="211071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Partner Tracking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14900" y="3680073"/>
            <a:ext cx="4651444" cy="10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delivery partner performance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scorecards and accountability systems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underperforming partners and</a:t>
            </a:r>
            <a:endParaRPr lang="en-US" sz="1440" dirty="0"/>
          </a:p>
          <a:p>
            <a:pPr algn="l" indent="0" marL="0">
              <a:lnSpc>
                <a:spcPts val="2232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consistent on-time delivery.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78929"/>
            <a:ext cx="4000500" cy="186690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1078929"/>
            <a:ext cx="4000500" cy="186690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3072073"/>
            <a:ext cx="4000500" cy="186690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6300" y="3072073"/>
            <a:ext cx="4000500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57171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Dashboard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1087"/>
            <a:ext cx="8229600" cy="1119188"/>
          </a:xfrm>
          <a:prstGeom prst="roundRect">
            <a:avLst>
              <a:gd name="adj" fmla="val 9804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64828" y="1232520"/>
            <a:ext cx="9742393" cy="80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</a:t>
            </a:r>
            <a:pPr algn="l" indent="0" marL="0">
              <a:lnSpc>
                <a:spcPts val="2268"/>
              </a:lnSpc>
              <a:buNone/>
            </a:pPr>
            <a:r>
              <a:rPr lang="en-US" sz="151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</a:t>
            </a:r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 executive-friendly dashboard presenting all key findings in a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interactive interface, designed for operations teams to explore delivery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data without writing SQL.</a:t>
            </a:r>
            <a:endParaRPr lang="en-US" sz="1510" dirty="0"/>
          </a:p>
        </p:txBody>
      </p:sp>
      <p:sp>
        <p:nvSpPr>
          <p:cNvPr id="8" name="Shape 6"/>
          <p:cNvSpPr/>
          <p:nvPr/>
        </p:nvSpPr>
        <p:spPr>
          <a:xfrm>
            <a:off x="457200" y="2356582"/>
            <a:ext cx="2590800" cy="3238500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73610"/>
            <a:ext cx="102811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dirty="0">
                <a:solidFill>
                  <a:srgbClr val="FFE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KPIs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685800" y="3205981"/>
            <a:ext cx="251459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Performance Metrics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561606"/>
            <a:ext cx="2360488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Avg delivery time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at-a-glance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685800" y="4206180"/>
            <a:ext cx="2581342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Overall late delivery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685800" y="4850755"/>
            <a:ext cx="2362713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City and category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3276600" y="2356582"/>
            <a:ext cx="2590800" cy="3238500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3505200" y="2573610"/>
            <a:ext cx="1413227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dirty="0">
                <a:solidFill>
                  <a:srgbClr val="1DA4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Filters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3505200" y="3205981"/>
            <a:ext cx="176941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5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Filters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05200" y="3561606"/>
            <a:ext cx="2227957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Filter by city and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3505200" y="4206180"/>
            <a:ext cx="2205514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Filter by product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3505200" y="4850755"/>
            <a:ext cx="2311636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Filter by date and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range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6096000" y="2356582"/>
            <a:ext cx="2590800" cy="3238500"/>
          </a:xfrm>
          <a:prstGeom prst="roundRect">
            <a:avLst>
              <a:gd name="adj" fmla="val 4235"/>
            </a:avLst>
          </a:prstGeom>
          <a:solidFill>
            <a:srgbClr val="1C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600" y="2573610"/>
            <a:ext cx="1848259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2880" dirty="0">
                <a:solidFill>
                  <a:srgbClr val="FFE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Insights</a:t>
            </a:r>
            <a:endParaRPr lang="en-US" sz="2880" dirty="0"/>
          </a:p>
        </p:txBody>
      </p:sp>
      <p:sp>
        <p:nvSpPr>
          <p:cNvPr id="22" name="Text 20"/>
          <p:cNvSpPr/>
          <p:nvPr/>
        </p:nvSpPr>
        <p:spPr>
          <a:xfrm>
            <a:off x="6324600" y="3205981"/>
            <a:ext cx="205895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5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Insights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24600" y="3561606"/>
            <a:ext cx="2032739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Delay hotspots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6324600" y="4206180"/>
            <a:ext cx="2254270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Model prediction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324600" y="4850755"/>
            <a:ext cx="2344236" cy="520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Trend charts over</a:t>
            </a:r>
            <a:endParaRPr lang="en-US" sz="1440" dirty="0"/>
          </a:p>
          <a:p>
            <a:pPr algn="l" indent="0" marL="0">
              <a:lnSpc>
                <a:spcPts val="237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81087"/>
            <a:ext cx="8229600" cy="1119188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356582"/>
            <a:ext cx="2590800" cy="323850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6600" y="2356582"/>
            <a:ext cx="2590800" cy="323850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2356582"/>
            <a:ext cx="25908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583416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 &amp; Learnings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1050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686135" y="1225153"/>
            <a:ext cx="361950" cy="285750"/>
          </a:xfrm>
          <a:prstGeom prst="roundRect">
            <a:avLst>
              <a:gd name="adj" fmla="val 19200"/>
            </a:avLst>
          </a:prstGeom>
          <a:solidFill>
            <a:srgbClr val="FFE000"/>
          </a:solidFill>
          <a:ln/>
        </p:spPr>
      </p:sp>
      <p:sp>
        <p:nvSpPr>
          <p:cNvPr id="8" name="Text 6"/>
          <p:cNvSpPr/>
          <p:nvPr/>
        </p:nvSpPr>
        <p:spPr>
          <a:xfrm>
            <a:off x="795486" y="1269950"/>
            <a:ext cx="24337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31255" y="1213470"/>
            <a:ext cx="22175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1255" y="1541115"/>
            <a:ext cx="3763387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missing values, encoding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categoricals, and scaling features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correctly for each model type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careful planning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iteration.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4686300" y="1081050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5793" y="1225153"/>
            <a:ext cx="385763" cy="285750"/>
          </a:xfrm>
          <a:prstGeom prst="roundRect">
            <a:avLst>
              <a:gd name="adj" fmla="val 19200"/>
            </a:avLst>
          </a:prstGeom>
          <a:solidFill>
            <a:srgbClr val="1DA46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4586" y="1269950"/>
            <a:ext cx="2757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5284" y="1213470"/>
            <a:ext cx="15424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Tuning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5284" y="1541115"/>
            <a:ext cx="3842519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the optimal XGBoost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via GridSearchCV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computationally intensive —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taught us to balance tuning depth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practical training time.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457200" y="3078398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4758" y="3222501"/>
            <a:ext cx="395287" cy="285750"/>
          </a:xfrm>
          <a:prstGeom prst="roundRect">
            <a:avLst>
              <a:gd name="adj" fmla="val 19200"/>
            </a:avLst>
          </a:prstGeom>
          <a:solidFill>
            <a:srgbClr val="FFE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486" y="3267298"/>
            <a:ext cx="2831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261839" y="3210818"/>
            <a:ext cx="26330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Interpretation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39" y="3538463"/>
            <a:ext cx="3692188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model outputs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findings into actionable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language — bridging the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between data science and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decisions.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4686300" y="3078398"/>
            <a:ext cx="4000500" cy="1866900"/>
          </a:xfrm>
          <a:prstGeom prst="roundRect">
            <a:avLst>
              <a:gd name="adj" fmla="val 4898"/>
            </a:avLst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4914640" y="3222501"/>
            <a:ext cx="404813" cy="285750"/>
          </a:xfrm>
          <a:prstGeom prst="roundRect">
            <a:avLst>
              <a:gd name="adj" fmla="val 19200"/>
            </a:avLst>
          </a:prstGeom>
          <a:solidFill>
            <a:srgbClr val="1DA46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4586" y="3267298"/>
            <a:ext cx="29754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0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502027" y="3210818"/>
            <a:ext cx="24192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30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&amp; Collaboration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02027" y="3538463"/>
            <a:ext cx="3705538" cy="125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GitHub for version control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Tableau for dashboard design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strengthened real-world project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and professional</a:t>
            </a:r>
            <a:endParaRPr lang="en-US" sz="137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37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skills.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443"/>
            <a:ext cx="171998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b="1" spc="174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CAPSTONE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340519"/>
            <a:ext cx="282018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57200" y="1081050"/>
            <a:ext cx="8229600" cy="1123950"/>
          </a:xfrm>
          <a:prstGeom prst="roundRect">
            <a:avLst>
              <a:gd name="adj" fmla="val 9763"/>
            </a:avLst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774353" y="1383953"/>
            <a:ext cx="55361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1430536" y="1243905"/>
            <a:ext cx="3715211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Analytics Pipeline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1430536" y="1553840"/>
            <a:ext cx="8526973" cy="4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built a complete pipeline from raw data ingestion through SQL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analysis, EDA, feature engineering, ML modeling, and Tableau visualization.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57200" y="2334890"/>
            <a:ext cx="8229600" cy="1381125"/>
          </a:xfrm>
          <a:prstGeom prst="roundRect">
            <a:avLst>
              <a:gd name="adj" fmla="val 7945"/>
            </a:avLst>
          </a:prstGeom>
          <a:solidFill>
            <a:srgbClr val="1C1C1C"/>
          </a:solidFill>
          <a:ln/>
        </p:spPr>
      </p:sp>
      <p:sp>
        <p:nvSpPr>
          <p:cNvPr id="11" name="Text 9"/>
          <p:cNvSpPr/>
          <p:nvPr/>
        </p:nvSpPr>
        <p:spPr>
          <a:xfrm>
            <a:off x="774353" y="2766343"/>
            <a:ext cx="64009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880" dirty="0"/>
          </a:p>
        </p:txBody>
      </p:sp>
      <p:sp>
        <p:nvSpPr>
          <p:cNvPr id="12" name="Text 10"/>
          <p:cNvSpPr/>
          <p:nvPr/>
        </p:nvSpPr>
        <p:spPr>
          <a:xfrm>
            <a:off x="1497062" y="2498303"/>
            <a:ext cx="3929293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144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XGBoost Selected as Best Model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1497062" y="2808238"/>
            <a:ext cx="8971776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achieved the highest accuracy of </a:t>
            </a:r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FFE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98.28%</a:t>
            </a:r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precision 0.93, recall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0.92, and F1 score 0.93 — outperforming both Logistic Regression and Random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Forest.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457200" y="3845347"/>
            <a:ext cx="8229600" cy="1381125"/>
          </a:xfrm>
          <a:prstGeom prst="roundRect">
            <a:avLst>
              <a:gd name="adj" fmla="val 7945"/>
            </a:avLst>
          </a:prstGeom>
          <a:solidFill>
            <a:srgbClr val="1C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774353" y="4276799"/>
            <a:ext cx="65963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1512094" y="4008760"/>
            <a:ext cx="3569717" cy="252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1440" b="1" dirty="0">
                <a:solidFill>
                  <a:srgbClr val="1DA4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Actionable Business Insights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1512094" y="4318695"/>
            <a:ext cx="9003603" cy="73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concrete recommendations — route optimization, resource allocation,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monitoring, and partner accountability — to reduce late deliveries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improve customer satisfaction.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81050"/>
            <a:ext cx="8229600" cy="112395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334890"/>
            <a:ext cx="8229600" cy="1381125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3845347"/>
            <a:ext cx="8229600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079"/>
            <a:ext cx="9144000" cy="38100"/>
          </a:xfrm>
          <a:prstGeom prst="rect">
            <a:avLst/>
          </a:prstGeom>
          <a:solidFill>
            <a:srgbClr val="FFE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5205"/>
            <a:ext cx="898676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32" kern="0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</a:t>
            </a:r>
            <a:endParaRPr lang="en-US" sz="1580" dirty="0"/>
          </a:p>
        </p:txBody>
      </p:sp>
      <p:sp>
        <p:nvSpPr>
          <p:cNvPr id="6" name="Text 3"/>
          <p:cNvSpPr/>
          <p:nvPr/>
        </p:nvSpPr>
        <p:spPr>
          <a:xfrm>
            <a:off x="1920184" y="1128340"/>
            <a:ext cx="5303557" cy="1023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013"/>
              </a:spcAft>
              <a:buNone/>
            </a:pPr>
            <a:r>
              <a:rPr lang="en-US" sz="5760" b="1" dirty="0">
                <a:solidFill>
                  <a:srgbClr val="FFE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5760" dirty="0"/>
          </a:p>
        </p:txBody>
      </p:sp>
      <p:sp>
        <p:nvSpPr>
          <p:cNvPr id="7" name="Shape 4"/>
          <p:cNvSpPr/>
          <p:nvPr/>
        </p:nvSpPr>
        <p:spPr>
          <a:xfrm>
            <a:off x="3886200" y="2136800"/>
            <a:ext cx="1371600" cy="19050"/>
          </a:xfrm>
          <a:prstGeom prst="rect">
            <a:avLst/>
          </a:prstGeom>
          <a:solidFill>
            <a:srgbClr val="FFE000"/>
          </a:solidFill>
          <a:ln/>
        </p:spPr>
      </p:sp>
      <p:sp>
        <p:nvSpPr>
          <p:cNvPr id="8" name="Text 5"/>
          <p:cNvSpPr/>
          <p:nvPr/>
        </p:nvSpPr>
        <p:spPr>
          <a:xfrm>
            <a:off x="3091685" y="2390849"/>
            <a:ext cx="29605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25"/>
              </a:spcAft>
              <a:buNone/>
            </a:pPr>
            <a:r>
              <a:rPr lang="en-US" sz="158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2854966" y="2935412"/>
            <a:ext cx="5531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860" spc="1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2565030" y="3131567"/>
            <a:ext cx="11330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Aryan Giri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28381" y="3378473"/>
            <a:ext cx="18063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Aakash Sharma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76073" y="3625379"/>
            <a:ext cx="1710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Mrinal Shaurya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61321" y="2920454"/>
            <a:ext cx="9525" cy="947737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1"/>
          <p:cNvSpPr/>
          <p:nvPr/>
        </p:nvSpPr>
        <p:spPr>
          <a:xfrm>
            <a:off x="5273576" y="2935412"/>
            <a:ext cx="86588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324"/>
              </a:spcAft>
              <a:buNone/>
            </a:pPr>
            <a:r>
              <a:rPr lang="en-US" sz="860" spc="130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4519404" y="3131567"/>
            <a:ext cx="2374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Blinkit SLA Diagnostic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05640" y="3392760"/>
            <a:ext cx="26017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&amp; ML Capstone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5457669" y="3624114"/>
            <a:ext cx="4976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0" y="5118757"/>
            <a:ext cx="9144000" cy="23812"/>
          </a:xfrm>
          <a:prstGeom prst="rect">
            <a:avLst/>
          </a:prstGeom>
          <a:solidFill>
            <a:srgbClr val="1DA46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2026-07-27T13:21:01Z</dcterms:created>
  <dcterms:modified xsi:type="dcterms:W3CDTF">2026-07-27T13:21:01Z</dcterms:modified>
</cp:coreProperties>
</file>