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sv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image" Target="../media/image-15-7.png"/><Relationship Id="rId8" Type="http://schemas.openxmlformats.org/officeDocument/2006/relationships/image" Target="../media/image-15-8.svg"/><Relationship Id="rId9" Type="http://schemas.openxmlformats.org/officeDocument/2006/relationships/image" Target="../media/image-15-9.png"/><Relationship Id="rId10" Type="http://schemas.openxmlformats.org/officeDocument/2006/relationships/image" Target="../media/image-15-10.sv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3.png"/><Relationship Id="rId4" Type="http://schemas.openxmlformats.org/officeDocument/2006/relationships/image" Target="../media/image-16-4.svg"/><Relationship Id="rId5" Type="http://schemas.openxmlformats.org/officeDocument/2006/relationships/image" Target="../media/image-16-5.png"/><Relationship Id="rId6" Type="http://schemas.openxmlformats.org/officeDocument/2006/relationships/image" Target="../media/image-16-6.svg"/><Relationship Id="rId7" Type="http://schemas.openxmlformats.org/officeDocument/2006/relationships/image" Target="../media/image-16-7.png"/><Relationship Id="rId8" Type="http://schemas.openxmlformats.org/officeDocument/2006/relationships/image" Target="../media/image-16-8.svg"/><Relationship Id="rId9" Type="http://schemas.openxmlformats.org/officeDocument/2006/relationships/image" Target="../media/image-16-9.png"/><Relationship Id="rId10" Type="http://schemas.openxmlformats.org/officeDocument/2006/relationships/image" Target="../media/image-16-10.sv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svg"/><Relationship Id="rId13" Type="http://schemas.openxmlformats.org/officeDocument/2006/relationships/image" Target="../media/image-16-13.png"/><Relationship Id="rId14" Type="http://schemas.openxmlformats.org/officeDocument/2006/relationships/image" Target="../media/image-16-14.svg"/><Relationship Id="rId15" Type="http://schemas.openxmlformats.org/officeDocument/2006/relationships/image" Target="../media/image-16-15.png"/><Relationship Id="rId16" Type="http://schemas.openxmlformats.org/officeDocument/2006/relationships/image" Target="../media/image-16-16.svg"/><Relationship Id="rId17" Type="http://schemas.openxmlformats.org/officeDocument/2006/relationships/image" Target="../media/image-16-17.png"/><Relationship Id="rId18" Type="http://schemas.openxmlformats.org/officeDocument/2006/relationships/image" Target="../media/image-16-18.svg"/><Relationship Id="rId19" Type="http://schemas.openxmlformats.org/officeDocument/2006/relationships/image" Target="../media/image-16-19.png"/><Relationship Id="rId20" Type="http://schemas.openxmlformats.org/officeDocument/2006/relationships/image" Target="../media/image-16-20.svg"/><Relationship Id="rId21" Type="http://schemas.openxmlformats.org/officeDocument/2006/relationships/image" Target="../media/image-16-21.png"/><Relationship Id="rId22" Type="http://schemas.openxmlformats.org/officeDocument/2006/relationships/image" Target="../media/image-16-22.sv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image" Target="../media/image-17-5.png"/><Relationship Id="rId6" Type="http://schemas.openxmlformats.org/officeDocument/2006/relationships/image" Target="../media/image-17-6.svg"/><Relationship Id="rId7" Type="http://schemas.openxmlformats.org/officeDocument/2006/relationships/image" Target="../media/image-17-7.png"/><Relationship Id="rId8" Type="http://schemas.openxmlformats.org/officeDocument/2006/relationships/image" Target="../media/image-17-8.svg"/><Relationship Id="rId9" Type="http://schemas.openxmlformats.org/officeDocument/2006/relationships/image" Target="../media/image-17-9.png"/><Relationship Id="rId10" Type="http://schemas.openxmlformats.org/officeDocument/2006/relationships/image" Target="../media/image-17-10.sv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3.png"/><Relationship Id="rId4" Type="http://schemas.openxmlformats.org/officeDocument/2006/relationships/image" Target="../media/image-18-4.svg"/><Relationship Id="rId5" Type="http://schemas.openxmlformats.org/officeDocument/2006/relationships/image" Target="../media/image-18-5.png"/><Relationship Id="rId6" Type="http://schemas.openxmlformats.org/officeDocument/2006/relationships/image" Target="../media/image-18-6.svg"/><Relationship Id="rId7" Type="http://schemas.openxmlformats.org/officeDocument/2006/relationships/image" Target="../media/image-18-7.png"/><Relationship Id="rId8" Type="http://schemas.openxmlformats.org/officeDocument/2006/relationships/image" Target="../media/image-18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image" Target="../media/image-19-3.png"/><Relationship Id="rId4" Type="http://schemas.openxmlformats.org/officeDocument/2006/relationships/image" Target="../media/image-19-4.svg"/><Relationship Id="rId5" Type="http://schemas.openxmlformats.org/officeDocument/2006/relationships/image" Target="../media/image-19-5.png"/><Relationship Id="rId6" Type="http://schemas.openxmlformats.org/officeDocument/2006/relationships/image" Target="../media/image-19-6.svg"/><Relationship Id="rId7" Type="http://schemas.openxmlformats.org/officeDocument/2006/relationships/image" Target="../media/image-19-7.png"/><Relationship Id="rId8" Type="http://schemas.openxmlformats.org/officeDocument/2006/relationships/image" Target="../media/image-19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image" Target="../media/image-21-3.png"/><Relationship Id="rId4" Type="http://schemas.openxmlformats.org/officeDocument/2006/relationships/image" Target="../media/image-21-4.svg"/><Relationship Id="rId5" Type="http://schemas.openxmlformats.org/officeDocument/2006/relationships/image" Target="../media/image-21-5.png"/><Relationship Id="rId6" Type="http://schemas.openxmlformats.org/officeDocument/2006/relationships/image" Target="../media/image-21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-1079"/>
            <a:ext cx="9144000" cy="38100"/>
          </a:xfrm>
          <a:prstGeom prst="rect">
            <a:avLst/>
          </a:prstGeom>
          <a:solidFill>
            <a:srgbClr val="FFE000"/>
          </a:solidFill>
          <a:ln/>
        </p:spPr>
      </p:sp>
      <p:sp>
        <p:nvSpPr>
          <p:cNvPr id="6" name="Text 2"/>
          <p:cNvSpPr/>
          <p:nvPr/>
        </p:nvSpPr>
        <p:spPr>
          <a:xfrm>
            <a:off x="457200" y="215205"/>
            <a:ext cx="898676" cy="280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b="1" spc="-32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blinkit</a:t>
            </a:r>
            <a:endParaRPr lang="en-US" sz="1580" dirty="0"/>
          </a:p>
        </p:txBody>
      </p:sp>
      <p:sp>
        <p:nvSpPr>
          <p:cNvPr id="7" name="Text 3"/>
          <p:cNvSpPr/>
          <p:nvPr/>
        </p:nvSpPr>
        <p:spPr>
          <a:xfrm>
            <a:off x="7226871" y="230312"/>
            <a:ext cx="195505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spc="43" kern="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Capstone Project — 2026</a:t>
            </a:r>
            <a:endParaRPr lang="en-US" sz="860" dirty="0"/>
          </a:p>
        </p:txBody>
      </p:sp>
      <p:sp>
        <p:nvSpPr>
          <p:cNvPr id="8" name="Text 4"/>
          <p:cNvSpPr/>
          <p:nvPr/>
        </p:nvSpPr>
        <p:spPr>
          <a:xfrm>
            <a:off x="2970955" y="1393887"/>
            <a:ext cx="320201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1013"/>
              </a:spcAft>
              <a:buNone/>
            </a:pPr>
            <a:r>
              <a:rPr lang="en-US" sz="860" b="1" spc="242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QUICK-COMMERCE ANALYTICS</a:t>
            </a:r>
            <a:endParaRPr lang="en-US" sz="860" dirty="0"/>
          </a:p>
        </p:txBody>
      </p:sp>
      <p:sp>
        <p:nvSpPr>
          <p:cNvPr id="9" name="Text 5"/>
          <p:cNvSpPr/>
          <p:nvPr/>
        </p:nvSpPr>
        <p:spPr>
          <a:xfrm>
            <a:off x="304450" y="1577541"/>
            <a:ext cx="8535099" cy="704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96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Blinkit Quick-Commerce</a:t>
            </a:r>
            <a:endParaRPr lang="en-US" sz="3960" dirty="0"/>
          </a:p>
        </p:txBody>
      </p:sp>
      <p:sp>
        <p:nvSpPr>
          <p:cNvPr id="10" name="Text 6"/>
          <p:cNvSpPr/>
          <p:nvPr/>
        </p:nvSpPr>
        <p:spPr>
          <a:xfrm>
            <a:off x="2031035" y="2080431"/>
            <a:ext cx="5081930" cy="704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96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SLA Diagnostic</a:t>
            </a:r>
            <a:endParaRPr lang="en-US" sz="3960" dirty="0"/>
          </a:p>
        </p:txBody>
      </p:sp>
      <p:sp>
        <p:nvSpPr>
          <p:cNvPr id="11" name="Shape 7"/>
          <p:cNvSpPr/>
          <p:nvPr/>
        </p:nvSpPr>
        <p:spPr>
          <a:xfrm>
            <a:off x="4024275" y="2843101"/>
            <a:ext cx="1095375" cy="19050"/>
          </a:xfrm>
          <a:prstGeom prst="rect">
            <a:avLst/>
          </a:prstGeom>
          <a:solidFill>
            <a:srgbClr val="FFE000"/>
          </a:solidFill>
          <a:ln/>
        </p:spPr>
      </p:sp>
      <p:sp>
        <p:nvSpPr>
          <p:cNvPr id="12" name="Text 8"/>
          <p:cNvSpPr/>
          <p:nvPr/>
        </p:nvSpPr>
        <p:spPr>
          <a:xfrm>
            <a:off x="823075" y="3040968"/>
            <a:ext cx="7497775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Predicting Delivery Delays and Identifying Operational Bottlenecks</a:t>
            </a:r>
            <a:endParaRPr lang="en-US" sz="1440" dirty="0"/>
          </a:p>
        </p:txBody>
      </p:sp>
      <p:sp>
        <p:nvSpPr>
          <p:cNvPr id="13" name="Text 9"/>
          <p:cNvSpPr/>
          <p:nvPr/>
        </p:nvSpPr>
        <p:spPr>
          <a:xfrm>
            <a:off x="2473516" y="3567745"/>
            <a:ext cx="419696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Bef>
                <a:spcPts val="2025"/>
              </a:spcBef>
              <a:buNone/>
            </a:pPr>
            <a:r>
              <a:rPr lang="en-US" sz="1080" dirty="0">
                <a:solidFill>
                  <a:srgbClr val="7777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Aryan Giri | Aakash Sharma | Mrinal Shaurya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0" y="5118757"/>
            <a:ext cx="9144000" cy="23812"/>
          </a:xfrm>
          <a:prstGeom prst="rect">
            <a:avLst/>
          </a:prstGeom>
          <a:solidFill>
            <a:srgbClr val="1DA46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FFE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10443"/>
            <a:ext cx="1719984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790" b="1" spc="174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BLINKIT CAPSTONE</a:t>
            </a:r>
            <a:endParaRPr lang="en-US" sz="790" dirty="0"/>
          </a:p>
        </p:txBody>
      </p:sp>
      <p:sp>
        <p:nvSpPr>
          <p:cNvPr id="5" name="Text 3"/>
          <p:cNvSpPr/>
          <p:nvPr/>
        </p:nvSpPr>
        <p:spPr>
          <a:xfrm>
            <a:off x="457200" y="340519"/>
            <a:ext cx="5399038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Business Problem</a:t>
            </a:r>
            <a:endParaRPr lang="en-US" sz="2880" dirty="0"/>
          </a:p>
        </p:txBody>
      </p:sp>
      <p:sp>
        <p:nvSpPr>
          <p:cNvPr id="6" name="Shape 4"/>
          <p:cNvSpPr/>
          <p:nvPr/>
        </p:nvSpPr>
        <p:spPr>
          <a:xfrm>
            <a:off x="457200" y="1080641"/>
            <a:ext cx="8229600" cy="995362"/>
          </a:xfrm>
          <a:prstGeom prst="roundRect">
            <a:avLst>
              <a:gd name="adj" fmla="val 11024"/>
            </a:avLst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810518" y="1264890"/>
            <a:ext cx="9795019" cy="622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5"/>
              </a:lnSpc>
              <a:buNone/>
            </a:pPr>
            <a:r>
              <a:rPr lang="en-US" sz="173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Blinkit promises ultra-fast deliveries — but delivery delays damage</a:t>
            </a:r>
            <a:endParaRPr lang="en-US" sz="1730" dirty="0"/>
          </a:p>
          <a:p>
            <a:pPr algn="l" indent="0" marL="0">
              <a:lnSpc>
                <a:spcPts val="2505"/>
              </a:lnSpc>
              <a:buNone/>
            </a:pPr>
            <a:r>
              <a:rPr lang="en-US" sz="173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customer satisfaction and operational credibility.</a:t>
            </a:r>
            <a:endParaRPr lang="en-US" sz="1730" dirty="0"/>
          </a:p>
        </p:txBody>
      </p:sp>
      <p:sp>
        <p:nvSpPr>
          <p:cNvPr id="8" name="Shape 6"/>
          <p:cNvSpPr/>
          <p:nvPr/>
        </p:nvSpPr>
        <p:spPr>
          <a:xfrm>
            <a:off x="458167" y="2230748"/>
            <a:ext cx="2619375" cy="1219200"/>
          </a:xfrm>
          <a:prstGeom prst="roundRect">
            <a:avLst>
              <a:gd name="adj" fmla="val 7500"/>
            </a:avLst>
          </a:prstGeom>
          <a:solidFill>
            <a:srgbClr val="1C1C1C"/>
          </a:solidFill>
          <a:ln/>
        </p:spPr>
      </p:sp>
      <p:sp>
        <p:nvSpPr>
          <p:cNvPr id="9" name="Text 7"/>
          <p:cNvSpPr/>
          <p:nvPr/>
        </p:nvSpPr>
        <p:spPr>
          <a:xfrm>
            <a:off x="640035" y="2383185"/>
            <a:ext cx="404634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202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2020" dirty="0"/>
          </a:p>
        </p:txBody>
      </p:sp>
      <p:sp>
        <p:nvSpPr>
          <p:cNvPr id="10" name="Text 8"/>
          <p:cNvSpPr/>
          <p:nvPr/>
        </p:nvSpPr>
        <p:spPr>
          <a:xfrm>
            <a:off x="640035" y="2849091"/>
            <a:ext cx="2507724" cy="452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15"/>
              </a:lnSpc>
              <a:buNone/>
            </a:pPr>
            <a:r>
              <a:rPr lang="en-US" sz="137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factors influence</a:t>
            </a:r>
            <a:endParaRPr lang="en-US" sz="1370" dirty="0"/>
          </a:p>
          <a:p>
            <a:pPr algn="l" indent="0" marL="0">
              <a:lnSpc>
                <a:spcPts val="1915"/>
              </a:lnSpc>
              <a:buNone/>
            </a:pPr>
            <a:r>
              <a:rPr lang="en-US" sz="137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time?</a:t>
            </a:r>
            <a:endParaRPr lang="en-US" sz="1370" dirty="0"/>
          </a:p>
        </p:txBody>
      </p:sp>
      <p:sp>
        <p:nvSpPr>
          <p:cNvPr id="11" name="Shape 9"/>
          <p:cNvSpPr/>
          <p:nvPr/>
        </p:nvSpPr>
        <p:spPr>
          <a:xfrm>
            <a:off x="3262313" y="2230748"/>
            <a:ext cx="2619375" cy="1219200"/>
          </a:xfrm>
          <a:prstGeom prst="roundRect">
            <a:avLst>
              <a:gd name="adj" fmla="val 7500"/>
            </a:avLst>
          </a:prstGeom>
          <a:solidFill>
            <a:srgbClr val="1C1C1C"/>
          </a:solidFill>
          <a:ln/>
        </p:spPr>
      </p:sp>
      <p:sp>
        <p:nvSpPr>
          <p:cNvPr id="12" name="Text 10"/>
          <p:cNvSpPr/>
          <p:nvPr/>
        </p:nvSpPr>
        <p:spPr>
          <a:xfrm>
            <a:off x="3444180" y="2383185"/>
            <a:ext cx="465192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202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2020" dirty="0"/>
          </a:p>
        </p:txBody>
      </p:sp>
      <p:sp>
        <p:nvSpPr>
          <p:cNvPr id="13" name="Text 11"/>
          <p:cNvSpPr/>
          <p:nvPr/>
        </p:nvSpPr>
        <p:spPr>
          <a:xfrm>
            <a:off x="3444180" y="2849091"/>
            <a:ext cx="2908704" cy="452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15"/>
              </a:lnSpc>
              <a:buNone/>
            </a:pPr>
            <a:r>
              <a:rPr lang="en-US" sz="137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orders are at risk of</a:t>
            </a:r>
            <a:endParaRPr lang="en-US" sz="1370" dirty="0"/>
          </a:p>
          <a:p>
            <a:pPr algn="l" indent="0" marL="0">
              <a:lnSpc>
                <a:spcPts val="1915"/>
              </a:lnSpc>
              <a:buNone/>
            </a:pPr>
            <a:r>
              <a:rPr lang="en-US" sz="137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delays?</a:t>
            </a:r>
            <a:endParaRPr lang="en-US" sz="1370" dirty="0"/>
          </a:p>
        </p:txBody>
      </p:sp>
      <p:sp>
        <p:nvSpPr>
          <p:cNvPr id="14" name="Shape 12"/>
          <p:cNvSpPr/>
          <p:nvPr/>
        </p:nvSpPr>
        <p:spPr>
          <a:xfrm>
            <a:off x="6066458" y="2230748"/>
            <a:ext cx="2619375" cy="1219200"/>
          </a:xfrm>
          <a:prstGeom prst="roundRect">
            <a:avLst>
              <a:gd name="adj" fmla="val 7500"/>
            </a:avLst>
          </a:prstGeom>
          <a:solidFill>
            <a:srgbClr val="1C1C1C"/>
          </a:solidFill>
          <a:ln/>
        </p:spPr>
      </p:sp>
      <p:sp>
        <p:nvSpPr>
          <p:cNvPr id="15" name="Text 13"/>
          <p:cNvSpPr/>
          <p:nvPr/>
        </p:nvSpPr>
        <p:spPr>
          <a:xfrm>
            <a:off x="6248326" y="2383185"/>
            <a:ext cx="478832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202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2020" dirty="0"/>
          </a:p>
        </p:txBody>
      </p:sp>
      <p:sp>
        <p:nvSpPr>
          <p:cNvPr id="16" name="Text 14"/>
          <p:cNvSpPr/>
          <p:nvPr/>
        </p:nvSpPr>
        <p:spPr>
          <a:xfrm>
            <a:off x="6248326" y="2849091"/>
            <a:ext cx="2932792" cy="452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15"/>
              </a:lnSpc>
              <a:buNone/>
            </a:pPr>
            <a:r>
              <a:rPr lang="en-US" sz="137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can operations teams</a:t>
            </a:r>
            <a:endParaRPr lang="en-US" sz="1370" dirty="0"/>
          </a:p>
          <a:p>
            <a:pPr algn="l" indent="0" marL="0">
              <a:lnSpc>
                <a:spcPts val="1915"/>
              </a:lnSpc>
              <a:buNone/>
            </a:pPr>
            <a:r>
              <a:rPr lang="en-US" sz="137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better decisions?</a:t>
            </a:r>
            <a:endParaRPr lang="en-US" sz="1370" dirty="0"/>
          </a:p>
        </p:txBody>
      </p:sp>
      <p:sp>
        <p:nvSpPr>
          <p:cNvPr id="17" name="Shape 15"/>
          <p:cNvSpPr/>
          <p:nvPr/>
        </p:nvSpPr>
        <p:spPr>
          <a:xfrm>
            <a:off x="0" y="5118757"/>
            <a:ext cx="9144000" cy="23812"/>
          </a:xfrm>
          <a:prstGeom prst="rect">
            <a:avLst/>
          </a:prstGeom>
          <a:solidFill>
            <a:srgbClr val="1DA462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080641"/>
            <a:ext cx="8229600" cy="99536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8167" y="2230748"/>
            <a:ext cx="2619375" cy="1219200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62313" y="2230748"/>
            <a:ext cx="2619375" cy="1219200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66458" y="2230748"/>
            <a:ext cx="2619375" cy="1219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FFE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10443"/>
            <a:ext cx="1719984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790" b="1" spc="174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BLINKIT CAPSTONE</a:t>
            </a:r>
            <a:endParaRPr lang="en-US" sz="790" dirty="0"/>
          </a:p>
        </p:txBody>
      </p:sp>
      <p:sp>
        <p:nvSpPr>
          <p:cNvPr id="5" name="Text 3"/>
          <p:cNvSpPr/>
          <p:nvPr/>
        </p:nvSpPr>
        <p:spPr>
          <a:xfrm>
            <a:off x="457200" y="340519"/>
            <a:ext cx="3772964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Project Charter</a:t>
            </a:r>
            <a:endParaRPr lang="en-US" sz="2880" dirty="0"/>
          </a:p>
        </p:txBody>
      </p:sp>
      <p:sp>
        <p:nvSpPr>
          <p:cNvPr id="6" name="Shape 4"/>
          <p:cNvSpPr/>
          <p:nvPr/>
        </p:nvSpPr>
        <p:spPr>
          <a:xfrm>
            <a:off x="457535" y="1080492"/>
            <a:ext cx="3076575" cy="900113"/>
          </a:xfrm>
          <a:prstGeom prst="roundRect">
            <a:avLst>
              <a:gd name="adj" fmla="val 10159"/>
            </a:avLst>
          </a:prstGeom>
          <a:solidFill>
            <a:srgbClr val="1C1C1C"/>
          </a:solidFill>
          <a:ln/>
        </p:spPr>
      </p:sp>
      <p:sp>
        <p:nvSpPr>
          <p:cNvPr id="7" name="Text 5"/>
          <p:cNvSpPr/>
          <p:nvPr/>
        </p:nvSpPr>
        <p:spPr>
          <a:xfrm>
            <a:off x="673373" y="1222995"/>
            <a:ext cx="79835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790" spc="119" kern="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673373" y="1391341"/>
            <a:ext cx="3355248" cy="468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78"/>
              </a:lnSpc>
              <a:buNone/>
            </a:pPr>
            <a:r>
              <a:rPr lang="en-US" sz="137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Blinkit Quick-Commerce SLA</a:t>
            </a:r>
            <a:endParaRPr lang="en-US" sz="1370" dirty="0"/>
          </a:p>
          <a:p>
            <a:pPr algn="l" indent="0" marL="0">
              <a:lnSpc>
                <a:spcPts val="1778"/>
              </a:lnSpc>
              <a:buNone/>
            </a:pPr>
            <a:r>
              <a:rPr lang="en-US" sz="137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Diagnostic</a:t>
            </a:r>
            <a:endParaRPr lang="en-US" sz="1370" dirty="0"/>
          </a:p>
        </p:txBody>
      </p:sp>
      <p:sp>
        <p:nvSpPr>
          <p:cNvPr id="9" name="Shape 7"/>
          <p:cNvSpPr/>
          <p:nvPr/>
        </p:nvSpPr>
        <p:spPr>
          <a:xfrm>
            <a:off x="457535" y="2109936"/>
            <a:ext cx="3076575" cy="900113"/>
          </a:xfrm>
          <a:prstGeom prst="roundRect">
            <a:avLst>
              <a:gd name="adj" fmla="val 10159"/>
            </a:avLst>
          </a:prstGeom>
          <a:solidFill>
            <a:srgbClr val="1C1C1C"/>
          </a:solidFill>
          <a:ln/>
        </p:spPr>
      </p:sp>
      <p:sp>
        <p:nvSpPr>
          <p:cNvPr id="10" name="Text 8"/>
          <p:cNvSpPr/>
          <p:nvPr/>
        </p:nvSpPr>
        <p:spPr>
          <a:xfrm>
            <a:off x="673373" y="2252439"/>
            <a:ext cx="476704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790" spc="119" kern="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</a:t>
            </a:r>
            <a:endParaRPr lang="en-US" sz="790" dirty="0"/>
          </a:p>
        </p:txBody>
      </p:sp>
      <p:sp>
        <p:nvSpPr>
          <p:cNvPr id="11" name="Text 9"/>
          <p:cNvSpPr/>
          <p:nvPr/>
        </p:nvSpPr>
        <p:spPr>
          <a:xfrm>
            <a:off x="673373" y="2420785"/>
            <a:ext cx="3015020" cy="468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78"/>
              </a:lnSpc>
              <a:buNone/>
            </a:pPr>
            <a:r>
              <a:rPr lang="en-US" sz="137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Analytics &amp; Machine</a:t>
            </a:r>
            <a:endParaRPr lang="en-US" sz="1370" dirty="0"/>
          </a:p>
          <a:p>
            <a:pPr algn="l" indent="0" marL="0">
              <a:lnSpc>
                <a:spcPts val="1778"/>
              </a:lnSpc>
              <a:buNone/>
            </a:pPr>
            <a:r>
              <a:rPr lang="en-US" sz="137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Learning Capstone</a:t>
            </a:r>
            <a:endParaRPr lang="en-US" sz="1370" dirty="0"/>
          </a:p>
        </p:txBody>
      </p:sp>
      <p:sp>
        <p:nvSpPr>
          <p:cNvPr id="12" name="Shape 10"/>
          <p:cNvSpPr/>
          <p:nvPr/>
        </p:nvSpPr>
        <p:spPr>
          <a:xfrm>
            <a:off x="457535" y="3140013"/>
            <a:ext cx="3076575" cy="690562"/>
          </a:xfrm>
          <a:prstGeom prst="roundRect">
            <a:avLst>
              <a:gd name="adj" fmla="val 13241"/>
            </a:avLst>
          </a:prstGeom>
          <a:solidFill>
            <a:srgbClr val="1C1C1C"/>
          </a:solidFill>
          <a:ln/>
        </p:spPr>
      </p:sp>
      <p:sp>
        <p:nvSpPr>
          <p:cNvPr id="13" name="Text 11"/>
          <p:cNvSpPr/>
          <p:nvPr/>
        </p:nvSpPr>
        <p:spPr>
          <a:xfrm>
            <a:off x="673373" y="3281883"/>
            <a:ext cx="854177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790" spc="119" kern="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METHODS</a:t>
            </a:r>
            <a:endParaRPr lang="en-US" sz="790" dirty="0"/>
          </a:p>
        </p:txBody>
      </p:sp>
      <p:sp>
        <p:nvSpPr>
          <p:cNvPr id="14" name="Text 12"/>
          <p:cNvSpPr/>
          <p:nvPr/>
        </p:nvSpPr>
        <p:spPr>
          <a:xfrm>
            <a:off x="764753" y="3509516"/>
            <a:ext cx="38664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FFE000"/>
                </a:solidFill>
                <a:highlight>
                  <a:srgbClr val="252525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SQL</a:t>
            </a:r>
            <a:endParaRPr lang="en-US" sz="1010" dirty="0"/>
          </a:p>
        </p:txBody>
      </p:sp>
      <p:sp>
        <p:nvSpPr>
          <p:cNvPr id="15" name="Text 13"/>
          <p:cNvSpPr/>
          <p:nvPr/>
        </p:nvSpPr>
        <p:spPr>
          <a:xfrm>
            <a:off x="1252389" y="3509516"/>
            <a:ext cx="389446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FFE000"/>
                </a:solidFill>
                <a:highlight>
                  <a:srgbClr val="252525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EDA</a:t>
            </a:r>
            <a:endParaRPr lang="en-US" sz="1010" dirty="0"/>
          </a:p>
        </p:txBody>
      </p:sp>
      <p:sp>
        <p:nvSpPr>
          <p:cNvPr id="16" name="Text 14"/>
          <p:cNvSpPr/>
          <p:nvPr/>
        </p:nvSpPr>
        <p:spPr>
          <a:xfrm>
            <a:off x="1742182" y="3509516"/>
            <a:ext cx="30315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FFE000"/>
                </a:solidFill>
                <a:highlight>
                  <a:srgbClr val="252525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ML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2165598" y="3509516"/>
            <a:ext cx="68681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FFE000"/>
                </a:solidFill>
                <a:highlight>
                  <a:srgbClr val="252525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Tableau</a:t>
            </a:r>
            <a:endParaRPr lang="en-US" sz="1010" dirty="0"/>
          </a:p>
        </p:txBody>
      </p:sp>
      <p:sp>
        <p:nvSpPr>
          <p:cNvPr id="18" name="Shape 16"/>
          <p:cNvSpPr/>
          <p:nvPr/>
        </p:nvSpPr>
        <p:spPr>
          <a:xfrm>
            <a:off x="3762710" y="1080157"/>
            <a:ext cx="4924425" cy="3857625"/>
          </a:xfrm>
          <a:prstGeom prst="roundRect">
            <a:avLst>
              <a:gd name="adj" fmla="val 2844"/>
            </a:avLst>
          </a:prstGeom>
          <a:solidFill>
            <a:srgbClr val="1A1A1A"/>
          </a:solidFill>
          <a:ln/>
        </p:spPr>
      </p:sp>
      <p:sp>
        <p:nvSpPr>
          <p:cNvPr id="19" name="Text 17"/>
          <p:cNvSpPr/>
          <p:nvPr/>
        </p:nvSpPr>
        <p:spPr>
          <a:xfrm>
            <a:off x="4037335" y="1264890"/>
            <a:ext cx="209629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940" b="1" spc="140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EXECUTIVE SUMMARY</a:t>
            </a:r>
            <a:endParaRPr lang="en-US" sz="940" dirty="0"/>
          </a:p>
        </p:txBody>
      </p:sp>
      <p:sp>
        <p:nvSpPr>
          <p:cNvPr id="20" name="Text 18"/>
          <p:cNvSpPr/>
          <p:nvPr/>
        </p:nvSpPr>
        <p:spPr>
          <a:xfrm>
            <a:off x="4037335" y="1579290"/>
            <a:ext cx="5537470" cy="1426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7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Blinkit is a leading quick-commerce platform that</a:t>
            </a:r>
            <a:endParaRPr lang="en-US" sz="1440" dirty="0"/>
          </a:p>
          <a:p>
            <a:pPr algn="l" indent="0" marL="0">
              <a:lnSpc>
                <a:spcPts val="237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promises fast and reliable delivery of everyday</a:t>
            </a:r>
            <a:endParaRPr lang="en-US" sz="1440" dirty="0"/>
          </a:p>
          <a:p>
            <a:pPr algn="l" indent="0" marL="0">
              <a:lnSpc>
                <a:spcPts val="237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essentials. Maintaining this promise requires</a:t>
            </a:r>
            <a:endParaRPr lang="en-US" sz="1440" dirty="0"/>
          </a:p>
          <a:p>
            <a:pPr algn="l" indent="0" marL="0">
              <a:lnSpc>
                <a:spcPts val="237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monitoring of delivery performance</a:t>
            </a:r>
            <a:endParaRPr lang="en-US" sz="1440" dirty="0"/>
          </a:p>
          <a:p>
            <a:pPr algn="l" indent="0" marL="0">
              <a:lnSpc>
                <a:spcPts val="237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operational efficiency.</a:t>
            </a:r>
            <a:endParaRPr lang="en-US" sz="1440" dirty="0"/>
          </a:p>
        </p:txBody>
      </p:sp>
      <p:sp>
        <p:nvSpPr>
          <p:cNvPr id="21" name="Text 19"/>
          <p:cNvSpPr/>
          <p:nvPr/>
        </p:nvSpPr>
        <p:spPr>
          <a:xfrm>
            <a:off x="4037335" y="3216622"/>
            <a:ext cx="5699023" cy="1426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7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analyzes a large quick-commerce</a:t>
            </a:r>
            <a:endParaRPr lang="en-US" sz="1440" dirty="0"/>
          </a:p>
          <a:p>
            <a:pPr algn="l" indent="0" marL="0">
              <a:lnSpc>
                <a:spcPts val="237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dataset to identify the factors influencing</a:t>
            </a:r>
            <a:endParaRPr lang="en-US" sz="1440" dirty="0"/>
          </a:p>
          <a:p>
            <a:pPr algn="l" indent="0" marL="0">
              <a:lnSpc>
                <a:spcPts val="237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performance, uncover operational</a:t>
            </a:r>
            <a:endParaRPr lang="en-US" sz="1440" dirty="0"/>
          </a:p>
          <a:p>
            <a:pPr algn="l" indent="0" marL="0">
              <a:lnSpc>
                <a:spcPts val="237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bottlenecks, and develop a machine learning</a:t>
            </a:r>
            <a:endParaRPr lang="en-US" sz="1440" dirty="0"/>
          </a:p>
          <a:p>
            <a:pPr algn="l" indent="0" marL="0">
              <a:lnSpc>
                <a:spcPts val="237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to predict orders at risk of delayed delivery.</a:t>
            </a:r>
            <a:endParaRPr lang="en-US" sz="1440" dirty="0"/>
          </a:p>
        </p:txBody>
      </p:sp>
      <p:sp>
        <p:nvSpPr>
          <p:cNvPr id="22" name="Shape 20"/>
          <p:cNvSpPr/>
          <p:nvPr/>
        </p:nvSpPr>
        <p:spPr>
          <a:xfrm>
            <a:off x="0" y="5118757"/>
            <a:ext cx="9144000" cy="23812"/>
          </a:xfrm>
          <a:prstGeom prst="rect">
            <a:avLst/>
          </a:prstGeom>
          <a:solidFill>
            <a:srgbClr val="1DA462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535" y="1080492"/>
            <a:ext cx="3076575" cy="900113"/>
          </a:xfrm>
          <a:prstGeom prst="rect">
            <a:avLst/>
          </a:prstGeom>
        </p:spPr>
      </p:pic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535" y="2109936"/>
            <a:ext cx="3076575" cy="900113"/>
          </a:xfrm>
          <a:prstGeom prst="rect">
            <a:avLst/>
          </a:prstGeom>
        </p:spPr>
      </p:pic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535" y="3140013"/>
            <a:ext cx="3076575" cy="69056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FFE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10443"/>
            <a:ext cx="1719984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790" b="1" spc="174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BLINKIT CAPSTONE</a:t>
            </a:r>
            <a:endParaRPr lang="en-US" sz="790" dirty="0"/>
          </a:p>
        </p:txBody>
      </p:sp>
      <p:sp>
        <p:nvSpPr>
          <p:cNvPr id="5" name="Text 3"/>
          <p:cNvSpPr/>
          <p:nvPr/>
        </p:nvSpPr>
        <p:spPr>
          <a:xfrm>
            <a:off x="457200" y="340519"/>
            <a:ext cx="4480508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Project Objectives</a:t>
            </a:r>
            <a:endParaRPr lang="en-US" sz="2880" dirty="0"/>
          </a:p>
        </p:txBody>
      </p:sp>
      <p:sp>
        <p:nvSpPr>
          <p:cNvPr id="6" name="Shape 4"/>
          <p:cNvSpPr/>
          <p:nvPr/>
        </p:nvSpPr>
        <p:spPr>
          <a:xfrm>
            <a:off x="456233" y="1079674"/>
            <a:ext cx="4281487" cy="3867150"/>
          </a:xfrm>
          <a:prstGeom prst="roundRect">
            <a:avLst>
              <a:gd name="adj" fmla="val 2837"/>
            </a:avLst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750168" y="1266379"/>
            <a:ext cx="15127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spc="112" kern="0" dirty="0">
                <a:solidFill>
                  <a:srgbClr val="000000"/>
                </a:solidFill>
                <a:highlight>
                  <a:srgbClr val="FFE000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P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960090" y="1250603"/>
            <a:ext cx="206862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013"/>
              </a:spcAft>
              <a:buNone/>
            </a:pPr>
            <a:r>
              <a:rPr lang="en-US" sz="940" b="1" spc="112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PRIMARY OBJECTIVES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685019" y="1585206"/>
            <a:ext cx="38100" cy="142875"/>
          </a:xfrm>
          <a:prstGeom prst="roundRect">
            <a:avLst>
              <a:gd name="adj" fmla="val 48000"/>
            </a:avLst>
          </a:prstGeom>
          <a:solidFill>
            <a:srgbClr val="FFE000"/>
          </a:solidFill>
          <a:ln/>
        </p:spPr>
      </p:sp>
      <p:sp>
        <p:nvSpPr>
          <p:cNvPr id="10" name="Text 8"/>
          <p:cNvSpPr/>
          <p:nvPr/>
        </p:nvSpPr>
        <p:spPr>
          <a:xfrm>
            <a:off x="832024" y="1578397"/>
            <a:ext cx="4246498" cy="475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 delivery performance across</a:t>
            </a:r>
            <a:endParaRPr lang="en-US" sz="1440" dirty="0"/>
          </a:p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cities and product categories</a:t>
            </a:r>
            <a:endParaRPr lang="en-US" sz="1440" dirty="0"/>
          </a:p>
        </p:txBody>
      </p:sp>
      <p:sp>
        <p:nvSpPr>
          <p:cNvPr id="11" name="Shape 9"/>
          <p:cNvSpPr/>
          <p:nvPr/>
        </p:nvSpPr>
        <p:spPr>
          <a:xfrm>
            <a:off x="685019" y="2200163"/>
            <a:ext cx="38100" cy="142875"/>
          </a:xfrm>
          <a:prstGeom prst="roundRect">
            <a:avLst>
              <a:gd name="adj" fmla="val 48000"/>
            </a:avLst>
          </a:prstGeom>
          <a:solidFill>
            <a:srgbClr val="FFE000"/>
          </a:solidFill>
          <a:ln/>
        </p:spPr>
      </p:sp>
      <p:sp>
        <p:nvSpPr>
          <p:cNvPr id="12" name="Text 10"/>
          <p:cNvSpPr/>
          <p:nvPr/>
        </p:nvSpPr>
        <p:spPr>
          <a:xfrm>
            <a:off x="832024" y="2193354"/>
            <a:ext cx="4661312" cy="475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operational bottlenecks affecting</a:t>
            </a:r>
            <a:endParaRPr lang="en-US" sz="1440" dirty="0"/>
          </a:p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time</a:t>
            </a:r>
            <a:endParaRPr lang="en-US" sz="1440" dirty="0"/>
          </a:p>
        </p:txBody>
      </p:sp>
      <p:sp>
        <p:nvSpPr>
          <p:cNvPr id="13" name="Shape 11"/>
          <p:cNvSpPr/>
          <p:nvPr/>
        </p:nvSpPr>
        <p:spPr>
          <a:xfrm>
            <a:off x="685019" y="2815121"/>
            <a:ext cx="38100" cy="142875"/>
          </a:xfrm>
          <a:prstGeom prst="roundRect">
            <a:avLst>
              <a:gd name="adj" fmla="val 48000"/>
            </a:avLst>
          </a:prstGeom>
          <a:solidFill>
            <a:srgbClr val="FFE000"/>
          </a:solidFill>
          <a:ln/>
        </p:spPr>
      </p:sp>
      <p:sp>
        <p:nvSpPr>
          <p:cNvPr id="14" name="Text 12"/>
          <p:cNvSpPr/>
          <p:nvPr/>
        </p:nvSpPr>
        <p:spPr>
          <a:xfrm>
            <a:off x="832024" y="2808312"/>
            <a:ext cx="4668277" cy="731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 relationships between distance,</a:t>
            </a:r>
            <a:endParaRPr lang="en-US" sz="1440" dirty="0"/>
          </a:p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 characteristics, and customer</a:t>
            </a:r>
            <a:endParaRPr lang="en-US" sz="1440" dirty="0"/>
          </a:p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satisfaction</a:t>
            </a:r>
            <a:endParaRPr lang="en-US" sz="1440" dirty="0"/>
          </a:p>
        </p:txBody>
      </p:sp>
      <p:sp>
        <p:nvSpPr>
          <p:cNvPr id="15" name="Shape 13"/>
          <p:cNvSpPr/>
          <p:nvPr/>
        </p:nvSpPr>
        <p:spPr>
          <a:xfrm>
            <a:off x="685019" y="3686138"/>
            <a:ext cx="38100" cy="142875"/>
          </a:xfrm>
          <a:prstGeom prst="roundRect">
            <a:avLst>
              <a:gd name="adj" fmla="val 48000"/>
            </a:avLst>
          </a:prstGeom>
          <a:solidFill>
            <a:srgbClr val="FFE000"/>
          </a:solidFill>
          <a:ln/>
        </p:spPr>
      </p:sp>
      <p:sp>
        <p:nvSpPr>
          <p:cNvPr id="16" name="Text 14"/>
          <p:cNvSpPr/>
          <p:nvPr/>
        </p:nvSpPr>
        <p:spPr>
          <a:xfrm>
            <a:off x="832024" y="3679329"/>
            <a:ext cx="4667213" cy="475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ML models to classify orders at risk</a:t>
            </a:r>
            <a:endParaRPr lang="en-US" sz="1440" dirty="0"/>
          </a:p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delayed delivery</a:t>
            </a:r>
            <a:endParaRPr lang="en-US" sz="1440" dirty="0"/>
          </a:p>
        </p:txBody>
      </p:sp>
      <p:sp>
        <p:nvSpPr>
          <p:cNvPr id="17" name="Shape 15"/>
          <p:cNvSpPr/>
          <p:nvPr/>
        </p:nvSpPr>
        <p:spPr>
          <a:xfrm>
            <a:off x="685019" y="4301096"/>
            <a:ext cx="38100" cy="142875"/>
          </a:xfrm>
          <a:prstGeom prst="roundRect">
            <a:avLst>
              <a:gd name="adj" fmla="val 48000"/>
            </a:avLst>
          </a:prstGeom>
          <a:solidFill>
            <a:srgbClr val="FFE000"/>
          </a:solidFill>
          <a:ln/>
        </p:spPr>
      </p:sp>
      <p:sp>
        <p:nvSpPr>
          <p:cNvPr id="18" name="Text 16"/>
          <p:cNvSpPr/>
          <p:nvPr/>
        </p:nvSpPr>
        <p:spPr>
          <a:xfrm>
            <a:off x="832024" y="4294287"/>
            <a:ext cx="4404085" cy="475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 findings through an interactive</a:t>
            </a:r>
            <a:endParaRPr lang="en-US" sz="1440" dirty="0"/>
          </a:p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Tableau dashboard</a:t>
            </a:r>
            <a:endParaRPr lang="en-US" sz="1440" dirty="0"/>
          </a:p>
        </p:txBody>
      </p:sp>
      <p:sp>
        <p:nvSpPr>
          <p:cNvPr id="19" name="Shape 17"/>
          <p:cNvSpPr/>
          <p:nvPr/>
        </p:nvSpPr>
        <p:spPr>
          <a:xfrm>
            <a:off x="4966283" y="1079674"/>
            <a:ext cx="3719512" cy="3867150"/>
          </a:xfrm>
          <a:prstGeom prst="roundRect">
            <a:avLst>
              <a:gd name="adj" fmla="val 2950"/>
            </a:avLst>
          </a:prstGeom>
          <a:solidFill>
            <a:srgbClr val="1A1A1A"/>
          </a:solidFill>
          <a:ln/>
        </p:spPr>
      </p:sp>
      <p:sp>
        <p:nvSpPr>
          <p:cNvPr id="20" name="Text 18"/>
          <p:cNvSpPr/>
          <p:nvPr/>
        </p:nvSpPr>
        <p:spPr>
          <a:xfrm>
            <a:off x="5258991" y="1266379"/>
            <a:ext cx="14943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spc="112" kern="0" dirty="0">
                <a:solidFill>
                  <a:srgbClr val="FFFFFF"/>
                </a:solidFill>
                <a:highlight>
                  <a:srgbClr val="1DA462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S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5468243" y="1250603"/>
            <a:ext cx="236735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013"/>
              </a:spcAft>
              <a:buNone/>
            </a:pPr>
            <a:r>
              <a:rPr lang="en-US" sz="940" b="1" spc="112" kern="0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SECONDARY OBJECTIVES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5193171" y="1585206"/>
            <a:ext cx="38100" cy="142875"/>
          </a:xfrm>
          <a:prstGeom prst="roundRect">
            <a:avLst>
              <a:gd name="adj" fmla="val 48000"/>
            </a:avLst>
          </a:prstGeom>
          <a:solidFill>
            <a:srgbClr val="1DA462"/>
          </a:solidFill>
          <a:ln/>
        </p:spPr>
      </p:sp>
      <p:sp>
        <p:nvSpPr>
          <p:cNvPr id="23" name="Text 21"/>
          <p:cNvSpPr/>
          <p:nvPr/>
        </p:nvSpPr>
        <p:spPr>
          <a:xfrm>
            <a:off x="5340176" y="1578397"/>
            <a:ext cx="4033771" cy="731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Demonstrate SQL proficiency using</a:t>
            </a:r>
            <a:endParaRPr lang="en-US" sz="1440" dirty="0"/>
          </a:p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Joins, GROUP BY, Window</a:t>
            </a:r>
            <a:endParaRPr lang="en-US" sz="1440" dirty="0"/>
          </a:p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Functions, and CTEs</a:t>
            </a:r>
            <a:endParaRPr lang="en-US" sz="1440" dirty="0"/>
          </a:p>
        </p:txBody>
      </p:sp>
      <p:sp>
        <p:nvSpPr>
          <p:cNvPr id="24" name="Shape 22"/>
          <p:cNvSpPr/>
          <p:nvPr/>
        </p:nvSpPr>
        <p:spPr>
          <a:xfrm>
            <a:off x="5193171" y="2481969"/>
            <a:ext cx="38100" cy="142875"/>
          </a:xfrm>
          <a:prstGeom prst="roundRect">
            <a:avLst>
              <a:gd name="adj" fmla="val 48000"/>
            </a:avLst>
          </a:prstGeom>
          <a:solidFill>
            <a:srgbClr val="1DA462"/>
          </a:solidFill>
          <a:ln/>
        </p:spPr>
      </p:sp>
      <p:sp>
        <p:nvSpPr>
          <p:cNvPr id="25" name="Text 23"/>
          <p:cNvSpPr/>
          <p:nvPr/>
        </p:nvSpPr>
        <p:spPr>
          <a:xfrm>
            <a:off x="5340176" y="2475161"/>
            <a:ext cx="2866720" cy="731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data cleaning and</a:t>
            </a:r>
            <a:endParaRPr lang="en-US" sz="1440" dirty="0"/>
          </a:p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exploratory data analysis</a:t>
            </a:r>
            <a:endParaRPr lang="en-US" sz="1440" dirty="0"/>
          </a:p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techniques</a:t>
            </a:r>
            <a:endParaRPr lang="en-US" sz="1440" dirty="0"/>
          </a:p>
        </p:txBody>
      </p:sp>
      <p:sp>
        <p:nvSpPr>
          <p:cNvPr id="26" name="Shape 24"/>
          <p:cNvSpPr/>
          <p:nvPr/>
        </p:nvSpPr>
        <p:spPr>
          <a:xfrm>
            <a:off x="5193171" y="3378733"/>
            <a:ext cx="38100" cy="142875"/>
          </a:xfrm>
          <a:prstGeom prst="roundRect">
            <a:avLst>
              <a:gd name="adj" fmla="val 48000"/>
            </a:avLst>
          </a:prstGeom>
          <a:solidFill>
            <a:srgbClr val="1DA462"/>
          </a:solidFill>
          <a:ln/>
        </p:spPr>
      </p:sp>
      <p:sp>
        <p:nvSpPr>
          <p:cNvPr id="27" name="Text 25"/>
          <p:cNvSpPr/>
          <p:nvPr/>
        </p:nvSpPr>
        <p:spPr>
          <a:xfrm>
            <a:off x="5340176" y="3371924"/>
            <a:ext cx="3638304" cy="731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Produce business</a:t>
            </a:r>
            <a:endParaRPr lang="en-US" sz="1440" dirty="0"/>
          </a:p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recommendations supported by</a:t>
            </a:r>
            <a:endParaRPr lang="en-US" sz="1440" dirty="0"/>
          </a:p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and evidence</a:t>
            </a:r>
            <a:endParaRPr lang="en-US" sz="1440" dirty="0"/>
          </a:p>
        </p:txBody>
      </p:sp>
      <p:sp>
        <p:nvSpPr>
          <p:cNvPr id="28" name="Shape 26"/>
          <p:cNvSpPr/>
          <p:nvPr/>
        </p:nvSpPr>
        <p:spPr>
          <a:xfrm>
            <a:off x="0" y="5118757"/>
            <a:ext cx="9144000" cy="23812"/>
          </a:xfrm>
          <a:prstGeom prst="rect">
            <a:avLst/>
          </a:prstGeom>
          <a:solidFill>
            <a:srgbClr val="1DA462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FFE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10443"/>
            <a:ext cx="1719984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790" b="1" spc="174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BLINKIT CAPSTONE</a:t>
            </a:r>
            <a:endParaRPr lang="en-US" sz="790" dirty="0"/>
          </a:p>
        </p:txBody>
      </p:sp>
      <p:sp>
        <p:nvSpPr>
          <p:cNvPr id="5" name="Text 3"/>
          <p:cNvSpPr/>
          <p:nvPr/>
        </p:nvSpPr>
        <p:spPr>
          <a:xfrm>
            <a:off x="457200" y="340519"/>
            <a:ext cx="4816673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Business Questions</a:t>
            </a:r>
            <a:endParaRPr lang="en-US" sz="2880" dirty="0"/>
          </a:p>
        </p:txBody>
      </p:sp>
      <p:sp>
        <p:nvSpPr>
          <p:cNvPr id="6" name="Shape 4"/>
          <p:cNvSpPr/>
          <p:nvPr/>
        </p:nvSpPr>
        <p:spPr>
          <a:xfrm>
            <a:off x="456716" y="1080418"/>
            <a:ext cx="4024312" cy="2752725"/>
          </a:xfrm>
          <a:prstGeom prst="roundRect">
            <a:avLst>
              <a:gd name="adj" fmla="val 3322"/>
            </a:avLst>
          </a:prstGeom>
          <a:solidFill>
            <a:srgbClr val="1C1C1C"/>
          </a:solidFill>
          <a:ln/>
        </p:spPr>
      </p:sp>
      <p:sp>
        <p:nvSpPr>
          <p:cNvPr id="7" name="Text 5"/>
          <p:cNvSpPr/>
          <p:nvPr/>
        </p:nvSpPr>
        <p:spPr>
          <a:xfrm>
            <a:off x="658341" y="1212279"/>
            <a:ext cx="204918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108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Delivery Performance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58341" y="1523628"/>
            <a:ext cx="3806629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What is the average delivery time?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41" y="1828056"/>
            <a:ext cx="4740637" cy="45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Which city has the highest average delivery</a:t>
            </a:r>
            <a:endParaRPr lang="en-US" sz="1300" dirty="0"/>
          </a:p>
          <a:p>
            <a:pPr algn="l" indent="0" marL="0">
              <a:lnSpc>
                <a:spcPts val="207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41" y="2395835"/>
            <a:ext cx="3922328" cy="45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Which company records the fastest</a:t>
            </a:r>
            <a:endParaRPr lang="en-US" sz="1300" dirty="0"/>
          </a:p>
          <a:p>
            <a:pPr algn="l" indent="0" marL="0">
              <a:lnSpc>
                <a:spcPts val="207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deliveries?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41" y="2963614"/>
            <a:ext cx="4618650" cy="45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Which product categories take the longest</a:t>
            </a:r>
            <a:endParaRPr lang="en-US" sz="1300" dirty="0"/>
          </a:p>
          <a:p>
            <a:pPr algn="l" indent="0" marL="0">
              <a:lnSpc>
                <a:spcPts val="207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deliver?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2934" y="1080418"/>
            <a:ext cx="4024312" cy="2752725"/>
          </a:xfrm>
          <a:prstGeom prst="roundRect">
            <a:avLst>
              <a:gd name="adj" fmla="val 3322"/>
            </a:avLst>
          </a:prstGeom>
          <a:solidFill>
            <a:srgbClr val="1C1C1C"/>
          </a:solidFill>
          <a:ln/>
        </p:spPr>
      </p:sp>
      <p:sp>
        <p:nvSpPr>
          <p:cNvPr id="13" name="Text 11"/>
          <p:cNvSpPr/>
          <p:nvPr/>
        </p:nvSpPr>
        <p:spPr>
          <a:xfrm>
            <a:off x="4864522" y="1212279"/>
            <a:ext cx="180085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108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Customer Analysis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4864522" y="1523628"/>
            <a:ext cx="4547257" cy="45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How do customer ratings vary by delivery</a:t>
            </a:r>
            <a:endParaRPr lang="en-US" sz="1300" dirty="0"/>
          </a:p>
          <a:p>
            <a:pPr algn="l" indent="0" marL="0">
              <a:lnSpc>
                <a:spcPts val="207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64522" y="2091407"/>
            <a:ext cx="3657749" cy="45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Which segments have the lowest</a:t>
            </a:r>
            <a:endParaRPr lang="en-US" sz="1300" dirty="0"/>
          </a:p>
          <a:p>
            <a:pPr algn="l" indent="0" marL="0">
              <a:lnSpc>
                <a:spcPts val="207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satisfaction?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64522" y="2659187"/>
            <a:ext cx="4553062" cy="45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What is the relationship between distance</a:t>
            </a:r>
            <a:endParaRPr lang="en-US" sz="1300" dirty="0"/>
          </a:p>
          <a:p>
            <a:pPr algn="l" indent="0" marL="0">
              <a:lnSpc>
                <a:spcPts val="207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rating?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64522" y="3226966"/>
            <a:ext cx="4325049" cy="45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Are late deliveries correlated with lower</a:t>
            </a:r>
            <a:endParaRPr lang="en-US" sz="1300" dirty="0"/>
          </a:p>
          <a:p>
            <a:pPr algn="l" indent="0" marL="0">
              <a:lnSpc>
                <a:spcPts val="207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ratings?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6716" y="3935871"/>
            <a:ext cx="4024312" cy="2490787"/>
          </a:xfrm>
          <a:prstGeom prst="roundRect">
            <a:avLst>
              <a:gd name="adj" fmla="val 3671"/>
            </a:avLst>
          </a:prstGeom>
          <a:solidFill>
            <a:srgbClr val="1C1C1C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41" y="4068440"/>
            <a:ext cx="198524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108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Operational Analysis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658341" y="4379788"/>
            <a:ext cx="4618263" cy="45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How does payment method affect delivery</a:t>
            </a:r>
            <a:endParaRPr lang="en-US" sz="1300" dirty="0"/>
          </a:p>
          <a:p>
            <a:pPr algn="l" indent="0" marL="0">
              <a:lnSpc>
                <a:spcPts val="207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time?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41" y="4947568"/>
            <a:ext cx="4141150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What is the late delivery rate per city?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41" y="5251996"/>
            <a:ext cx="4431558" cy="45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Which categories have the highest delay</a:t>
            </a:r>
            <a:endParaRPr lang="en-US" sz="1300" dirty="0"/>
          </a:p>
          <a:p>
            <a:pPr algn="l" indent="0" marL="0">
              <a:lnSpc>
                <a:spcPts val="207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rates?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8341" y="5819775"/>
            <a:ext cx="4406503" cy="45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What distance thresholds drive the most</a:t>
            </a:r>
            <a:endParaRPr lang="en-US" sz="1300" dirty="0"/>
          </a:p>
          <a:p>
            <a:pPr algn="l" indent="0" marL="0">
              <a:lnSpc>
                <a:spcPts val="207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delays?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62934" y="3935871"/>
            <a:ext cx="4024312" cy="2490787"/>
          </a:xfrm>
          <a:prstGeom prst="roundRect">
            <a:avLst>
              <a:gd name="adj" fmla="val 3671"/>
            </a:avLst>
          </a:prstGeom>
          <a:solidFill>
            <a:srgbClr val="1C1C1C"/>
          </a:solidFill>
          <a:ln/>
        </p:spPr>
      </p:sp>
      <p:sp>
        <p:nvSpPr>
          <p:cNvPr id="25" name="Text 23"/>
          <p:cNvSpPr/>
          <p:nvPr/>
        </p:nvSpPr>
        <p:spPr>
          <a:xfrm>
            <a:off x="4864522" y="4068440"/>
            <a:ext cx="169657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108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Machine Learning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4864522" y="4379788"/>
            <a:ext cx="4524524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Which features best predict late delivery?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64522" y="4684216"/>
            <a:ext cx="4166302" cy="45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Which ML model achieves the highest</a:t>
            </a:r>
            <a:endParaRPr lang="en-US" sz="1300" dirty="0"/>
          </a:p>
          <a:p>
            <a:pPr algn="l" indent="0" marL="0">
              <a:lnSpc>
                <a:spcPts val="207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accuracy?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64522" y="5251996"/>
            <a:ext cx="4385124" cy="45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How can predictions support operations</a:t>
            </a:r>
            <a:endParaRPr lang="en-US" sz="1300" dirty="0"/>
          </a:p>
          <a:p>
            <a:pPr algn="l" indent="0" marL="0">
              <a:lnSpc>
                <a:spcPts val="207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teams?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64522" y="5819775"/>
            <a:ext cx="4559059" cy="45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What are the optimal hyperparameters for</a:t>
            </a:r>
            <a:endParaRPr lang="en-US" sz="1300" dirty="0"/>
          </a:p>
          <a:p>
            <a:pPr algn="l" indent="0" marL="0">
              <a:lnSpc>
                <a:spcPts val="207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XGBoost?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0" y="5118757"/>
            <a:ext cx="9144000" cy="23812"/>
          </a:xfrm>
          <a:prstGeom prst="rect">
            <a:avLst/>
          </a:prstGeom>
          <a:solidFill>
            <a:srgbClr val="1DA462"/>
          </a:solidFill>
          <a:ln/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6716" y="1080418"/>
            <a:ext cx="4024312" cy="2752725"/>
          </a:xfrm>
          <a:prstGeom prst="rect">
            <a:avLst/>
          </a:prstGeom>
        </p:spPr>
      </p:pic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2934" y="1080418"/>
            <a:ext cx="4024312" cy="2752725"/>
          </a:xfrm>
          <a:prstGeom prst="rect">
            <a:avLst/>
          </a:prstGeom>
        </p:spPr>
      </p:pic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6716" y="3935871"/>
            <a:ext cx="4024312" cy="2490787"/>
          </a:xfrm>
          <a:prstGeom prst="rect">
            <a:avLst/>
          </a:prstGeom>
        </p:spPr>
      </p:pic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2934" y="3935871"/>
            <a:ext cx="4024312" cy="24907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FFE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10443"/>
            <a:ext cx="1719984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790" b="1" spc="174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BLINKIT CAPSTONE</a:t>
            </a:r>
            <a:endParaRPr lang="en-US" sz="790" dirty="0"/>
          </a:p>
        </p:txBody>
      </p:sp>
      <p:sp>
        <p:nvSpPr>
          <p:cNvPr id="5" name="Text 3"/>
          <p:cNvSpPr/>
          <p:nvPr/>
        </p:nvSpPr>
        <p:spPr>
          <a:xfrm>
            <a:off x="457200" y="340519"/>
            <a:ext cx="4981612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Scope &amp; Key Metrics</a:t>
            </a:r>
            <a:endParaRPr lang="en-US" sz="2880" dirty="0"/>
          </a:p>
        </p:txBody>
      </p:sp>
      <p:sp>
        <p:nvSpPr>
          <p:cNvPr id="6" name="Shape 4"/>
          <p:cNvSpPr/>
          <p:nvPr/>
        </p:nvSpPr>
        <p:spPr>
          <a:xfrm>
            <a:off x="457200" y="1079376"/>
            <a:ext cx="4000500" cy="1990725"/>
          </a:xfrm>
          <a:prstGeom prst="roundRect">
            <a:avLst>
              <a:gd name="adj" fmla="val 4593"/>
            </a:avLst>
          </a:prstGeom>
          <a:solidFill>
            <a:srgbClr val="1C1C1C"/>
          </a:solidFill>
          <a:ln/>
        </p:spPr>
      </p:sp>
      <p:sp>
        <p:nvSpPr>
          <p:cNvPr id="7" name="Text 5"/>
          <p:cNvSpPr/>
          <p:nvPr/>
        </p:nvSpPr>
        <p:spPr>
          <a:xfrm>
            <a:off x="719137" y="1213470"/>
            <a:ext cx="95130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940" b="1" spc="140" kern="0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SCOPE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719137" y="1506885"/>
            <a:ext cx="386273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Data cleaning and preprocessing</a:t>
            </a:r>
            <a:endParaRPr lang="en-US" sz="1370" dirty="0"/>
          </a:p>
        </p:txBody>
      </p:sp>
      <p:sp>
        <p:nvSpPr>
          <p:cNvPr id="9" name="Text 7"/>
          <p:cNvSpPr/>
          <p:nvPr/>
        </p:nvSpPr>
        <p:spPr>
          <a:xfrm>
            <a:off x="719137" y="1802234"/>
            <a:ext cx="321875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SQL analysis and reporting</a:t>
            </a:r>
            <a:endParaRPr lang="en-US" sz="1370" dirty="0"/>
          </a:p>
        </p:txBody>
      </p:sp>
      <p:sp>
        <p:nvSpPr>
          <p:cNvPr id="10" name="Text 8"/>
          <p:cNvSpPr/>
          <p:nvPr/>
        </p:nvSpPr>
        <p:spPr>
          <a:xfrm>
            <a:off x="719137" y="2097584"/>
            <a:ext cx="369944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Exploratory data analysis (EDA)</a:t>
            </a:r>
            <a:endParaRPr lang="en-US" sz="1370" dirty="0"/>
          </a:p>
        </p:txBody>
      </p:sp>
      <p:sp>
        <p:nvSpPr>
          <p:cNvPr id="11" name="Text 9"/>
          <p:cNvSpPr/>
          <p:nvPr/>
        </p:nvSpPr>
        <p:spPr>
          <a:xfrm>
            <a:off x="719137" y="2392933"/>
            <a:ext cx="323451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Machine learning modeling</a:t>
            </a:r>
            <a:endParaRPr lang="en-US" sz="1370" dirty="0"/>
          </a:p>
        </p:txBody>
      </p:sp>
      <p:sp>
        <p:nvSpPr>
          <p:cNvPr id="12" name="Text 10"/>
          <p:cNvSpPr/>
          <p:nvPr/>
        </p:nvSpPr>
        <p:spPr>
          <a:xfrm>
            <a:off x="719137" y="2688282"/>
            <a:ext cx="384097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Tableau dashboard development</a:t>
            </a:r>
            <a:endParaRPr lang="en-US" sz="1370" dirty="0"/>
          </a:p>
        </p:txBody>
      </p:sp>
      <p:sp>
        <p:nvSpPr>
          <p:cNvPr id="13" name="Shape 11"/>
          <p:cNvSpPr/>
          <p:nvPr/>
        </p:nvSpPr>
        <p:spPr>
          <a:xfrm>
            <a:off x="457200" y="3171379"/>
            <a:ext cx="4000500" cy="1400175"/>
          </a:xfrm>
          <a:prstGeom prst="roundRect">
            <a:avLst>
              <a:gd name="adj" fmla="val 6531"/>
            </a:avLst>
          </a:prstGeom>
          <a:solidFill>
            <a:srgbClr val="1C1C1C"/>
          </a:solidFill>
          <a:ln/>
        </p:spPr>
      </p:sp>
      <p:sp>
        <p:nvSpPr>
          <p:cNvPr id="14" name="Text 12"/>
          <p:cNvSpPr/>
          <p:nvPr/>
        </p:nvSpPr>
        <p:spPr>
          <a:xfrm>
            <a:off x="719137" y="3305547"/>
            <a:ext cx="144263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940" b="1" spc="140" kern="0" dirty="0">
                <a:solidFill>
                  <a:srgbClr val="8888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 OF SCOPE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719137" y="3598962"/>
            <a:ext cx="281525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Real-time GPS tracking</a:t>
            </a:r>
            <a:endParaRPr lang="en-US" sz="1370" dirty="0"/>
          </a:p>
        </p:txBody>
      </p:sp>
      <p:sp>
        <p:nvSpPr>
          <p:cNvPr id="16" name="Text 14"/>
          <p:cNvSpPr/>
          <p:nvPr/>
        </p:nvSpPr>
        <p:spPr>
          <a:xfrm>
            <a:off x="719137" y="3894311"/>
            <a:ext cx="329865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Deep learning architectures</a:t>
            </a:r>
            <a:endParaRPr lang="en-US" sz="1370" dirty="0"/>
          </a:p>
        </p:txBody>
      </p:sp>
      <p:sp>
        <p:nvSpPr>
          <p:cNvPr id="17" name="Text 15"/>
          <p:cNvSpPr/>
          <p:nvPr/>
        </p:nvSpPr>
        <p:spPr>
          <a:xfrm>
            <a:off x="719137" y="4189661"/>
            <a:ext cx="332032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Live production deployment</a:t>
            </a:r>
            <a:endParaRPr lang="en-US" sz="1370" dirty="0"/>
          </a:p>
        </p:txBody>
      </p:sp>
      <p:sp>
        <p:nvSpPr>
          <p:cNvPr id="18" name="Shape 16"/>
          <p:cNvSpPr/>
          <p:nvPr/>
        </p:nvSpPr>
        <p:spPr>
          <a:xfrm>
            <a:off x="4686300" y="1080157"/>
            <a:ext cx="4000500" cy="3857625"/>
          </a:xfrm>
          <a:prstGeom prst="roundRect">
            <a:avLst>
              <a:gd name="adj" fmla="val 2844"/>
            </a:avLst>
          </a:prstGeom>
          <a:solidFill>
            <a:srgbClr val="1A1A1A"/>
          </a:solidFill>
          <a:ln/>
        </p:spPr>
      </p:sp>
      <p:sp>
        <p:nvSpPr>
          <p:cNvPr id="19" name="Text 17"/>
          <p:cNvSpPr/>
          <p:nvPr/>
        </p:nvSpPr>
        <p:spPr>
          <a:xfrm>
            <a:off x="4960590" y="1239143"/>
            <a:ext cx="314058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013"/>
              </a:spcAft>
              <a:buNone/>
            </a:pPr>
            <a:r>
              <a:rPr lang="en-US" sz="940" b="1" spc="140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PERFORMANCE INDICATORS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4960144" y="1540222"/>
            <a:ext cx="3452813" cy="447675"/>
          </a:xfrm>
          <a:prstGeom prst="roundRect">
            <a:avLst>
              <a:gd name="adj" fmla="val 16340"/>
            </a:avLst>
          </a:prstGeom>
          <a:solidFill>
            <a:srgbClr val="252525"/>
          </a:solidFill>
          <a:ln/>
        </p:spPr>
      </p:sp>
      <p:sp>
        <p:nvSpPr>
          <p:cNvPr id="21" name="Text 19"/>
          <p:cNvSpPr/>
          <p:nvPr/>
        </p:nvSpPr>
        <p:spPr>
          <a:xfrm>
            <a:off x="5143426" y="1657573"/>
            <a:ext cx="201329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Delivery Time</a:t>
            </a:r>
            <a:endParaRPr lang="en-US" sz="1370" dirty="0"/>
          </a:p>
        </p:txBody>
      </p:sp>
      <p:sp>
        <p:nvSpPr>
          <p:cNvPr id="22" name="Text 20"/>
          <p:cNvSpPr/>
          <p:nvPr/>
        </p:nvSpPr>
        <p:spPr>
          <a:xfrm>
            <a:off x="7642399" y="1665982"/>
            <a:ext cx="82060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minutes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4960144" y="2088803"/>
            <a:ext cx="3452813" cy="447675"/>
          </a:xfrm>
          <a:prstGeom prst="roundRect">
            <a:avLst>
              <a:gd name="adj" fmla="val 16340"/>
            </a:avLst>
          </a:prstGeom>
          <a:solidFill>
            <a:srgbClr val="252525"/>
          </a:solidFill>
          <a:ln/>
        </p:spPr>
      </p:sp>
      <p:sp>
        <p:nvSpPr>
          <p:cNvPr id="24" name="Text 22"/>
          <p:cNvSpPr/>
          <p:nvPr/>
        </p:nvSpPr>
        <p:spPr>
          <a:xfrm>
            <a:off x="5143426" y="2206154"/>
            <a:ext cx="200961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 Delivery Rate</a:t>
            </a:r>
            <a:endParaRPr lang="en-US" sz="1370" dirty="0"/>
          </a:p>
        </p:txBody>
      </p:sp>
      <p:sp>
        <p:nvSpPr>
          <p:cNvPr id="25" name="Text 23"/>
          <p:cNvSpPr/>
          <p:nvPr/>
        </p:nvSpPr>
        <p:spPr>
          <a:xfrm>
            <a:off x="8110314" y="2214563"/>
            <a:ext cx="21231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%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4960144" y="2637383"/>
            <a:ext cx="3452813" cy="447675"/>
          </a:xfrm>
          <a:prstGeom prst="roundRect">
            <a:avLst>
              <a:gd name="adj" fmla="val 16340"/>
            </a:avLst>
          </a:prstGeom>
          <a:solidFill>
            <a:srgbClr val="252525"/>
          </a:solidFill>
          <a:ln/>
        </p:spPr>
      </p:sp>
      <p:sp>
        <p:nvSpPr>
          <p:cNvPr id="27" name="Text 25"/>
          <p:cNvSpPr/>
          <p:nvPr/>
        </p:nvSpPr>
        <p:spPr>
          <a:xfrm>
            <a:off x="5143426" y="2754734"/>
            <a:ext cx="161376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Orders by City</a:t>
            </a:r>
            <a:endParaRPr lang="en-US" sz="1370" dirty="0"/>
          </a:p>
        </p:txBody>
      </p:sp>
      <p:sp>
        <p:nvSpPr>
          <p:cNvPr id="28" name="Text 26"/>
          <p:cNvSpPr/>
          <p:nvPr/>
        </p:nvSpPr>
        <p:spPr>
          <a:xfrm>
            <a:off x="7818760" y="2763143"/>
            <a:ext cx="59133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count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4960144" y="3185964"/>
            <a:ext cx="3452813" cy="447675"/>
          </a:xfrm>
          <a:prstGeom prst="roundRect">
            <a:avLst>
              <a:gd name="adj" fmla="val 16340"/>
            </a:avLst>
          </a:prstGeom>
          <a:solidFill>
            <a:srgbClr val="252525"/>
          </a:solidFill>
          <a:ln/>
        </p:spPr>
      </p:sp>
      <p:sp>
        <p:nvSpPr>
          <p:cNvPr id="30" name="Text 28"/>
          <p:cNvSpPr/>
          <p:nvPr/>
        </p:nvSpPr>
        <p:spPr>
          <a:xfrm>
            <a:off x="5143426" y="3303315"/>
            <a:ext cx="2325082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Customer Rating</a:t>
            </a:r>
            <a:endParaRPr lang="en-US" sz="1370" dirty="0"/>
          </a:p>
        </p:txBody>
      </p:sp>
      <p:sp>
        <p:nvSpPr>
          <p:cNvPr id="31" name="Text 29"/>
          <p:cNvSpPr/>
          <p:nvPr/>
        </p:nvSpPr>
        <p:spPr>
          <a:xfrm>
            <a:off x="7586960" y="3311723"/>
            <a:ext cx="8926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1–5 scale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4960144" y="3734544"/>
            <a:ext cx="3452813" cy="447675"/>
          </a:xfrm>
          <a:prstGeom prst="roundRect">
            <a:avLst>
              <a:gd name="adj" fmla="val 16340"/>
            </a:avLst>
          </a:prstGeom>
          <a:solidFill>
            <a:srgbClr val="252525"/>
          </a:solidFill>
          <a:ln/>
        </p:spPr>
      </p:sp>
      <p:sp>
        <p:nvSpPr>
          <p:cNvPr id="33" name="Text 31"/>
          <p:cNvSpPr/>
          <p:nvPr/>
        </p:nvSpPr>
        <p:spPr>
          <a:xfrm>
            <a:off x="5143426" y="3851895"/>
            <a:ext cx="181411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Accuracy</a:t>
            </a:r>
            <a:endParaRPr lang="en-US" sz="1370" dirty="0"/>
          </a:p>
        </p:txBody>
      </p:sp>
      <p:sp>
        <p:nvSpPr>
          <p:cNvPr id="34" name="Text 32"/>
          <p:cNvSpPr/>
          <p:nvPr/>
        </p:nvSpPr>
        <p:spPr>
          <a:xfrm>
            <a:off x="7285806" y="3860304"/>
            <a:ext cx="128417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F1 + accuracy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0" y="5118757"/>
            <a:ext cx="9144000" cy="23812"/>
          </a:xfrm>
          <a:prstGeom prst="rect">
            <a:avLst/>
          </a:prstGeom>
          <a:solidFill>
            <a:srgbClr val="1DA462"/>
          </a:solidFill>
          <a:ln/>
        </p:spPr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079376"/>
            <a:ext cx="4000500" cy="1990725"/>
          </a:xfrm>
          <a:prstGeom prst="rect">
            <a:avLst/>
          </a:prstGeom>
        </p:spPr>
      </p:pic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3171379"/>
            <a:ext cx="4000500" cy="14001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FFE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10443"/>
            <a:ext cx="1719984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790" b="1" spc="174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BLINKIT CAPSTONE</a:t>
            </a:r>
            <a:endParaRPr lang="en-US" sz="790" dirty="0"/>
          </a:p>
        </p:txBody>
      </p:sp>
      <p:sp>
        <p:nvSpPr>
          <p:cNvPr id="5" name="Text 3"/>
          <p:cNvSpPr/>
          <p:nvPr/>
        </p:nvSpPr>
        <p:spPr>
          <a:xfrm>
            <a:off x="457200" y="340519"/>
            <a:ext cx="7666583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Deliverables &amp; Success Criteria</a:t>
            </a:r>
            <a:endParaRPr lang="en-US" sz="2880" dirty="0"/>
          </a:p>
        </p:txBody>
      </p:sp>
      <p:sp>
        <p:nvSpPr>
          <p:cNvPr id="6" name="Shape 4"/>
          <p:cNvSpPr/>
          <p:nvPr/>
        </p:nvSpPr>
        <p:spPr>
          <a:xfrm>
            <a:off x="457200" y="1080157"/>
            <a:ext cx="4000500" cy="3857625"/>
          </a:xfrm>
          <a:prstGeom prst="roundRect">
            <a:avLst>
              <a:gd name="adj" fmla="val 2844"/>
            </a:avLst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39143"/>
            <a:ext cx="243584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013"/>
              </a:spcAft>
              <a:buNone/>
            </a:pPr>
            <a:r>
              <a:rPr lang="en-US" sz="940" b="1" spc="140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EXPECTED DELIVERABLES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685800" y="1542343"/>
            <a:ext cx="3543300" cy="457200"/>
          </a:xfrm>
          <a:prstGeom prst="roundRect">
            <a:avLst>
              <a:gd name="adj" fmla="val 16000"/>
            </a:avLst>
          </a:prstGeom>
          <a:solidFill>
            <a:srgbClr val="252525"/>
          </a:solidFill>
          <a:ln/>
        </p:spPr>
      </p:sp>
      <p:sp>
        <p:nvSpPr>
          <p:cNvPr id="9" name="Text 7"/>
          <p:cNvSpPr/>
          <p:nvPr/>
        </p:nvSpPr>
        <p:spPr>
          <a:xfrm>
            <a:off x="901973" y="1652215"/>
            <a:ext cx="28051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13408" y="1657573"/>
            <a:ext cx="340874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scripts and query results</a:t>
            </a:r>
            <a:endParaRPr lang="en-US" sz="1440" dirty="0"/>
          </a:p>
        </p:txBody>
      </p:sp>
      <p:sp>
        <p:nvSpPr>
          <p:cNvPr id="11" name="Shape 9"/>
          <p:cNvSpPr/>
          <p:nvPr/>
        </p:nvSpPr>
        <p:spPr>
          <a:xfrm>
            <a:off x="685800" y="2114029"/>
            <a:ext cx="3543300" cy="733425"/>
          </a:xfrm>
          <a:prstGeom prst="roundRect">
            <a:avLst>
              <a:gd name="adj" fmla="val 9974"/>
            </a:avLst>
          </a:prstGeom>
          <a:solidFill>
            <a:srgbClr val="252525"/>
          </a:solidFill>
          <a:ln/>
        </p:spPr>
      </p:sp>
      <p:sp>
        <p:nvSpPr>
          <p:cNvPr id="12" name="Text 10"/>
          <p:cNvSpPr/>
          <p:nvPr/>
        </p:nvSpPr>
        <p:spPr>
          <a:xfrm>
            <a:off x="901973" y="2362051"/>
            <a:ext cx="3194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13408" y="2230189"/>
            <a:ext cx="3135362" cy="493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Trained ML model (Logistic</a:t>
            </a:r>
            <a:endParaRPr lang="en-US" sz="144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Regression, RF, XGBoost)</a:t>
            </a:r>
            <a:endParaRPr lang="en-US" sz="1440" dirty="0"/>
          </a:p>
        </p:txBody>
      </p:sp>
      <p:sp>
        <p:nvSpPr>
          <p:cNvPr id="14" name="Shape 12"/>
          <p:cNvSpPr/>
          <p:nvPr/>
        </p:nvSpPr>
        <p:spPr>
          <a:xfrm>
            <a:off x="685800" y="2961940"/>
            <a:ext cx="3543300" cy="457200"/>
          </a:xfrm>
          <a:prstGeom prst="roundRect">
            <a:avLst>
              <a:gd name="adj" fmla="val 16000"/>
            </a:avLst>
          </a:prstGeom>
          <a:solidFill>
            <a:srgbClr val="252525"/>
          </a:solidFill>
          <a:ln/>
        </p:spPr>
      </p:sp>
      <p:sp>
        <p:nvSpPr>
          <p:cNvPr id="15" name="Text 13"/>
          <p:cNvSpPr/>
          <p:nvPr/>
        </p:nvSpPr>
        <p:spPr>
          <a:xfrm>
            <a:off x="901973" y="3071813"/>
            <a:ext cx="32821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13408" y="3077170"/>
            <a:ext cx="3499775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Tableau dashboard</a:t>
            </a:r>
            <a:endParaRPr lang="en-US" sz="1440" dirty="0"/>
          </a:p>
        </p:txBody>
      </p:sp>
      <p:sp>
        <p:nvSpPr>
          <p:cNvPr id="17" name="Shape 15"/>
          <p:cNvSpPr/>
          <p:nvPr/>
        </p:nvSpPr>
        <p:spPr>
          <a:xfrm>
            <a:off x="685800" y="3533626"/>
            <a:ext cx="3543300" cy="733425"/>
          </a:xfrm>
          <a:prstGeom prst="roundRect">
            <a:avLst>
              <a:gd name="adj" fmla="val 9974"/>
            </a:avLst>
          </a:prstGeom>
          <a:solidFill>
            <a:srgbClr val="252525"/>
          </a:solidFill>
          <a:ln/>
        </p:spPr>
      </p:sp>
      <p:sp>
        <p:nvSpPr>
          <p:cNvPr id="18" name="Text 16"/>
          <p:cNvSpPr/>
          <p:nvPr/>
        </p:nvSpPr>
        <p:spPr>
          <a:xfrm>
            <a:off x="901973" y="3781648"/>
            <a:ext cx="34552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13408" y="3649787"/>
            <a:ext cx="3126656" cy="493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Capstone presentation and</a:t>
            </a:r>
            <a:endParaRPr lang="en-US" sz="144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video</a:t>
            </a:r>
            <a:endParaRPr lang="en-US" sz="1440" dirty="0"/>
          </a:p>
        </p:txBody>
      </p:sp>
      <p:sp>
        <p:nvSpPr>
          <p:cNvPr id="20" name="Shape 18"/>
          <p:cNvSpPr/>
          <p:nvPr/>
        </p:nvSpPr>
        <p:spPr>
          <a:xfrm>
            <a:off x="4686300" y="1080157"/>
            <a:ext cx="4000500" cy="3857625"/>
          </a:xfrm>
          <a:prstGeom prst="roundRect">
            <a:avLst>
              <a:gd name="adj" fmla="val 2844"/>
            </a:avLst>
          </a:prstGeom>
          <a:solidFill>
            <a:srgbClr val="1A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4914900" y="1239143"/>
            <a:ext cx="187283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013"/>
              </a:spcAft>
              <a:buNone/>
            </a:pPr>
            <a:r>
              <a:rPr lang="en-US" sz="940" b="1" spc="140" kern="0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SUCCESS CRITERIA</a:t>
            </a:r>
            <a:endParaRPr lang="en-US" sz="940" dirty="0"/>
          </a:p>
        </p:txBody>
      </p:sp>
      <p:sp>
        <p:nvSpPr>
          <p:cNvPr id="22" name="Text 20"/>
          <p:cNvSpPr/>
          <p:nvPr/>
        </p:nvSpPr>
        <p:spPr>
          <a:xfrm>
            <a:off x="4914900" y="1535311"/>
            <a:ext cx="276262" cy="280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580" dirty="0"/>
          </a:p>
        </p:txBody>
      </p:sp>
      <p:sp>
        <p:nvSpPr>
          <p:cNvPr id="23" name="Text 21"/>
          <p:cNvSpPr/>
          <p:nvPr/>
        </p:nvSpPr>
        <p:spPr>
          <a:xfrm>
            <a:off x="5193134" y="1555477"/>
            <a:ext cx="3333192" cy="475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Answers all defined business</a:t>
            </a:r>
            <a:endParaRPr lang="en-US" sz="1440" dirty="0"/>
          </a:p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 with evidence</a:t>
            </a:r>
            <a:endParaRPr lang="en-US" sz="1440" dirty="0"/>
          </a:p>
        </p:txBody>
      </p:sp>
      <p:sp>
        <p:nvSpPr>
          <p:cNvPr id="24" name="Text 22"/>
          <p:cNvSpPr/>
          <p:nvPr/>
        </p:nvSpPr>
        <p:spPr>
          <a:xfrm>
            <a:off x="4914900" y="2160538"/>
            <a:ext cx="276262" cy="280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580" dirty="0"/>
          </a:p>
        </p:txBody>
      </p:sp>
      <p:sp>
        <p:nvSpPr>
          <p:cNvPr id="25" name="Text 23"/>
          <p:cNvSpPr/>
          <p:nvPr/>
        </p:nvSpPr>
        <p:spPr>
          <a:xfrm>
            <a:off x="5193134" y="2180704"/>
            <a:ext cx="4145793" cy="475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Reproducible analytics pipeline from</a:t>
            </a:r>
            <a:endParaRPr lang="en-US" sz="1440" dirty="0"/>
          </a:p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data to insights</a:t>
            </a:r>
            <a:endParaRPr lang="en-US" sz="1440" dirty="0"/>
          </a:p>
        </p:txBody>
      </p:sp>
      <p:sp>
        <p:nvSpPr>
          <p:cNvPr id="26" name="Text 24"/>
          <p:cNvSpPr/>
          <p:nvPr/>
        </p:nvSpPr>
        <p:spPr>
          <a:xfrm>
            <a:off x="4914900" y="2785765"/>
            <a:ext cx="276262" cy="280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580" dirty="0"/>
          </a:p>
        </p:txBody>
      </p:sp>
      <p:sp>
        <p:nvSpPr>
          <p:cNvPr id="27" name="Text 25"/>
          <p:cNvSpPr/>
          <p:nvPr/>
        </p:nvSpPr>
        <p:spPr>
          <a:xfrm>
            <a:off x="5193134" y="2805931"/>
            <a:ext cx="4153339" cy="475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Well-evaluated ML model (accuracy,</a:t>
            </a:r>
            <a:endParaRPr lang="en-US" sz="1440" dirty="0"/>
          </a:p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precision, recall, F1)</a:t>
            </a:r>
            <a:endParaRPr lang="en-US" sz="1440" dirty="0"/>
          </a:p>
        </p:txBody>
      </p:sp>
      <p:sp>
        <p:nvSpPr>
          <p:cNvPr id="28" name="Text 26"/>
          <p:cNvSpPr/>
          <p:nvPr/>
        </p:nvSpPr>
        <p:spPr>
          <a:xfrm>
            <a:off x="4914900" y="3410992"/>
            <a:ext cx="276262" cy="280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580" dirty="0"/>
          </a:p>
        </p:txBody>
      </p:sp>
      <p:sp>
        <p:nvSpPr>
          <p:cNvPr id="29" name="Text 27"/>
          <p:cNvSpPr/>
          <p:nvPr/>
        </p:nvSpPr>
        <p:spPr>
          <a:xfrm>
            <a:off x="5193134" y="3431158"/>
            <a:ext cx="3060100" cy="475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Executive-friendly Tableau</a:t>
            </a:r>
            <a:endParaRPr lang="en-US" sz="1440" dirty="0"/>
          </a:p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</a:t>
            </a:r>
            <a:endParaRPr lang="en-US" sz="1440" dirty="0"/>
          </a:p>
        </p:txBody>
      </p:sp>
      <p:sp>
        <p:nvSpPr>
          <p:cNvPr id="30" name="Text 28"/>
          <p:cNvSpPr/>
          <p:nvPr/>
        </p:nvSpPr>
        <p:spPr>
          <a:xfrm>
            <a:off x="4914900" y="4036219"/>
            <a:ext cx="276262" cy="280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580" dirty="0"/>
          </a:p>
        </p:txBody>
      </p:sp>
      <p:sp>
        <p:nvSpPr>
          <p:cNvPr id="31" name="Text 29"/>
          <p:cNvSpPr/>
          <p:nvPr/>
        </p:nvSpPr>
        <p:spPr>
          <a:xfrm>
            <a:off x="5193134" y="4056385"/>
            <a:ext cx="4196484" cy="475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Actionable business</a:t>
            </a:r>
            <a:endParaRPr lang="en-US" sz="1440" dirty="0"/>
          </a:p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recommendations supported by data</a:t>
            </a:r>
            <a:endParaRPr lang="en-US" sz="1440" dirty="0"/>
          </a:p>
        </p:txBody>
      </p:sp>
      <p:sp>
        <p:nvSpPr>
          <p:cNvPr id="32" name="Shape 30"/>
          <p:cNvSpPr/>
          <p:nvPr/>
        </p:nvSpPr>
        <p:spPr>
          <a:xfrm>
            <a:off x="0" y="5118757"/>
            <a:ext cx="9144000" cy="23812"/>
          </a:xfrm>
          <a:prstGeom prst="rect">
            <a:avLst/>
          </a:prstGeom>
          <a:solidFill>
            <a:srgbClr val="1DA462"/>
          </a:solidFill>
          <a:ln/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800" y="1542343"/>
            <a:ext cx="3543300" cy="457200"/>
          </a:xfrm>
          <a:prstGeom prst="rect">
            <a:avLst/>
          </a:prstGeom>
        </p:spPr>
      </p:pic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800" y="2114029"/>
            <a:ext cx="3543300" cy="733425"/>
          </a:xfrm>
          <a:prstGeom prst="rect">
            <a:avLst/>
          </a:prstGeom>
        </p:spPr>
      </p:pic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5800" y="2961940"/>
            <a:ext cx="3543300" cy="457200"/>
          </a:xfrm>
          <a:prstGeom prst="rect">
            <a:avLst/>
          </a:prstGeom>
        </p:spPr>
      </p:pic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5800" y="3533626"/>
            <a:ext cx="3543300" cy="7334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FFE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10443"/>
            <a:ext cx="1719984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790" b="1" spc="174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BLINKIT CAPSTONE</a:t>
            </a:r>
            <a:endParaRPr lang="en-US" sz="790" dirty="0"/>
          </a:p>
        </p:txBody>
      </p:sp>
      <p:sp>
        <p:nvSpPr>
          <p:cNvPr id="5" name="Text 3"/>
          <p:cNvSpPr/>
          <p:nvPr/>
        </p:nvSpPr>
        <p:spPr>
          <a:xfrm>
            <a:off x="457200" y="340519"/>
            <a:ext cx="4403891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Dataset Overview</a:t>
            </a:r>
            <a:endParaRPr lang="en-US" sz="2880" dirty="0"/>
          </a:p>
        </p:txBody>
      </p:sp>
      <p:sp>
        <p:nvSpPr>
          <p:cNvPr id="6" name="Shape 4"/>
          <p:cNvSpPr/>
          <p:nvPr/>
        </p:nvSpPr>
        <p:spPr>
          <a:xfrm>
            <a:off x="456865" y="1079785"/>
            <a:ext cx="2809875" cy="1362075"/>
          </a:xfrm>
          <a:prstGeom prst="roundRect">
            <a:avLst>
              <a:gd name="adj" fmla="val 8056"/>
            </a:avLst>
          </a:prstGeom>
          <a:solidFill>
            <a:srgbClr val="1C1C1C"/>
          </a:solidFill>
          <a:ln/>
        </p:spPr>
      </p:sp>
      <p:sp>
        <p:nvSpPr>
          <p:cNvPr id="7" name="Text 5"/>
          <p:cNvSpPr/>
          <p:nvPr/>
        </p:nvSpPr>
        <p:spPr>
          <a:xfrm>
            <a:off x="244930" y="1141065"/>
            <a:ext cx="3233745" cy="957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607"/>
              </a:spcAft>
              <a:buNone/>
            </a:pPr>
            <a:r>
              <a:rPr lang="en-US" sz="540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54,499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926656" y="2061121"/>
            <a:ext cx="1870219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50" spc="115" kern="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RECORDS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95154" y="1079785"/>
            <a:ext cx="2481263" cy="1362075"/>
          </a:xfrm>
          <a:prstGeom prst="roundRect">
            <a:avLst>
              <a:gd name="adj" fmla="val 8056"/>
            </a:avLst>
          </a:prstGeom>
          <a:solidFill>
            <a:srgbClr val="1C1C1C"/>
          </a:solidFill>
          <a:ln/>
        </p:spPr>
      </p:sp>
      <p:sp>
        <p:nvSpPr>
          <p:cNvPr id="10" name="Text 8"/>
          <p:cNvSpPr/>
          <p:nvPr/>
        </p:nvSpPr>
        <p:spPr>
          <a:xfrm>
            <a:off x="4262709" y="1141065"/>
            <a:ext cx="946078" cy="957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607"/>
              </a:spcAft>
              <a:buNone/>
            </a:pPr>
            <a:r>
              <a:rPr lang="en-US" sz="540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4145645" y="2061121"/>
            <a:ext cx="1180281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50" spc="115" kern="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05351" y="1079785"/>
            <a:ext cx="2481263" cy="1362075"/>
          </a:xfrm>
          <a:prstGeom prst="roundRect">
            <a:avLst>
              <a:gd name="adj" fmla="val 8056"/>
            </a:avLst>
          </a:prstGeom>
          <a:solidFill>
            <a:srgbClr val="1C1C1C"/>
          </a:solidFill>
          <a:ln/>
        </p:spPr>
      </p:sp>
      <p:sp>
        <p:nvSpPr>
          <p:cNvPr id="13" name="Text 11"/>
          <p:cNvSpPr/>
          <p:nvPr/>
        </p:nvSpPr>
        <p:spPr>
          <a:xfrm>
            <a:off x="7244875" y="1141065"/>
            <a:ext cx="402215" cy="957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607"/>
              </a:spcAft>
              <a:buNone/>
            </a:pPr>
            <a:r>
              <a:rPr lang="en-US" sz="540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6419418" y="2061121"/>
            <a:ext cx="2053054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50" spc="115" kern="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VARIABLE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620938"/>
            <a:ext cx="8229600" cy="971550"/>
          </a:xfrm>
          <a:prstGeom prst="roundRect">
            <a:avLst>
              <a:gd name="adj" fmla="val 11294"/>
            </a:avLst>
          </a:prstGeom>
          <a:solidFill>
            <a:srgbClr val="1A1A1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490" y="2819251"/>
            <a:ext cx="1526895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790" spc="119" kern="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VARIABLE</a:t>
            </a:r>
            <a:endParaRPr lang="en-US" sz="790" dirty="0"/>
          </a:p>
        </p:txBody>
      </p:sp>
      <p:sp>
        <p:nvSpPr>
          <p:cNvPr id="17" name="Text 15"/>
          <p:cNvSpPr/>
          <p:nvPr/>
        </p:nvSpPr>
        <p:spPr>
          <a:xfrm>
            <a:off x="731490" y="3011239"/>
            <a:ext cx="2665214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Late_Delivery</a:t>
            </a:r>
            <a:endParaRPr lang="en-US" sz="2160" dirty="0"/>
          </a:p>
        </p:txBody>
      </p:sp>
      <p:sp>
        <p:nvSpPr>
          <p:cNvPr id="18" name="Shape 16"/>
          <p:cNvSpPr/>
          <p:nvPr/>
        </p:nvSpPr>
        <p:spPr>
          <a:xfrm>
            <a:off x="3012653" y="2901888"/>
            <a:ext cx="4763" cy="409575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9" name="Text 17"/>
          <p:cNvSpPr/>
          <p:nvPr/>
        </p:nvSpPr>
        <p:spPr>
          <a:xfrm>
            <a:off x="3292376" y="2764408"/>
            <a:ext cx="2020066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790" spc="119" kern="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FEATURES INCLUDE</a:t>
            </a:r>
            <a:endParaRPr lang="en-US" sz="790" dirty="0"/>
          </a:p>
        </p:txBody>
      </p:sp>
      <p:sp>
        <p:nvSpPr>
          <p:cNvPr id="20" name="Text 18"/>
          <p:cNvSpPr/>
          <p:nvPr/>
        </p:nvSpPr>
        <p:spPr>
          <a:xfrm>
            <a:off x="3292376" y="2965921"/>
            <a:ext cx="6476993" cy="47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City, Product Category, Delivery Distance, Payment Method,</a:t>
            </a:r>
            <a:endParaRPr lang="en-US" sz="1370" dirty="0"/>
          </a:p>
          <a:p>
            <a:pPr algn="l" indent="0" marL="0">
              <a:lnSpc>
                <a:spcPts val="2052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Rating, Delivery Time</a:t>
            </a:r>
            <a:endParaRPr lang="en-US" sz="1370" dirty="0"/>
          </a:p>
        </p:txBody>
      </p:sp>
      <p:sp>
        <p:nvSpPr>
          <p:cNvPr id="21" name="Shape 19"/>
          <p:cNvSpPr/>
          <p:nvPr/>
        </p:nvSpPr>
        <p:spPr>
          <a:xfrm>
            <a:off x="0" y="5118757"/>
            <a:ext cx="9144000" cy="23812"/>
          </a:xfrm>
          <a:prstGeom prst="rect">
            <a:avLst/>
          </a:prstGeom>
          <a:solidFill>
            <a:srgbClr val="1DA462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6865" y="1079785"/>
            <a:ext cx="2809875" cy="1362075"/>
          </a:xfrm>
          <a:prstGeom prst="rect">
            <a:avLst/>
          </a:prstGeom>
        </p:spPr>
      </p:pic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95154" y="1079785"/>
            <a:ext cx="2481263" cy="1362075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05351" y="1079785"/>
            <a:ext cx="2481263" cy="13620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FFE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10443"/>
            <a:ext cx="1719984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790" b="1" spc="174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BLINKIT CAPSTONE</a:t>
            </a:r>
            <a:endParaRPr lang="en-US" sz="790" dirty="0"/>
          </a:p>
        </p:txBody>
      </p:sp>
      <p:sp>
        <p:nvSpPr>
          <p:cNvPr id="5" name="Text 3"/>
          <p:cNvSpPr/>
          <p:nvPr/>
        </p:nvSpPr>
        <p:spPr>
          <a:xfrm>
            <a:off x="457200" y="340519"/>
            <a:ext cx="5200337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Tools &amp; Technologies</a:t>
            </a:r>
            <a:endParaRPr lang="en-US" sz="2880" dirty="0"/>
          </a:p>
        </p:txBody>
      </p:sp>
      <p:sp>
        <p:nvSpPr>
          <p:cNvPr id="6" name="Shape 4"/>
          <p:cNvSpPr/>
          <p:nvPr/>
        </p:nvSpPr>
        <p:spPr>
          <a:xfrm>
            <a:off x="456233" y="1081274"/>
            <a:ext cx="3933825" cy="457200"/>
          </a:xfrm>
          <a:prstGeom prst="roundRect">
            <a:avLst>
              <a:gd name="adj" fmla="val 16000"/>
            </a:avLst>
          </a:prstGeom>
          <a:solidFill>
            <a:srgbClr val="1C1C1C"/>
          </a:solidFill>
          <a:ln/>
        </p:spPr>
      </p:sp>
      <p:sp>
        <p:nvSpPr>
          <p:cNvPr id="7" name="Text 5"/>
          <p:cNvSpPr/>
          <p:nvPr/>
        </p:nvSpPr>
        <p:spPr>
          <a:xfrm>
            <a:off x="640035" y="1241822"/>
            <a:ext cx="128959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spc="69" kern="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PROGRAMMING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1920106" y="1182216"/>
            <a:ext cx="924022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Python</a:t>
            </a:r>
            <a:endParaRPr lang="en-US" sz="1440" dirty="0"/>
          </a:p>
        </p:txBody>
      </p:sp>
      <p:sp>
        <p:nvSpPr>
          <p:cNvPr id="9" name="Shape 7"/>
          <p:cNvSpPr/>
          <p:nvPr/>
        </p:nvSpPr>
        <p:spPr>
          <a:xfrm>
            <a:off x="456233" y="1623008"/>
            <a:ext cx="3933825" cy="457200"/>
          </a:xfrm>
          <a:prstGeom prst="roundRect">
            <a:avLst>
              <a:gd name="adj" fmla="val 16000"/>
            </a:avLst>
          </a:prstGeom>
          <a:solidFill>
            <a:srgbClr val="1C1C1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35" y="1783556"/>
            <a:ext cx="88890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spc="69" kern="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860" dirty="0"/>
          </a:p>
        </p:txBody>
      </p:sp>
      <p:sp>
        <p:nvSpPr>
          <p:cNvPr id="11" name="Text 9"/>
          <p:cNvSpPr/>
          <p:nvPr/>
        </p:nvSpPr>
        <p:spPr>
          <a:xfrm>
            <a:off x="1920106" y="1723951"/>
            <a:ext cx="872460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MySQL</a:t>
            </a:r>
            <a:endParaRPr lang="en-US" sz="1440" dirty="0"/>
          </a:p>
        </p:txBody>
      </p:sp>
      <p:sp>
        <p:nvSpPr>
          <p:cNvPr id="12" name="Shape 10"/>
          <p:cNvSpPr/>
          <p:nvPr/>
        </p:nvSpPr>
        <p:spPr>
          <a:xfrm>
            <a:off x="456233" y="2164742"/>
            <a:ext cx="3933825" cy="457200"/>
          </a:xfrm>
          <a:prstGeom prst="roundRect">
            <a:avLst>
              <a:gd name="adj" fmla="val 16000"/>
            </a:avLst>
          </a:prstGeom>
          <a:solidFill>
            <a:srgbClr val="1C1C1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35" y="2325291"/>
            <a:ext cx="131755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spc="69" kern="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ANALYSIS</a:t>
            </a:r>
            <a:endParaRPr lang="en-US" sz="860" dirty="0"/>
          </a:p>
        </p:txBody>
      </p:sp>
      <p:sp>
        <p:nvSpPr>
          <p:cNvPr id="14" name="Text 12"/>
          <p:cNvSpPr/>
          <p:nvPr/>
        </p:nvSpPr>
        <p:spPr>
          <a:xfrm>
            <a:off x="1920106" y="2265685"/>
            <a:ext cx="1990271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Pandas, NumPy</a:t>
            </a:r>
            <a:endParaRPr lang="en-US" sz="1440" dirty="0"/>
          </a:p>
        </p:txBody>
      </p:sp>
      <p:sp>
        <p:nvSpPr>
          <p:cNvPr id="15" name="Shape 13"/>
          <p:cNvSpPr/>
          <p:nvPr/>
        </p:nvSpPr>
        <p:spPr>
          <a:xfrm>
            <a:off x="456233" y="2706477"/>
            <a:ext cx="3933825" cy="457200"/>
          </a:xfrm>
          <a:prstGeom prst="roundRect">
            <a:avLst>
              <a:gd name="adj" fmla="val 16000"/>
            </a:avLst>
          </a:prstGeom>
          <a:solidFill>
            <a:srgbClr val="1C1C1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35" y="2867025"/>
            <a:ext cx="129017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spc="69" kern="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VISUALIZATION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1920106" y="2807419"/>
            <a:ext cx="2461677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Matplotlib, Seaborn</a:t>
            </a:r>
            <a:endParaRPr lang="en-US" sz="1440" dirty="0"/>
          </a:p>
        </p:txBody>
      </p:sp>
      <p:sp>
        <p:nvSpPr>
          <p:cNvPr id="18" name="Shape 16"/>
          <p:cNvSpPr/>
          <p:nvPr/>
        </p:nvSpPr>
        <p:spPr>
          <a:xfrm>
            <a:off x="4753905" y="1081274"/>
            <a:ext cx="3933825" cy="457200"/>
          </a:xfrm>
          <a:prstGeom prst="roundRect">
            <a:avLst>
              <a:gd name="adj" fmla="val 16000"/>
            </a:avLst>
          </a:prstGeom>
          <a:solidFill>
            <a:srgbClr val="1C1C1C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671" y="1241822"/>
            <a:ext cx="105036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spc="69" kern="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6217741" y="1182216"/>
            <a:ext cx="1058585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Tableau</a:t>
            </a:r>
            <a:endParaRPr lang="en-US" sz="1440" dirty="0"/>
          </a:p>
        </p:txBody>
      </p:sp>
      <p:sp>
        <p:nvSpPr>
          <p:cNvPr id="21" name="Shape 19"/>
          <p:cNvSpPr/>
          <p:nvPr/>
        </p:nvSpPr>
        <p:spPr>
          <a:xfrm>
            <a:off x="4753905" y="1623008"/>
            <a:ext cx="3933825" cy="457200"/>
          </a:xfrm>
          <a:prstGeom prst="roundRect">
            <a:avLst>
              <a:gd name="adj" fmla="val 16000"/>
            </a:avLst>
          </a:prstGeom>
          <a:solidFill>
            <a:srgbClr val="1C1C1C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671" y="1783556"/>
            <a:ext cx="101466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spc="69" kern="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LIBRARY</a:t>
            </a:r>
            <a:endParaRPr lang="en-US" sz="860" dirty="0"/>
          </a:p>
        </p:txBody>
      </p:sp>
      <p:sp>
        <p:nvSpPr>
          <p:cNvPr id="23" name="Text 21"/>
          <p:cNvSpPr/>
          <p:nvPr/>
        </p:nvSpPr>
        <p:spPr>
          <a:xfrm>
            <a:off x="6217741" y="1723951"/>
            <a:ext cx="1508514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Scikit-learn</a:t>
            </a:r>
            <a:endParaRPr lang="en-US" sz="1440" dirty="0"/>
          </a:p>
        </p:txBody>
      </p:sp>
      <p:sp>
        <p:nvSpPr>
          <p:cNvPr id="24" name="Shape 22"/>
          <p:cNvSpPr/>
          <p:nvPr/>
        </p:nvSpPr>
        <p:spPr>
          <a:xfrm>
            <a:off x="4753905" y="2163589"/>
            <a:ext cx="3933825" cy="514350"/>
          </a:xfrm>
          <a:prstGeom prst="roundRect">
            <a:avLst>
              <a:gd name="adj" fmla="val 14222"/>
            </a:avLst>
          </a:prstGeom>
          <a:solidFill>
            <a:srgbClr val="1C1C1C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671" y="2270447"/>
            <a:ext cx="834249" cy="297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60" spc="69" kern="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</a:t>
            </a:r>
            <a:endParaRPr lang="en-US" sz="860" dirty="0"/>
          </a:p>
          <a:p>
            <a:pPr algn="l" indent="0" marL="0">
              <a:lnSpc>
                <a:spcPts val="1296"/>
              </a:lnSpc>
              <a:buNone/>
            </a:pPr>
            <a:r>
              <a:rPr lang="en-US" sz="860" spc="69" kern="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</a:t>
            </a:r>
            <a:endParaRPr lang="en-US" sz="860" dirty="0"/>
          </a:p>
        </p:txBody>
      </p:sp>
      <p:sp>
        <p:nvSpPr>
          <p:cNvPr id="26" name="Text 24"/>
          <p:cNvSpPr/>
          <p:nvPr/>
        </p:nvSpPr>
        <p:spPr>
          <a:xfrm>
            <a:off x="6217741" y="2293069"/>
            <a:ext cx="1538503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 &amp; GitHub</a:t>
            </a:r>
            <a:endParaRPr lang="en-US" sz="1440" dirty="0"/>
          </a:p>
        </p:txBody>
      </p:sp>
      <p:sp>
        <p:nvSpPr>
          <p:cNvPr id="27" name="Shape 25"/>
          <p:cNvSpPr/>
          <p:nvPr/>
        </p:nvSpPr>
        <p:spPr>
          <a:xfrm>
            <a:off x="4753905" y="2761320"/>
            <a:ext cx="3933825" cy="457200"/>
          </a:xfrm>
          <a:prstGeom prst="roundRect">
            <a:avLst>
              <a:gd name="adj" fmla="val 16000"/>
            </a:avLst>
          </a:prstGeom>
          <a:solidFill>
            <a:srgbClr val="1C1C1C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671" y="2921868"/>
            <a:ext cx="31921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spc="69" kern="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</a:t>
            </a:r>
            <a:endParaRPr lang="en-US" sz="860" dirty="0"/>
          </a:p>
        </p:txBody>
      </p:sp>
      <p:sp>
        <p:nvSpPr>
          <p:cNvPr id="29" name="Text 27"/>
          <p:cNvSpPr/>
          <p:nvPr/>
        </p:nvSpPr>
        <p:spPr>
          <a:xfrm>
            <a:off x="6217741" y="2862262"/>
            <a:ext cx="2229892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VS Code / Jupyter</a:t>
            </a:r>
            <a:endParaRPr lang="en-US" sz="1440" dirty="0"/>
          </a:p>
        </p:txBody>
      </p:sp>
      <p:sp>
        <p:nvSpPr>
          <p:cNvPr id="30" name="Shape 28"/>
          <p:cNvSpPr/>
          <p:nvPr/>
        </p:nvSpPr>
        <p:spPr>
          <a:xfrm>
            <a:off x="0" y="5118757"/>
            <a:ext cx="9144000" cy="23812"/>
          </a:xfrm>
          <a:prstGeom prst="rect">
            <a:avLst/>
          </a:prstGeom>
          <a:solidFill>
            <a:srgbClr val="1DA462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FFE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10443"/>
            <a:ext cx="1719984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790" b="1" spc="174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BLINKIT CAPSTONE</a:t>
            </a:r>
            <a:endParaRPr lang="en-US" sz="790" dirty="0"/>
          </a:p>
        </p:txBody>
      </p:sp>
      <p:sp>
        <p:nvSpPr>
          <p:cNvPr id="5" name="Text 3"/>
          <p:cNvSpPr/>
          <p:nvPr/>
        </p:nvSpPr>
        <p:spPr>
          <a:xfrm>
            <a:off x="457200" y="340519"/>
            <a:ext cx="4200934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Project Workflow</a:t>
            </a:r>
            <a:endParaRPr lang="en-US" sz="2880" dirty="0"/>
          </a:p>
        </p:txBody>
      </p:sp>
      <p:sp>
        <p:nvSpPr>
          <p:cNvPr id="6" name="Shape 4"/>
          <p:cNvSpPr/>
          <p:nvPr/>
        </p:nvSpPr>
        <p:spPr>
          <a:xfrm>
            <a:off x="457349" y="2007059"/>
            <a:ext cx="1776413" cy="676275"/>
          </a:xfrm>
          <a:prstGeom prst="roundRect">
            <a:avLst>
              <a:gd name="adj" fmla="val 10817"/>
            </a:avLst>
          </a:prstGeom>
          <a:solidFill>
            <a:srgbClr val="1C1C1C"/>
          </a:solidFill>
          <a:ln/>
        </p:spPr>
      </p:sp>
      <p:sp>
        <p:nvSpPr>
          <p:cNvPr id="7" name="Text 5"/>
          <p:cNvSpPr/>
          <p:nvPr/>
        </p:nvSpPr>
        <p:spPr>
          <a:xfrm>
            <a:off x="1092171" y="2129061"/>
            <a:ext cx="506693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243"/>
              </a:spcAft>
              <a:buNone/>
            </a:pPr>
            <a:r>
              <a:rPr lang="en-US" sz="790" b="1" spc="63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1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840254" y="2315542"/>
            <a:ext cx="1010602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Dataset</a:t>
            </a:r>
            <a:endParaRPr lang="en-US" sz="1440" dirty="0"/>
          </a:p>
        </p:txBody>
      </p:sp>
      <p:sp>
        <p:nvSpPr>
          <p:cNvPr id="9" name="Text 7"/>
          <p:cNvSpPr/>
          <p:nvPr/>
        </p:nvSpPr>
        <p:spPr>
          <a:xfrm>
            <a:off x="2325291" y="2183234"/>
            <a:ext cx="306154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608362" y="2007059"/>
            <a:ext cx="1776413" cy="676275"/>
          </a:xfrm>
          <a:prstGeom prst="roundRect">
            <a:avLst>
              <a:gd name="adj" fmla="val 10817"/>
            </a:avLst>
          </a:prstGeom>
          <a:solidFill>
            <a:srgbClr val="1C1C1C"/>
          </a:solidFill>
          <a:ln/>
        </p:spPr>
      </p:sp>
      <p:sp>
        <p:nvSpPr>
          <p:cNvPr id="11" name="Text 9"/>
          <p:cNvSpPr/>
          <p:nvPr/>
        </p:nvSpPr>
        <p:spPr>
          <a:xfrm>
            <a:off x="3230500" y="2129061"/>
            <a:ext cx="532135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243"/>
              </a:spcAft>
              <a:buNone/>
            </a:pPr>
            <a:r>
              <a:rPr lang="en-US" sz="790" b="1" spc="63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endParaRPr lang="en-US" sz="790" dirty="0"/>
          </a:p>
        </p:txBody>
      </p:sp>
      <p:sp>
        <p:nvSpPr>
          <p:cNvPr id="12" name="Text 10"/>
          <p:cNvSpPr/>
          <p:nvPr/>
        </p:nvSpPr>
        <p:spPr>
          <a:xfrm>
            <a:off x="2707448" y="2315542"/>
            <a:ext cx="1578166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SQL Analysis</a:t>
            </a:r>
            <a:endParaRPr lang="en-US" sz="1440" dirty="0"/>
          </a:p>
        </p:txBody>
      </p:sp>
      <p:sp>
        <p:nvSpPr>
          <p:cNvPr id="13" name="Text 11"/>
          <p:cNvSpPr/>
          <p:nvPr/>
        </p:nvSpPr>
        <p:spPr>
          <a:xfrm>
            <a:off x="4476304" y="2183234"/>
            <a:ext cx="306154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759375" y="2007059"/>
            <a:ext cx="1776413" cy="676275"/>
          </a:xfrm>
          <a:prstGeom prst="roundRect">
            <a:avLst>
              <a:gd name="adj" fmla="val 10817"/>
            </a:avLst>
          </a:prstGeom>
          <a:solidFill>
            <a:srgbClr val="1C1C1C"/>
          </a:solidFill>
          <a:ln/>
        </p:spPr>
      </p:sp>
      <p:sp>
        <p:nvSpPr>
          <p:cNvPr id="15" name="Text 13"/>
          <p:cNvSpPr/>
          <p:nvPr/>
        </p:nvSpPr>
        <p:spPr>
          <a:xfrm>
            <a:off x="5379288" y="2129061"/>
            <a:ext cx="536585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243"/>
              </a:spcAft>
              <a:buNone/>
            </a:pPr>
            <a:r>
              <a:rPr lang="en-US" sz="790" b="1" spc="63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endParaRPr lang="en-US" sz="790" dirty="0"/>
          </a:p>
        </p:txBody>
      </p:sp>
      <p:sp>
        <p:nvSpPr>
          <p:cNvPr id="16" name="Text 14"/>
          <p:cNvSpPr/>
          <p:nvPr/>
        </p:nvSpPr>
        <p:spPr>
          <a:xfrm>
            <a:off x="5070027" y="2315542"/>
            <a:ext cx="1155033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Cleaning</a:t>
            </a:r>
            <a:endParaRPr lang="en-US" sz="1440" dirty="0"/>
          </a:p>
        </p:txBody>
      </p:sp>
      <p:sp>
        <p:nvSpPr>
          <p:cNvPr id="17" name="Text 15"/>
          <p:cNvSpPr/>
          <p:nvPr/>
        </p:nvSpPr>
        <p:spPr>
          <a:xfrm>
            <a:off x="6627316" y="2183234"/>
            <a:ext cx="306154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910387" y="2007059"/>
            <a:ext cx="1776413" cy="676275"/>
          </a:xfrm>
          <a:prstGeom prst="roundRect">
            <a:avLst>
              <a:gd name="adj" fmla="val 10817"/>
            </a:avLst>
          </a:prstGeom>
          <a:solidFill>
            <a:srgbClr val="1C1C1C"/>
          </a:solidFill>
          <a:ln/>
        </p:spPr>
      </p:sp>
      <p:sp>
        <p:nvSpPr>
          <p:cNvPr id="19" name="Text 17"/>
          <p:cNvSpPr/>
          <p:nvPr/>
        </p:nvSpPr>
        <p:spPr>
          <a:xfrm>
            <a:off x="7525561" y="2129061"/>
            <a:ext cx="546065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243"/>
              </a:spcAft>
              <a:buNone/>
            </a:pPr>
            <a:r>
              <a:rPr lang="en-US" sz="790" b="1" spc="63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4</a:t>
            </a:r>
            <a:endParaRPr lang="en-US" sz="790" dirty="0"/>
          </a:p>
        </p:txBody>
      </p:sp>
      <p:sp>
        <p:nvSpPr>
          <p:cNvPr id="20" name="Text 18"/>
          <p:cNvSpPr/>
          <p:nvPr/>
        </p:nvSpPr>
        <p:spPr>
          <a:xfrm>
            <a:off x="7536407" y="2315542"/>
            <a:ext cx="524299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EDA</a:t>
            </a:r>
            <a:endParaRPr lang="en-US" sz="1440" dirty="0"/>
          </a:p>
        </p:txBody>
      </p:sp>
      <p:sp>
        <p:nvSpPr>
          <p:cNvPr id="21" name="Text 19"/>
          <p:cNvSpPr/>
          <p:nvPr/>
        </p:nvSpPr>
        <p:spPr>
          <a:xfrm>
            <a:off x="8495258" y="2847008"/>
            <a:ext cx="306154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↓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910239" y="3334531"/>
            <a:ext cx="1776413" cy="676275"/>
          </a:xfrm>
          <a:prstGeom prst="roundRect">
            <a:avLst>
              <a:gd name="adj" fmla="val 10817"/>
            </a:avLst>
          </a:prstGeom>
          <a:solidFill>
            <a:srgbClr val="1C1C1C"/>
          </a:solidFill>
          <a:ln/>
        </p:spPr>
      </p:sp>
      <p:sp>
        <p:nvSpPr>
          <p:cNvPr id="23" name="Text 21"/>
          <p:cNvSpPr/>
          <p:nvPr/>
        </p:nvSpPr>
        <p:spPr>
          <a:xfrm>
            <a:off x="7527165" y="3456533"/>
            <a:ext cx="542486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243"/>
              </a:spcAft>
              <a:buNone/>
            </a:pPr>
            <a:r>
              <a:rPr lang="en-US" sz="790" b="1" spc="63" kern="0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5</a:t>
            </a:r>
            <a:endParaRPr lang="en-US" sz="790" dirty="0"/>
          </a:p>
        </p:txBody>
      </p:sp>
      <p:sp>
        <p:nvSpPr>
          <p:cNvPr id="24" name="Text 22"/>
          <p:cNvSpPr/>
          <p:nvPr/>
        </p:nvSpPr>
        <p:spPr>
          <a:xfrm>
            <a:off x="7025383" y="3643015"/>
            <a:ext cx="1546049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Feature Eng.</a:t>
            </a:r>
            <a:endParaRPr lang="en-US" sz="1440" dirty="0"/>
          </a:p>
        </p:txBody>
      </p:sp>
      <p:sp>
        <p:nvSpPr>
          <p:cNvPr id="25" name="Text 23"/>
          <p:cNvSpPr/>
          <p:nvPr/>
        </p:nvSpPr>
        <p:spPr>
          <a:xfrm>
            <a:off x="6627168" y="3510707"/>
            <a:ext cx="306154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←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759226" y="3334531"/>
            <a:ext cx="1776413" cy="676275"/>
          </a:xfrm>
          <a:prstGeom prst="roundRect">
            <a:avLst>
              <a:gd name="adj" fmla="val 10817"/>
            </a:avLst>
          </a:prstGeom>
          <a:solidFill>
            <a:srgbClr val="1C1C1C"/>
          </a:solidFill>
          <a:ln/>
        </p:spPr>
      </p:sp>
      <p:sp>
        <p:nvSpPr>
          <p:cNvPr id="27" name="Text 25"/>
          <p:cNvSpPr/>
          <p:nvPr/>
        </p:nvSpPr>
        <p:spPr>
          <a:xfrm>
            <a:off x="5377011" y="3456533"/>
            <a:ext cx="540841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243"/>
              </a:spcAft>
              <a:buNone/>
            </a:pPr>
            <a:r>
              <a:rPr lang="en-US" sz="790" b="1" spc="63" kern="0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6</a:t>
            </a:r>
            <a:endParaRPr lang="en-US" sz="790" dirty="0"/>
          </a:p>
        </p:txBody>
      </p:sp>
      <p:sp>
        <p:nvSpPr>
          <p:cNvPr id="28" name="Text 26"/>
          <p:cNvSpPr/>
          <p:nvPr/>
        </p:nvSpPr>
        <p:spPr>
          <a:xfrm>
            <a:off x="4994798" y="3643015"/>
            <a:ext cx="1305267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ML Models</a:t>
            </a:r>
            <a:endParaRPr lang="en-US" sz="1440" dirty="0"/>
          </a:p>
        </p:txBody>
      </p:sp>
      <p:sp>
        <p:nvSpPr>
          <p:cNvPr id="29" name="Text 27"/>
          <p:cNvSpPr/>
          <p:nvPr/>
        </p:nvSpPr>
        <p:spPr>
          <a:xfrm>
            <a:off x="4476155" y="3510707"/>
            <a:ext cx="306154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←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2608213" y="3334531"/>
            <a:ext cx="1776413" cy="676275"/>
          </a:xfrm>
          <a:prstGeom prst="roundRect">
            <a:avLst>
              <a:gd name="adj" fmla="val 10817"/>
            </a:avLst>
          </a:prstGeom>
          <a:solidFill>
            <a:srgbClr val="1C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3232673" y="3456533"/>
            <a:ext cx="527492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243"/>
              </a:spcAft>
              <a:buNone/>
            </a:pPr>
            <a:r>
              <a:rPr lang="en-US" sz="790" b="1" spc="63" kern="0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7</a:t>
            </a:r>
            <a:endParaRPr lang="en-US" sz="790" dirty="0"/>
          </a:p>
        </p:txBody>
      </p:sp>
      <p:sp>
        <p:nvSpPr>
          <p:cNvPr id="32" name="Text 30"/>
          <p:cNvSpPr/>
          <p:nvPr/>
        </p:nvSpPr>
        <p:spPr>
          <a:xfrm>
            <a:off x="2714833" y="3643015"/>
            <a:ext cx="1563172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Comparison</a:t>
            </a:r>
            <a:endParaRPr lang="en-US" sz="1440" dirty="0"/>
          </a:p>
        </p:txBody>
      </p:sp>
      <p:sp>
        <p:nvSpPr>
          <p:cNvPr id="33" name="Text 31"/>
          <p:cNvSpPr/>
          <p:nvPr/>
        </p:nvSpPr>
        <p:spPr>
          <a:xfrm>
            <a:off x="2325142" y="3510707"/>
            <a:ext cx="306154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←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457200" y="3334531"/>
            <a:ext cx="1776413" cy="676275"/>
          </a:xfrm>
          <a:prstGeom prst="roundRect">
            <a:avLst>
              <a:gd name="adj" fmla="val 10817"/>
            </a:avLst>
          </a:prstGeom>
          <a:solidFill>
            <a:srgbClr val="1C1C1C"/>
          </a:solidFill>
          <a:ln/>
        </p:spPr>
      </p:sp>
      <p:sp>
        <p:nvSpPr>
          <p:cNvPr id="35" name="Text 33"/>
          <p:cNvSpPr/>
          <p:nvPr/>
        </p:nvSpPr>
        <p:spPr>
          <a:xfrm>
            <a:off x="1074308" y="3456533"/>
            <a:ext cx="542196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243"/>
              </a:spcAft>
              <a:buNone/>
            </a:pPr>
            <a:r>
              <a:rPr lang="en-US" sz="790" b="1" spc="63" kern="0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8</a:t>
            </a:r>
            <a:endParaRPr lang="en-US" sz="790" dirty="0"/>
          </a:p>
        </p:txBody>
      </p:sp>
      <p:sp>
        <p:nvSpPr>
          <p:cNvPr id="36" name="Text 34"/>
          <p:cNvSpPr/>
          <p:nvPr/>
        </p:nvSpPr>
        <p:spPr>
          <a:xfrm>
            <a:off x="642093" y="3643015"/>
            <a:ext cx="1406552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</a:t>
            </a:r>
            <a:endParaRPr lang="en-US" sz="1440" dirty="0"/>
          </a:p>
        </p:txBody>
      </p:sp>
      <p:sp>
        <p:nvSpPr>
          <p:cNvPr id="37" name="Shape 35"/>
          <p:cNvSpPr/>
          <p:nvPr/>
        </p:nvSpPr>
        <p:spPr>
          <a:xfrm>
            <a:off x="0" y="5118757"/>
            <a:ext cx="9144000" cy="23812"/>
          </a:xfrm>
          <a:prstGeom prst="rect">
            <a:avLst/>
          </a:prstGeom>
          <a:solidFill>
            <a:srgbClr val="1DA462"/>
          </a:solidFill>
          <a:ln/>
        </p:spPr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349" y="2007059"/>
            <a:ext cx="1776413" cy="676275"/>
          </a:xfrm>
          <a:prstGeom prst="rect">
            <a:avLst/>
          </a:prstGeom>
        </p:spPr>
      </p:pic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08362" y="2007059"/>
            <a:ext cx="1776413" cy="676275"/>
          </a:xfrm>
          <a:prstGeom prst="rect">
            <a:avLst/>
          </a:prstGeom>
        </p:spPr>
      </p:pic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59375" y="2007059"/>
            <a:ext cx="1776413" cy="676275"/>
          </a:xfrm>
          <a:prstGeom prst="rect">
            <a:avLst/>
          </a:prstGeom>
        </p:spPr>
      </p:pic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10387" y="2007059"/>
            <a:ext cx="1776413" cy="676275"/>
          </a:xfrm>
          <a:prstGeom prst="rect">
            <a:avLst/>
          </a:prstGeom>
        </p:spPr>
      </p:pic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10239" y="3334531"/>
            <a:ext cx="1776413" cy="676275"/>
          </a:xfrm>
          <a:prstGeom prst="rect">
            <a:avLst/>
          </a:prstGeom>
        </p:spPr>
      </p:pic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59226" y="3334531"/>
            <a:ext cx="1776413" cy="676275"/>
          </a:xfrm>
          <a:prstGeom prst="rect">
            <a:avLst/>
          </a:prstGeom>
        </p:spPr>
      </p:pic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608213" y="3334531"/>
            <a:ext cx="1776413" cy="676275"/>
          </a:xfrm>
          <a:prstGeom prst="rect">
            <a:avLst/>
          </a:prstGeom>
        </p:spPr>
      </p:pic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57200" y="3334531"/>
            <a:ext cx="1776413" cy="6762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FFE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10443"/>
            <a:ext cx="1719984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790" b="1" spc="174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BLINKIT CAPSTONE</a:t>
            </a:r>
            <a:endParaRPr lang="en-US" sz="790" dirty="0"/>
          </a:p>
        </p:txBody>
      </p:sp>
      <p:sp>
        <p:nvSpPr>
          <p:cNvPr id="5" name="Text 3"/>
          <p:cNvSpPr/>
          <p:nvPr/>
        </p:nvSpPr>
        <p:spPr>
          <a:xfrm>
            <a:off x="457200" y="340519"/>
            <a:ext cx="3157225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SQL Analysis</a:t>
            </a:r>
            <a:endParaRPr lang="en-US" sz="2880" dirty="0"/>
          </a:p>
        </p:txBody>
      </p:sp>
      <p:sp>
        <p:nvSpPr>
          <p:cNvPr id="6" name="Shape 4"/>
          <p:cNvSpPr/>
          <p:nvPr/>
        </p:nvSpPr>
        <p:spPr>
          <a:xfrm>
            <a:off x="456716" y="1080604"/>
            <a:ext cx="4024312" cy="1876425"/>
          </a:xfrm>
          <a:prstGeom prst="roundRect">
            <a:avLst>
              <a:gd name="adj" fmla="val 4873"/>
            </a:avLst>
          </a:prstGeom>
          <a:solidFill>
            <a:srgbClr val="1C1C1C"/>
          </a:solidFill>
          <a:ln/>
        </p:spPr>
      </p:sp>
      <p:sp>
        <p:nvSpPr>
          <p:cNvPr id="7" name="Text 5"/>
          <p:cNvSpPr/>
          <p:nvPr/>
        </p:nvSpPr>
        <p:spPr>
          <a:xfrm>
            <a:off x="719137" y="1213470"/>
            <a:ext cx="1892469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115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City-wise Analysis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19137" y="1543348"/>
            <a:ext cx="3527442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84"/>
              </a:spcAft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Average delivery time per city</a:t>
            </a:r>
            <a:endParaRPr lang="en-US" sz="1370" dirty="0"/>
          </a:p>
        </p:txBody>
      </p:sp>
      <p:sp>
        <p:nvSpPr>
          <p:cNvPr id="9" name="Text 7"/>
          <p:cNvSpPr/>
          <p:nvPr/>
        </p:nvSpPr>
        <p:spPr>
          <a:xfrm>
            <a:off x="719137" y="1865933"/>
            <a:ext cx="342828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84"/>
              </a:spcAft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Late delivery rate by location</a:t>
            </a:r>
            <a:endParaRPr lang="en-US" sz="1370" dirty="0"/>
          </a:p>
        </p:txBody>
      </p:sp>
      <p:sp>
        <p:nvSpPr>
          <p:cNvPr id="10" name="Text 8"/>
          <p:cNvSpPr/>
          <p:nvPr/>
        </p:nvSpPr>
        <p:spPr>
          <a:xfrm>
            <a:off x="719137" y="2188518"/>
            <a:ext cx="3054682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84"/>
              </a:spcAft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Order volume distribution</a:t>
            </a:r>
            <a:endParaRPr lang="en-US" sz="1370" dirty="0"/>
          </a:p>
        </p:txBody>
      </p:sp>
      <p:sp>
        <p:nvSpPr>
          <p:cNvPr id="11" name="Text 9"/>
          <p:cNvSpPr/>
          <p:nvPr/>
        </p:nvSpPr>
        <p:spPr>
          <a:xfrm>
            <a:off x="719137" y="2511103"/>
            <a:ext cx="365745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City-level performance ranking</a:t>
            </a:r>
            <a:endParaRPr lang="en-US" sz="1370" dirty="0"/>
          </a:p>
        </p:txBody>
      </p:sp>
      <p:sp>
        <p:nvSpPr>
          <p:cNvPr id="12" name="Shape 10"/>
          <p:cNvSpPr/>
          <p:nvPr/>
        </p:nvSpPr>
        <p:spPr>
          <a:xfrm>
            <a:off x="4662934" y="1080604"/>
            <a:ext cx="4024312" cy="1876425"/>
          </a:xfrm>
          <a:prstGeom prst="roundRect">
            <a:avLst>
              <a:gd name="adj" fmla="val 4873"/>
            </a:avLst>
          </a:prstGeom>
          <a:solidFill>
            <a:srgbClr val="1C1C1C"/>
          </a:solidFill>
          <a:ln/>
        </p:spPr>
      </p:sp>
      <p:sp>
        <p:nvSpPr>
          <p:cNvPr id="13" name="Text 11"/>
          <p:cNvSpPr/>
          <p:nvPr/>
        </p:nvSpPr>
        <p:spPr>
          <a:xfrm>
            <a:off x="4925318" y="1213470"/>
            <a:ext cx="1859965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115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Category Analysis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925318" y="1543348"/>
            <a:ext cx="410293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84"/>
              </a:spcAft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Categories with highest delay rates</a:t>
            </a:r>
            <a:endParaRPr lang="en-US" sz="1370" dirty="0"/>
          </a:p>
        </p:txBody>
      </p:sp>
      <p:sp>
        <p:nvSpPr>
          <p:cNvPr id="15" name="Text 13"/>
          <p:cNvSpPr/>
          <p:nvPr/>
        </p:nvSpPr>
        <p:spPr>
          <a:xfrm>
            <a:off x="4925318" y="1865933"/>
            <a:ext cx="349726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84"/>
              </a:spcAft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Delivery time by product type</a:t>
            </a:r>
            <a:endParaRPr lang="en-US" sz="1370" dirty="0"/>
          </a:p>
        </p:txBody>
      </p:sp>
      <p:sp>
        <p:nvSpPr>
          <p:cNvPr id="16" name="Text 14"/>
          <p:cNvSpPr/>
          <p:nvPr/>
        </p:nvSpPr>
        <p:spPr>
          <a:xfrm>
            <a:off x="4925318" y="2188518"/>
            <a:ext cx="395280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84"/>
              </a:spcAft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Revenue contribution by category</a:t>
            </a:r>
            <a:endParaRPr lang="en-US" sz="1370" dirty="0"/>
          </a:p>
        </p:txBody>
      </p:sp>
      <p:sp>
        <p:nvSpPr>
          <p:cNvPr id="17" name="Text 15"/>
          <p:cNvSpPr/>
          <p:nvPr/>
        </p:nvSpPr>
        <p:spPr>
          <a:xfrm>
            <a:off x="4925318" y="2511103"/>
            <a:ext cx="399478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Top performing product segments</a:t>
            </a:r>
            <a:endParaRPr lang="en-US" sz="1370" dirty="0"/>
          </a:p>
        </p:txBody>
      </p:sp>
      <p:sp>
        <p:nvSpPr>
          <p:cNvPr id="18" name="Shape 16"/>
          <p:cNvSpPr/>
          <p:nvPr/>
        </p:nvSpPr>
        <p:spPr>
          <a:xfrm>
            <a:off x="456716" y="3060874"/>
            <a:ext cx="4024312" cy="1876425"/>
          </a:xfrm>
          <a:prstGeom prst="roundRect">
            <a:avLst>
              <a:gd name="adj" fmla="val 4873"/>
            </a:avLst>
          </a:prstGeom>
          <a:solidFill>
            <a:srgbClr val="1C1C1C"/>
          </a:solidFill>
          <a:ln/>
        </p:spPr>
      </p:sp>
      <p:sp>
        <p:nvSpPr>
          <p:cNvPr id="19" name="Text 17"/>
          <p:cNvSpPr/>
          <p:nvPr/>
        </p:nvSpPr>
        <p:spPr>
          <a:xfrm>
            <a:off x="719137" y="3193703"/>
            <a:ext cx="2619360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115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Payment Method Analysis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19137" y="3523580"/>
            <a:ext cx="359525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84"/>
              </a:spcAft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Delivery time by payment type</a:t>
            </a:r>
            <a:endParaRPr lang="en-US" sz="1370" dirty="0"/>
          </a:p>
        </p:txBody>
      </p:sp>
      <p:sp>
        <p:nvSpPr>
          <p:cNvPr id="21" name="Text 19"/>
          <p:cNvSpPr/>
          <p:nvPr/>
        </p:nvSpPr>
        <p:spPr>
          <a:xfrm>
            <a:off x="719137" y="3846165"/>
            <a:ext cx="429496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84"/>
              </a:spcAft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COD vs digital payment performance</a:t>
            </a:r>
            <a:endParaRPr lang="en-US" sz="1370" dirty="0"/>
          </a:p>
        </p:txBody>
      </p:sp>
      <p:sp>
        <p:nvSpPr>
          <p:cNvPr id="22" name="Text 20"/>
          <p:cNvSpPr/>
          <p:nvPr/>
        </p:nvSpPr>
        <p:spPr>
          <a:xfrm>
            <a:off x="719137" y="4168750"/>
            <a:ext cx="328443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84"/>
              </a:spcAft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Payment preference by city</a:t>
            </a:r>
            <a:endParaRPr lang="en-US" sz="1370" dirty="0"/>
          </a:p>
        </p:txBody>
      </p:sp>
      <p:sp>
        <p:nvSpPr>
          <p:cNvPr id="23" name="Text 21"/>
          <p:cNvSpPr/>
          <p:nvPr/>
        </p:nvSpPr>
        <p:spPr>
          <a:xfrm>
            <a:off x="719137" y="4491335"/>
            <a:ext cx="357523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Correlation with late deliveries</a:t>
            </a:r>
            <a:endParaRPr lang="en-US" sz="1370" dirty="0"/>
          </a:p>
        </p:txBody>
      </p:sp>
      <p:sp>
        <p:nvSpPr>
          <p:cNvPr id="24" name="Shape 22"/>
          <p:cNvSpPr/>
          <p:nvPr/>
        </p:nvSpPr>
        <p:spPr>
          <a:xfrm>
            <a:off x="4662934" y="3060874"/>
            <a:ext cx="4024312" cy="1876425"/>
          </a:xfrm>
          <a:prstGeom prst="roundRect">
            <a:avLst>
              <a:gd name="adj" fmla="val 4873"/>
            </a:avLst>
          </a:prstGeom>
          <a:solidFill>
            <a:srgbClr val="1C1C1C"/>
          </a:solidFill>
          <a:ln/>
        </p:spPr>
      </p:sp>
      <p:sp>
        <p:nvSpPr>
          <p:cNvPr id="25" name="Text 23"/>
          <p:cNvSpPr/>
          <p:nvPr/>
        </p:nvSpPr>
        <p:spPr>
          <a:xfrm>
            <a:off x="4925318" y="3193703"/>
            <a:ext cx="880876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115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KPIs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925318" y="3523580"/>
            <a:ext cx="337943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84"/>
              </a:spcAft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Overall on-time delivery rate</a:t>
            </a:r>
            <a:endParaRPr lang="en-US" sz="1370" dirty="0"/>
          </a:p>
        </p:txBody>
      </p:sp>
      <p:sp>
        <p:nvSpPr>
          <p:cNvPr id="27" name="Text 25"/>
          <p:cNvSpPr/>
          <p:nvPr/>
        </p:nvSpPr>
        <p:spPr>
          <a:xfrm>
            <a:off x="4925318" y="3846165"/>
            <a:ext cx="3247772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84"/>
              </a:spcAft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Average distance per order</a:t>
            </a:r>
            <a:endParaRPr lang="en-US" sz="1370" dirty="0"/>
          </a:p>
        </p:txBody>
      </p:sp>
      <p:sp>
        <p:nvSpPr>
          <p:cNvPr id="28" name="Text 26"/>
          <p:cNvSpPr/>
          <p:nvPr/>
        </p:nvSpPr>
        <p:spPr>
          <a:xfrm>
            <a:off x="4925318" y="4168750"/>
            <a:ext cx="345498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84"/>
              </a:spcAft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Customer satisfaction scores</a:t>
            </a:r>
            <a:endParaRPr lang="en-US" sz="1370" dirty="0"/>
          </a:p>
        </p:txBody>
      </p:sp>
      <p:sp>
        <p:nvSpPr>
          <p:cNvPr id="29" name="Text 27"/>
          <p:cNvSpPr/>
          <p:nvPr/>
        </p:nvSpPr>
        <p:spPr>
          <a:xfrm>
            <a:off x="4925318" y="4491335"/>
            <a:ext cx="4153242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Window functions for running totals</a:t>
            </a:r>
            <a:endParaRPr lang="en-US" sz="1370" dirty="0"/>
          </a:p>
        </p:txBody>
      </p:sp>
      <p:sp>
        <p:nvSpPr>
          <p:cNvPr id="30" name="Shape 28"/>
          <p:cNvSpPr/>
          <p:nvPr/>
        </p:nvSpPr>
        <p:spPr>
          <a:xfrm>
            <a:off x="0" y="5118757"/>
            <a:ext cx="9144000" cy="23812"/>
          </a:xfrm>
          <a:prstGeom prst="rect">
            <a:avLst/>
          </a:prstGeom>
          <a:solidFill>
            <a:srgbClr val="1DA462"/>
          </a:solidFill>
          <a:ln/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6716" y="1080604"/>
            <a:ext cx="4024312" cy="1876425"/>
          </a:xfrm>
          <a:prstGeom prst="rect">
            <a:avLst/>
          </a:prstGeom>
        </p:spPr>
      </p:pic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2934" y="1080604"/>
            <a:ext cx="4024312" cy="1876425"/>
          </a:xfrm>
          <a:prstGeom prst="rect">
            <a:avLst/>
          </a:prstGeom>
        </p:spPr>
      </p:pic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6716" y="3060874"/>
            <a:ext cx="4024312" cy="1876425"/>
          </a:xfrm>
          <a:prstGeom prst="rect">
            <a:avLst/>
          </a:prstGeom>
        </p:spPr>
      </p:pic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2934" y="3060874"/>
            <a:ext cx="4024312" cy="18764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FFE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10443"/>
            <a:ext cx="1719984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790" b="1" spc="174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BLINKIT CAPSTONE</a:t>
            </a:r>
            <a:endParaRPr lang="en-US" sz="790" dirty="0"/>
          </a:p>
        </p:txBody>
      </p:sp>
      <p:sp>
        <p:nvSpPr>
          <p:cNvPr id="5" name="Text 3"/>
          <p:cNvSpPr/>
          <p:nvPr/>
        </p:nvSpPr>
        <p:spPr>
          <a:xfrm>
            <a:off x="457200" y="340519"/>
            <a:ext cx="6377642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Exploratory Data Analysis</a:t>
            </a:r>
            <a:endParaRPr lang="en-US" sz="2880" dirty="0"/>
          </a:p>
        </p:txBody>
      </p:sp>
      <p:sp>
        <p:nvSpPr>
          <p:cNvPr id="6" name="Shape 4"/>
          <p:cNvSpPr/>
          <p:nvPr/>
        </p:nvSpPr>
        <p:spPr>
          <a:xfrm>
            <a:off x="456716" y="1079302"/>
            <a:ext cx="4024312" cy="1824037"/>
          </a:xfrm>
          <a:prstGeom prst="roundRect">
            <a:avLst>
              <a:gd name="adj" fmla="val 5013"/>
            </a:avLst>
          </a:prstGeom>
          <a:solidFill>
            <a:srgbClr val="1C1C1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27758"/>
            <a:ext cx="2585598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115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Delivery Time Distribution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557635"/>
            <a:ext cx="370157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84"/>
              </a:spcAft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Histogram of delivery durations</a:t>
            </a:r>
            <a:endParaRPr lang="en-US" sz="1370" dirty="0"/>
          </a:p>
        </p:txBody>
      </p:sp>
      <p:sp>
        <p:nvSpPr>
          <p:cNvPr id="9" name="Text 7"/>
          <p:cNvSpPr/>
          <p:nvPr/>
        </p:nvSpPr>
        <p:spPr>
          <a:xfrm>
            <a:off x="685800" y="1880220"/>
            <a:ext cx="286643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84"/>
              </a:spcAft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Identification of outliers</a:t>
            </a:r>
            <a:endParaRPr lang="en-US" sz="1370" dirty="0"/>
          </a:p>
        </p:txBody>
      </p:sp>
      <p:sp>
        <p:nvSpPr>
          <p:cNvPr id="10" name="Text 8"/>
          <p:cNvSpPr/>
          <p:nvPr/>
        </p:nvSpPr>
        <p:spPr>
          <a:xfrm>
            <a:off x="685800" y="2202805"/>
            <a:ext cx="353382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84"/>
              </a:spcAft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Median vs mean delivery time</a:t>
            </a:r>
            <a:endParaRPr lang="en-US" sz="1370" dirty="0"/>
          </a:p>
        </p:txBody>
      </p:sp>
      <p:sp>
        <p:nvSpPr>
          <p:cNvPr id="11" name="Text 9"/>
          <p:cNvSpPr/>
          <p:nvPr/>
        </p:nvSpPr>
        <p:spPr>
          <a:xfrm>
            <a:off x="685800" y="2525390"/>
            <a:ext cx="3148422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Distribution by time of day</a:t>
            </a:r>
            <a:endParaRPr lang="en-US" sz="1370" dirty="0"/>
          </a:p>
        </p:txBody>
      </p:sp>
      <p:sp>
        <p:nvSpPr>
          <p:cNvPr id="12" name="Shape 10"/>
          <p:cNvSpPr/>
          <p:nvPr/>
        </p:nvSpPr>
        <p:spPr>
          <a:xfrm>
            <a:off x="4662934" y="1079302"/>
            <a:ext cx="4024312" cy="1824037"/>
          </a:xfrm>
          <a:prstGeom prst="roundRect">
            <a:avLst>
              <a:gd name="adj" fmla="val 5013"/>
            </a:avLst>
          </a:prstGeom>
          <a:solidFill>
            <a:srgbClr val="1C1C1C"/>
          </a:solidFill>
          <a:ln/>
        </p:spPr>
      </p:sp>
      <p:sp>
        <p:nvSpPr>
          <p:cNvPr id="13" name="Text 11"/>
          <p:cNvSpPr/>
          <p:nvPr/>
        </p:nvSpPr>
        <p:spPr>
          <a:xfrm>
            <a:off x="4891980" y="1227758"/>
            <a:ext cx="1450278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115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Orders by City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91980" y="1557635"/>
            <a:ext cx="394835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84"/>
              </a:spcAft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Bar chart of order volume per city</a:t>
            </a:r>
            <a:endParaRPr lang="en-US" sz="1370" dirty="0"/>
          </a:p>
        </p:txBody>
      </p:sp>
      <p:sp>
        <p:nvSpPr>
          <p:cNvPr id="15" name="Text 13"/>
          <p:cNvSpPr/>
          <p:nvPr/>
        </p:nvSpPr>
        <p:spPr>
          <a:xfrm>
            <a:off x="4891980" y="1880220"/>
            <a:ext cx="351157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84"/>
              </a:spcAft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Geographic demand heatmap</a:t>
            </a:r>
            <a:endParaRPr lang="en-US" sz="1370" dirty="0"/>
          </a:p>
        </p:txBody>
      </p:sp>
      <p:sp>
        <p:nvSpPr>
          <p:cNvPr id="16" name="Text 14"/>
          <p:cNvSpPr/>
          <p:nvPr/>
        </p:nvSpPr>
        <p:spPr>
          <a:xfrm>
            <a:off x="4891980" y="2202805"/>
            <a:ext cx="379627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84"/>
              </a:spcAft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City-wise delay rate comparison</a:t>
            </a:r>
            <a:endParaRPr lang="en-US" sz="1370" dirty="0"/>
          </a:p>
        </p:txBody>
      </p:sp>
      <p:sp>
        <p:nvSpPr>
          <p:cNvPr id="17" name="Text 15"/>
          <p:cNvSpPr/>
          <p:nvPr/>
        </p:nvSpPr>
        <p:spPr>
          <a:xfrm>
            <a:off x="4891980" y="2525390"/>
            <a:ext cx="375797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Top-5 and bottom-5 performers</a:t>
            </a:r>
            <a:endParaRPr lang="en-US" sz="1370" dirty="0"/>
          </a:p>
        </p:txBody>
      </p:sp>
      <p:sp>
        <p:nvSpPr>
          <p:cNvPr id="18" name="Shape 16"/>
          <p:cNvSpPr/>
          <p:nvPr/>
        </p:nvSpPr>
        <p:spPr>
          <a:xfrm>
            <a:off x="456716" y="3004989"/>
            <a:ext cx="4024312" cy="2109788"/>
          </a:xfrm>
          <a:prstGeom prst="roundRect">
            <a:avLst>
              <a:gd name="adj" fmla="val 4334"/>
            </a:avLst>
          </a:prstGeom>
          <a:solidFill>
            <a:srgbClr val="1C1C1C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152998"/>
            <a:ext cx="2053635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115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Correlation Analysis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85800" y="3482876"/>
            <a:ext cx="374268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84"/>
              </a:spcAft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Heatmap of feature correlations</a:t>
            </a:r>
            <a:endParaRPr lang="en-US" sz="1370" dirty="0"/>
          </a:p>
        </p:txBody>
      </p:sp>
      <p:sp>
        <p:nvSpPr>
          <p:cNvPr id="21" name="Text 19"/>
          <p:cNvSpPr/>
          <p:nvPr/>
        </p:nvSpPr>
        <p:spPr>
          <a:xfrm>
            <a:off x="685800" y="3805461"/>
            <a:ext cx="384455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84"/>
              </a:spcAft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Strong predictors of late delivery</a:t>
            </a:r>
            <a:endParaRPr lang="en-US" sz="1370" dirty="0"/>
          </a:p>
        </p:txBody>
      </p:sp>
      <p:sp>
        <p:nvSpPr>
          <p:cNvPr id="22" name="Text 20"/>
          <p:cNvSpPr/>
          <p:nvPr/>
        </p:nvSpPr>
        <p:spPr>
          <a:xfrm>
            <a:off x="685800" y="4128046"/>
            <a:ext cx="3103052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84"/>
              </a:spcAft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Multicollinearity detection</a:t>
            </a:r>
            <a:endParaRPr lang="en-US" sz="1370" dirty="0"/>
          </a:p>
        </p:txBody>
      </p:sp>
      <p:sp>
        <p:nvSpPr>
          <p:cNvPr id="23" name="Text 21"/>
          <p:cNvSpPr/>
          <p:nvPr/>
        </p:nvSpPr>
        <p:spPr>
          <a:xfrm>
            <a:off x="685800" y="4450631"/>
            <a:ext cx="323548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Feature importance signals</a:t>
            </a:r>
            <a:endParaRPr lang="en-US" sz="1370" dirty="0"/>
          </a:p>
        </p:txBody>
      </p:sp>
      <p:sp>
        <p:nvSpPr>
          <p:cNvPr id="24" name="Shape 22"/>
          <p:cNvSpPr/>
          <p:nvPr/>
        </p:nvSpPr>
        <p:spPr>
          <a:xfrm>
            <a:off x="4662934" y="3004989"/>
            <a:ext cx="4024312" cy="2109788"/>
          </a:xfrm>
          <a:prstGeom prst="roundRect">
            <a:avLst>
              <a:gd name="adj" fmla="val 4334"/>
            </a:avLst>
          </a:prstGeom>
          <a:solidFill>
            <a:srgbClr val="1C1C1C"/>
          </a:solidFill>
          <a:ln/>
        </p:spPr>
      </p:sp>
      <p:sp>
        <p:nvSpPr>
          <p:cNvPr id="25" name="Text 23"/>
          <p:cNvSpPr/>
          <p:nvPr/>
        </p:nvSpPr>
        <p:spPr>
          <a:xfrm>
            <a:off x="4891980" y="3152998"/>
            <a:ext cx="1717372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115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Distance vs Time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891980" y="3482876"/>
            <a:ext cx="4205288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Scatter plot of distance and delivery</a:t>
            </a:r>
            <a:endParaRPr lang="en-US" sz="1370" dirty="0"/>
          </a:p>
          <a:p>
            <a:pPr algn="l" indent="0" marL="0">
              <a:lnSpc>
                <a:spcPts val="2257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</a:t>
            </a:r>
            <a:endParaRPr lang="en-US" sz="1370" dirty="0"/>
          </a:p>
        </p:txBody>
      </p:sp>
      <p:sp>
        <p:nvSpPr>
          <p:cNvPr id="27" name="Text 25"/>
          <p:cNvSpPr/>
          <p:nvPr/>
        </p:nvSpPr>
        <p:spPr>
          <a:xfrm>
            <a:off x="4891980" y="4092104"/>
            <a:ext cx="307335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84"/>
              </a:spcAft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Linear trend identification</a:t>
            </a:r>
            <a:endParaRPr lang="en-US" sz="1370" dirty="0"/>
          </a:p>
        </p:txBody>
      </p:sp>
      <p:sp>
        <p:nvSpPr>
          <p:cNvPr id="28" name="Text 26"/>
          <p:cNvSpPr/>
          <p:nvPr/>
        </p:nvSpPr>
        <p:spPr>
          <a:xfrm>
            <a:off x="4891980" y="4414689"/>
            <a:ext cx="358151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84"/>
              </a:spcAft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Distance thresholds for delays</a:t>
            </a:r>
            <a:endParaRPr lang="en-US" sz="1370" dirty="0"/>
          </a:p>
        </p:txBody>
      </p:sp>
      <p:sp>
        <p:nvSpPr>
          <p:cNvPr id="29" name="Text 27"/>
          <p:cNvSpPr/>
          <p:nvPr/>
        </p:nvSpPr>
        <p:spPr>
          <a:xfrm>
            <a:off x="4891980" y="4737274"/>
            <a:ext cx="281409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Segment-wise analysis</a:t>
            </a:r>
            <a:endParaRPr lang="en-US" sz="1370" dirty="0"/>
          </a:p>
        </p:txBody>
      </p:sp>
      <p:sp>
        <p:nvSpPr>
          <p:cNvPr id="30" name="Shape 28"/>
          <p:cNvSpPr/>
          <p:nvPr/>
        </p:nvSpPr>
        <p:spPr>
          <a:xfrm>
            <a:off x="0" y="5118757"/>
            <a:ext cx="9144000" cy="23812"/>
          </a:xfrm>
          <a:prstGeom prst="rect">
            <a:avLst/>
          </a:prstGeom>
          <a:solidFill>
            <a:srgbClr val="1DA462"/>
          </a:solidFill>
          <a:ln/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6716" y="1079302"/>
            <a:ext cx="4024312" cy="1824037"/>
          </a:xfrm>
          <a:prstGeom prst="rect">
            <a:avLst/>
          </a:prstGeom>
        </p:spPr>
      </p:pic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2934" y="1079302"/>
            <a:ext cx="4024312" cy="1824037"/>
          </a:xfrm>
          <a:prstGeom prst="rect">
            <a:avLst/>
          </a:prstGeom>
        </p:spPr>
      </p:pic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6716" y="3004989"/>
            <a:ext cx="4024312" cy="2109788"/>
          </a:xfrm>
          <a:prstGeom prst="rect">
            <a:avLst/>
          </a:prstGeom>
        </p:spPr>
      </p:pic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2934" y="3004989"/>
            <a:ext cx="4024312" cy="21097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FFE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10443"/>
            <a:ext cx="1719984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790" b="1" spc="174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BLINKIT CAPSTONE</a:t>
            </a:r>
            <a:endParaRPr lang="en-US" sz="790" dirty="0"/>
          </a:p>
        </p:txBody>
      </p:sp>
      <p:sp>
        <p:nvSpPr>
          <p:cNvPr id="5" name="Text 3"/>
          <p:cNvSpPr/>
          <p:nvPr/>
        </p:nvSpPr>
        <p:spPr>
          <a:xfrm>
            <a:off x="457200" y="340519"/>
            <a:ext cx="4977839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Feature Engineering</a:t>
            </a:r>
            <a:endParaRPr lang="en-US" sz="2880" dirty="0"/>
          </a:p>
        </p:txBody>
      </p:sp>
      <p:sp>
        <p:nvSpPr>
          <p:cNvPr id="6" name="Shape 4"/>
          <p:cNvSpPr/>
          <p:nvPr/>
        </p:nvSpPr>
        <p:spPr>
          <a:xfrm>
            <a:off x="457200" y="1080753"/>
            <a:ext cx="8229600" cy="1028700"/>
          </a:xfrm>
          <a:prstGeom prst="roundRect">
            <a:avLst>
              <a:gd name="adj" fmla="val 8889"/>
            </a:avLst>
          </a:prstGeom>
          <a:solidFill>
            <a:srgbClr val="1C1C1C"/>
          </a:solidFill>
          <a:ln/>
        </p:spPr>
      </p:sp>
      <p:sp>
        <p:nvSpPr>
          <p:cNvPr id="7" name="Shape 5"/>
          <p:cNvSpPr/>
          <p:nvPr/>
        </p:nvSpPr>
        <p:spPr>
          <a:xfrm>
            <a:off x="730523" y="1342653"/>
            <a:ext cx="504825" cy="504825"/>
          </a:xfrm>
          <a:prstGeom prst="ellipse">
            <a:avLst/>
          </a:prstGeom>
          <a:solidFill>
            <a:srgbClr val="FFE000"/>
          </a:solidFill>
          <a:ln/>
        </p:spPr>
      </p:sp>
      <p:sp>
        <p:nvSpPr>
          <p:cNvPr id="8" name="Text 6"/>
          <p:cNvSpPr/>
          <p:nvPr/>
        </p:nvSpPr>
        <p:spPr>
          <a:xfrm>
            <a:off x="938659" y="1433140"/>
            <a:ext cx="172172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08671" y="1213470"/>
            <a:ext cx="3538180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03"/>
              </a:spcAft>
              <a:buNone/>
            </a:pPr>
            <a:r>
              <a:rPr lang="en-US" sz="137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Late_Delivery Target Variable</a:t>
            </a:r>
            <a:endParaRPr lang="en-US" sz="1370" dirty="0"/>
          </a:p>
        </p:txBody>
      </p:sp>
      <p:sp>
        <p:nvSpPr>
          <p:cNvPr id="10" name="Text 8"/>
          <p:cNvSpPr/>
          <p:nvPr/>
        </p:nvSpPr>
        <p:spPr>
          <a:xfrm>
            <a:off x="1508671" y="1509266"/>
            <a:ext cx="8627581" cy="452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15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Created binary classification target — 1 for late delivery, 0 for on-time — derived</a:t>
            </a:r>
            <a:endParaRPr lang="en-US" sz="1370" dirty="0"/>
          </a:p>
          <a:p>
            <a:pPr algn="l" indent="0" marL="0">
              <a:lnSpc>
                <a:spcPts val="1915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actual vs expected delivery time</a:t>
            </a:r>
            <a:endParaRPr lang="en-US" sz="1370" dirty="0"/>
          </a:p>
        </p:txBody>
      </p:sp>
      <p:sp>
        <p:nvSpPr>
          <p:cNvPr id="11" name="Shape 9"/>
          <p:cNvSpPr/>
          <p:nvPr/>
        </p:nvSpPr>
        <p:spPr>
          <a:xfrm>
            <a:off x="457200" y="2239305"/>
            <a:ext cx="8229600" cy="1028700"/>
          </a:xfrm>
          <a:prstGeom prst="roundRect">
            <a:avLst>
              <a:gd name="adj" fmla="val 8889"/>
            </a:avLst>
          </a:prstGeom>
          <a:solidFill>
            <a:srgbClr val="1C1C1C"/>
          </a:solidFill>
          <a:ln/>
        </p:spPr>
      </p:sp>
      <p:sp>
        <p:nvSpPr>
          <p:cNvPr id="12" name="Shape 10"/>
          <p:cNvSpPr/>
          <p:nvPr/>
        </p:nvSpPr>
        <p:spPr>
          <a:xfrm>
            <a:off x="730523" y="2501205"/>
            <a:ext cx="504825" cy="504825"/>
          </a:xfrm>
          <a:prstGeom prst="ellipse">
            <a:avLst/>
          </a:prstGeom>
          <a:solidFill>
            <a:srgbClr val="1DA462"/>
          </a:solidFill>
          <a:ln/>
        </p:spPr>
      </p:sp>
      <p:sp>
        <p:nvSpPr>
          <p:cNvPr id="13" name="Text 11"/>
          <p:cNvSpPr/>
          <p:nvPr/>
        </p:nvSpPr>
        <p:spPr>
          <a:xfrm>
            <a:off x="917897" y="2591693"/>
            <a:ext cx="226249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08671" y="2372023"/>
            <a:ext cx="2185489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03"/>
              </a:spcAft>
              <a:buNone/>
            </a:pPr>
            <a:r>
              <a:rPr lang="en-US" sz="137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One-Hot Encoding</a:t>
            </a:r>
            <a:endParaRPr lang="en-US" sz="1370" dirty="0"/>
          </a:p>
        </p:txBody>
      </p:sp>
      <p:sp>
        <p:nvSpPr>
          <p:cNvPr id="15" name="Text 13"/>
          <p:cNvSpPr/>
          <p:nvPr/>
        </p:nvSpPr>
        <p:spPr>
          <a:xfrm>
            <a:off x="1508671" y="2667819"/>
            <a:ext cx="8408953" cy="452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15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Converted categorical features (City, Product Category, Payment Method) into</a:t>
            </a:r>
            <a:endParaRPr lang="en-US" sz="1370" dirty="0"/>
          </a:p>
          <a:p>
            <a:pPr algn="l" indent="0" marL="0">
              <a:lnSpc>
                <a:spcPts val="1915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numeric binary columns for ML compatibility</a:t>
            </a:r>
            <a:endParaRPr lang="en-US" sz="1370" dirty="0"/>
          </a:p>
        </p:txBody>
      </p:sp>
      <p:sp>
        <p:nvSpPr>
          <p:cNvPr id="16" name="Shape 14"/>
          <p:cNvSpPr/>
          <p:nvPr/>
        </p:nvSpPr>
        <p:spPr>
          <a:xfrm>
            <a:off x="457200" y="3397858"/>
            <a:ext cx="8229600" cy="1028700"/>
          </a:xfrm>
          <a:prstGeom prst="roundRect">
            <a:avLst>
              <a:gd name="adj" fmla="val 8889"/>
            </a:avLst>
          </a:prstGeom>
          <a:solidFill>
            <a:srgbClr val="1C1C1C"/>
          </a:solidFill>
          <a:ln/>
        </p:spPr>
      </p:sp>
      <p:sp>
        <p:nvSpPr>
          <p:cNvPr id="17" name="Shape 15"/>
          <p:cNvSpPr/>
          <p:nvPr/>
        </p:nvSpPr>
        <p:spPr>
          <a:xfrm>
            <a:off x="730523" y="3659758"/>
            <a:ext cx="504825" cy="504825"/>
          </a:xfrm>
          <a:prstGeom prst="ellipse">
            <a:avLst/>
          </a:prstGeom>
          <a:solidFill>
            <a:srgbClr val="FFE000"/>
          </a:solidFill>
          <a:ln/>
        </p:spPr>
      </p:sp>
      <p:sp>
        <p:nvSpPr>
          <p:cNvPr id="18" name="Text 16"/>
          <p:cNvSpPr/>
          <p:nvPr/>
        </p:nvSpPr>
        <p:spPr>
          <a:xfrm>
            <a:off x="913209" y="3750246"/>
            <a:ext cx="238438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08671" y="3530575"/>
            <a:ext cx="1867994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03"/>
              </a:spcAft>
              <a:buNone/>
            </a:pPr>
            <a:r>
              <a:rPr lang="en-US" sz="137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Feature Scaling</a:t>
            </a:r>
            <a:endParaRPr lang="en-US" sz="1370" dirty="0"/>
          </a:p>
        </p:txBody>
      </p:sp>
      <p:sp>
        <p:nvSpPr>
          <p:cNvPr id="20" name="Text 18"/>
          <p:cNvSpPr/>
          <p:nvPr/>
        </p:nvSpPr>
        <p:spPr>
          <a:xfrm>
            <a:off x="1508671" y="3826371"/>
            <a:ext cx="8511786" cy="452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15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Applied StandardScaler to normalize numerical features for Logistic Regression</a:t>
            </a:r>
            <a:endParaRPr lang="en-US" sz="1370" dirty="0"/>
          </a:p>
          <a:p>
            <a:pPr algn="l" indent="0" marL="0">
              <a:lnSpc>
                <a:spcPts val="1915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(not required for tree-based models)</a:t>
            </a:r>
            <a:endParaRPr lang="en-US" sz="1370" dirty="0"/>
          </a:p>
        </p:txBody>
      </p:sp>
      <p:sp>
        <p:nvSpPr>
          <p:cNvPr id="21" name="Shape 19"/>
          <p:cNvSpPr/>
          <p:nvPr/>
        </p:nvSpPr>
        <p:spPr>
          <a:xfrm>
            <a:off x="457200" y="4556410"/>
            <a:ext cx="8229600" cy="1028700"/>
          </a:xfrm>
          <a:prstGeom prst="roundRect">
            <a:avLst>
              <a:gd name="adj" fmla="val 8889"/>
            </a:avLst>
          </a:prstGeom>
          <a:solidFill>
            <a:srgbClr val="1C1C1C"/>
          </a:solidFill>
          <a:ln/>
        </p:spPr>
      </p:sp>
      <p:sp>
        <p:nvSpPr>
          <p:cNvPr id="22" name="Shape 20"/>
          <p:cNvSpPr/>
          <p:nvPr/>
        </p:nvSpPr>
        <p:spPr>
          <a:xfrm>
            <a:off x="730523" y="4818311"/>
            <a:ext cx="504825" cy="504825"/>
          </a:xfrm>
          <a:prstGeom prst="ellipse">
            <a:avLst/>
          </a:prstGeom>
          <a:solidFill>
            <a:srgbClr val="1DA462"/>
          </a:solidFill>
          <a:ln/>
        </p:spPr>
      </p:sp>
      <p:sp>
        <p:nvSpPr>
          <p:cNvPr id="23" name="Text 21"/>
          <p:cNvSpPr/>
          <p:nvPr/>
        </p:nvSpPr>
        <p:spPr>
          <a:xfrm>
            <a:off x="903908" y="4908798"/>
            <a:ext cx="262525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508671" y="4689128"/>
            <a:ext cx="191249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03"/>
              </a:spcAft>
              <a:buNone/>
            </a:pPr>
            <a:r>
              <a:rPr lang="en-US" sz="137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Train / Test Split</a:t>
            </a:r>
            <a:endParaRPr lang="en-US" sz="1370" dirty="0"/>
          </a:p>
        </p:txBody>
      </p:sp>
      <p:sp>
        <p:nvSpPr>
          <p:cNvPr id="25" name="Text 23"/>
          <p:cNvSpPr/>
          <p:nvPr/>
        </p:nvSpPr>
        <p:spPr>
          <a:xfrm>
            <a:off x="1508671" y="4984924"/>
            <a:ext cx="8987157" cy="452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15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Split the dataset 80/20 into training and test sets with stratification to maintain class</a:t>
            </a:r>
            <a:endParaRPr lang="en-US" sz="1370" dirty="0"/>
          </a:p>
          <a:p>
            <a:pPr algn="l" indent="0" marL="0">
              <a:lnSpc>
                <a:spcPts val="1915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 across both splits</a:t>
            </a:r>
            <a:endParaRPr lang="en-US" sz="1370" dirty="0"/>
          </a:p>
        </p:txBody>
      </p:sp>
      <p:sp>
        <p:nvSpPr>
          <p:cNvPr id="26" name="Shape 24"/>
          <p:cNvSpPr/>
          <p:nvPr/>
        </p:nvSpPr>
        <p:spPr>
          <a:xfrm>
            <a:off x="0" y="5118757"/>
            <a:ext cx="9144000" cy="23812"/>
          </a:xfrm>
          <a:prstGeom prst="rect">
            <a:avLst/>
          </a:prstGeom>
          <a:solidFill>
            <a:srgbClr val="1DA462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FFE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10443"/>
            <a:ext cx="1719984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790" b="1" spc="174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BLINKIT CAPSTONE</a:t>
            </a:r>
            <a:endParaRPr lang="en-US" sz="790" dirty="0"/>
          </a:p>
        </p:txBody>
      </p:sp>
      <p:sp>
        <p:nvSpPr>
          <p:cNvPr id="5" name="Text 3"/>
          <p:cNvSpPr/>
          <p:nvPr/>
        </p:nvSpPr>
        <p:spPr>
          <a:xfrm>
            <a:off x="457200" y="340519"/>
            <a:ext cx="6290578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Machine Learning Models</a:t>
            </a:r>
            <a:endParaRPr lang="en-US" sz="2880" dirty="0"/>
          </a:p>
        </p:txBody>
      </p:sp>
      <p:sp>
        <p:nvSpPr>
          <p:cNvPr id="6" name="Shape 4"/>
          <p:cNvSpPr/>
          <p:nvPr/>
        </p:nvSpPr>
        <p:spPr>
          <a:xfrm>
            <a:off x="457200" y="1079934"/>
            <a:ext cx="2590800" cy="5405438"/>
          </a:xfrm>
          <a:prstGeom prst="roundRect">
            <a:avLst>
              <a:gd name="adj" fmla="val 4235"/>
            </a:avLst>
          </a:prstGeom>
          <a:solidFill>
            <a:srgbClr val="1C1C1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83940"/>
            <a:ext cx="87681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1080" b="1" spc="86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 1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85800" y="1571476"/>
            <a:ext cx="1776673" cy="661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Logistic</a:t>
            </a:r>
            <a:endParaRPr lang="en-US" sz="18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Regression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2414439"/>
            <a:ext cx="2468448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Linear classification</a:t>
            </a:r>
            <a:endParaRPr lang="en-US" sz="1370" dirty="0"/>
          </a:p>
          <a:p>
            <a:pPr algn="l" indent="0" marL="0">
              <a:lnSpc>
                <a:spcPts val="2257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</a:t>
            </a:r>
            <a:endParaRPr lang="en-US" sz="1370" dirty="0"/>
          </a:p>
        </p:txBody>
      </p:sp>
      <p:sp>
        <p:nvSpPr>
          <p:cNvPr id="10" name="Text 8"/>
          <p:cNvSpPr/>
          <p:nvPr/>
        </p:nvSpPr>
        <p:spPr>
          <a:xfrm>
            <a:off x="685800" y="3028801"/>
            <a:ext cx="2099972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Requires feature</a:t>
            </a:r>
            <a:endParaRPr lang="en-US" sz="1370" dirty="0"/>
          </a:p>
          <a:p>
            <a:pPr algn="l" indent="0" marL="0">
              <a:lnSpc>
                <a:spcPts val="2257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scaling</a:t>
            </a:r>
            <a:endParaRPr lang="en-US" sz="1370" dirty="0"/>
          </a:p>
        </p:txBody>
      </p:sp>
      <p:sp>
        <p:nvSpPr>
          <p:cNvPr id="11" name="Text 9"/>
          <p:cNvSpPr/>
          <p:nvPr/>
        </p:nvSpPr>
        <p:spPr>
          <a:xfrm>
            <a:off x="685800" y="3643164"/>
            <a:ext cx="2119804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Fast training and</a:t>
            </a:r>
            <a:endParaRPr lang="en-US" sz="1370" dirty="0"/>
          </a:p>
          <a:p>
            <a:pPr algn="l" indent="0" marL="0">
              <a:lnSpc>
                <a:spcPts val="2257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inference</a:t>
            </a:r>
            <a:endParaRPr lang="en-US" sz="1370" dirty="0"/>
          </a:p>
        </p:txBody>
      </p:sp>
      <p:sp>
        <p:nvSpPr>
          <p:cNvPr id="12" name="Text 10"/>
          <p:cNvSpPr/>
          <p:nvPr/>
        </p:nvSpPr>
        <p:spPr>
          <a:xfrm>
            <a:off x="685800" y="4257526"/>
            <a:ext cx="1709827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Interpretable</a:t>
            </a:r>
            <a:endParaRPr lang="en-US" sz="1370" dirty="0"/>
          </a:p>
          <a:p>
            <a:pPr algn="l" indent="0" marL="0">
              <a:lnSpc>
                <a:spcPts val="2257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coefficients</a:t>
            </a:r>
            <a:endParaRPr lang="en-US" sz="1370" dirty="0"/>
          </a:p>
        </p:txBody>
      </p:sp>
      <p:sp>
        <p:nvSpPr>
          <p:cNvPr id="13" name="Text 11"/>
          <p:cNvSpPr/>
          <p:nvPr/>
        </p:nvSpPr>
        <p:spPr>
          <a:xfrm>
            <a:off x="685800" y="4871889"/>
            <a:ext cx="2581729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Good for imbalanced</a:t>
            </a:r>
            <a:endParaRPr lang="en-US" sz="1370" dirty="0"/>
          </a:p>
          <a:p>
            <a:pPr algn="l" indent="0" marL="0">
              <a:lnSpc>
                <a:spcPts val="2257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with class weights</a:t>
            </a:r>
            <a:endParaRPr lang="en-US" sz="1370" dirty="0"/>
          </a:p>
        </p:txBody>
      </p:sp>
      <p:sp>
        <p:nvSpPr>
          <p:cNvPr id="14" name="Shape 12"/>
          <p:cNvSpPr/>
          <p:nvPr/>
        </p:nvSpPr>
        <p:spPr>
          <a:xfrm>
            <a:off x="685800" y="5534658"/>
            <a:ext cx="2133600" cy="771525"/>
          </a:xfrm>
          <a:prstGeom prst="roundRect">
            <a:avLst>
              <a:gd name="adj" fmla="val 7111"/>
            </a:avLst>
          </a:prstGeom>
          <a:solidFill>
            <a:srgbClr val="252525"/>
          </a:solidFill>
          <a:ln/>
        </p:spPr>
      </p:sp>
      <p:sp>
        <p:nvSpPr>
          <p:cNvPr id="15" name="Text 13"/>
          <p:cNvSpPr/>
          <p:nvPr/>
        </p:nvSpPr>
        <p:spPr>
          <a:xfrm>
            <a:off x="1378282" y="5627043"/>
            <a:ext cx="74863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203"/>
              </a:spcAft>
              <a:buNone/>
            </a:pPr>
            <a:r>
              <a:rPr lang="en-US" sz="94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</a:t>
            </a:r>
            <a:endParaRPr lang="en-US" sz="940" dirty="0"/>
          </a:p>
        </p:txBody>
      </p:sp>
      <p:sp>
        <p:nvSpPr>
          <p:cNvPr id="16" name="Text 14"/>
          <p:cNvSpPr/>
          <p:nvPr/>
        </p:nvSpPr>
        <p:spPr>
          <a:xfrm>
            <a:off x="1241312" y="5830937"/>
            <a:ext cx="102250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~97%</a:t>
            </a:r>
            <a:endParaRPr lang="en-US" sz="2160" dirty="0"/>
          </a:p>
        </p:txBody>
      </p:sp>
      <p:sp>
        <p:nvSpPr>
          <p:cNvPr id="17" name="Shape 15"/>
          <p:cNvSpPr/>
          <p:nvPr/>
        </p:nvSpPr>
        <p:spPr>
          <a:xfrm>
            <a:off x="3276600" y="1079934"/>
            <a:ext cx="2590800" cy="5405438"/>
          </a:xfrm>
          <a:prstGeom prst="roundRect">
            <a:avLst>
              <a:gd name="adj" fmla="val 4235"/>
            </a:avLst>
          </a:prstGeom>
          <a:solidFill>
            <a:srgbClr val="1C1C1C"/>
          </a:solidFill>
          <a:ln/>
        </p:spPr>
      </p:sp>
      <p:sp>
        <p:nvSpPr>
          <p:cNvPr id="18" name="Text 16"/>
          <p:cNvSpPr/>
          <p:nvPr/>
        </p:nvSpPr>
        <p:spPr>
          <a:xfrm>
            <a:off x="3505200" y="1283940"/>
            <a:ext cx="91154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1080" b="1" spc="86" kern="0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 2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3505200" y="1571476"/>
            <a:ext cx="2390090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013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Random Forest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505200" y="2071539"/>
            <a:ext cx="2630969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Ensemble of decision</a:t>
            </a:r>
            <a:endParaRPr lang="en-US" sz="1370" dirty="0"/>
          </a:p>
          <a:p>
            <a:pPr algn="l" indent="0" marL="0">
              <a:lnSpc>
                <a:spcPts val="2257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trees (Bagging)</a:t>
            </a:r>
            <a:endParaRPr lang="en-US" sz="1370" dirty="0"/>
          </a:p>
        </p:txBody>
      </p:sp>
      <p:sp>
        <p:nvSpPr>
          <p:cNvPr id="21" name="Text 19"/>
          <p:cNvSpPr/>
          <p:nvPr/>
        </p:nvSpPr>
        <p:spPr>
          <a:xfrm>
            <a:off x="3505200" y="2685901"/>
            <a:ext cx="2622359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Reduces variance via</a:t>
            </a:r>
            <a:endParaRPr lang="en-US" sz="1370" dirty="0"/>
          </a:p>
          <a:p>
            <a:pPr algn="l" indent="0" marL="0">
              <a:lnSpc>
                <a:spcPts val="2257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averaging</a:t>
            </a:r>
            <a:endParaRPr lang="en-US" sz="1370" dirty="0"/>
          </a:p>
        </p:txBody>
      </p:sp>
      <p:sp>
        <p:nvSpPr>
          <p:cNvPr id="22" name="Text 20"/>
          <p:cNvSpPr/>
          <p:nvPr/>
        </p:nvSpPr>
        <p:spPr>
          <a:xfrm>
            <a:off x="3505200" y="3300264"/>
            <a:ext cx="2295190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No feature scaling</a:t>
            </a:r>
            <a:endParaRPr lang="en-US" sz="1370" dirty="0"/>
          </a:p>
          <a:p>
            <a:pPr algn="l" indent="0" marL="0">
              <a:lnSpc>
                <a:spcPts val="2257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needed</a:t>
            </a:r>
            <a:endParaRPr lang="en-US" sz="1370" dirty="0"/>
          </a:p>
        </p:txBody>
      </p:sp>
      <p:sp>
        <p:nvSpPr>
          <p:cNvPr id="23" name="Text 21"/>
          <p:cNvSpPr/>
          <p:nvPr/>
        </p:nvSpPr>
        <p:spPr>
          <a:xfrm>
            <a:off x="3505200" y="3914626"/>
            <a:ext cx="1923135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Built-in feature</a:t>
            </a:r>
            <a:endParaRPr lang="en-US" sz="1370" dirty="0"/>
          </a:p>
          <a:p>
            <a:pPr algn="l" indent="0" marL="0">
              <a:lnSpc>
                <a:spcPts val="2257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importance</a:t>
            </a:r>
            <a:endParaRPr lang="en-US" sz="1370" dirty="0"/>
          </a:p>
        </p:txBody>
      </p:sp>
      <p:sp>
        <p:nvSpPr>
          <p:cNvPr id="24" name="Text 22"/>
          <p:cNvSpPr/>
          <p:nvPr/>
        </p:nvSpPr>
        <p:spPr>
          <a:xfrm>
            <a:off x="3505200" y="4528989"/>
            <a:ext cx="221064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Robust to outliers</a:t>
            </a:r>
            <a:endParaRPr lang="en-US" sz="1370" dirty="0"/>
          </a:p>
        </p:txBody>
      </p:sp>
      <p:sp>
        <p:nvSpPr>
          <p:cNvPr id="25" name="Shape 23"/>
          <p:cNvSpPr/>
          <p:nvPr/>
        </p:nvSpPr>
        <p:spPr>
          <a:xfrm>
            <a:off x="3505200" y="5534658"/>
            <a:ext cx="2133600" cy="771525"/>
          </a:xfrm>
          <a:prstGeom prst="roundRect">
            <a:avLst>
              <a:gd name="adj" fmla="val 7111"/>
            </a:avLst>
          </a:prstGeom>
          <a:solidFill>
            <a:srgbClr val="252525"/>
          </a:solidFill>
          <a:ln/>
        </p:spPr>
      </p:sp>
      <p:sp>
        <p:nvSpPr>
          <p:cNvPr id="26" name="Text 24"/>
          <p:cNvSpPr/>
          <p:nvPr/>
        </p:nvSpPr>
        <p:spPr>
          <a:xfrm>
            <a:off x="4197682" y="5627043"/>
            <a:ext cx="74863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203"/>
              </a:spcAft>
              <a:buNone/>
            </a:pPr>
            <a:r>
              <a:rPr lang="en-US" sz="94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</a:t>
            </a:r>
            <a:endParaRPr lang="en-US" sz="940" dirty="0"/>
          </a:p>
        </p:txBody>
      </p:sp>
      <p:sp>
        <p:nvSpPr>
          <p:cNvPr id="27" name="Text 25"/>
          <p:cNvSpPr/>
          <p:nvPr/>
        </p:nvSpPr>
        <p:spPr>
          <a:xfrm>
            <a:off x="3863742" y="5830937"/>
            <a:ext cx="1416516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98.04%</a:t>
            </a:r>
            <a:endParaRPr lang="en-US" sz="2160" dirty="0"/>
          </a:p>
        </p:txBody>
      </p:sp>
      <p:sp>
        <p:nvSpPr>
          <p:cNvPr id="28" name="Shape 26"/>
          <p:cNvSpPr/>
          <p:nvPr/>
        </p:nvSpPr>
        <p:spPr>
          <a:xfrm>
            <a:off x="6096000" y="1079934"/>
            <a:ext cx="2590800" cy="5405438"/>
          </a:xfrm>
          <a:prstGeom prst="roundRect">
            <a:avLst>
              <a:gd name="adj" fmla="val 4235"/>
            </a:avLst>
          </a:prstGeom>
          <a:solidFill>
            <a:srgbClr val="1C1C1C"/>
          </a:solidFill>
          <a:ln/>
        </p:spPr>
      </p:sp>
      <p:sp>
        <p:nvSpPr>
          <p:cNvPr id="29" name="Shape 27"/>
          <p:cNvSpPr/>
          <p:nvPr/>
        </p:nvSpPr>
        <p:spPr>
          <a:xfrm>
            <a:off x="8144173" y="1176896"/>
            <a:ext cx="404813" cy="166688"/>
          </a:xfrm>
          <a:prstGeom prst="roundRect">
            <a:avLst>
              <a:gd name="adj" fmla="val 21943"/>
            </a:avLst>
          </a:prstGeom>
          <a:solidFill>
            <a:srgbClr val="FFE000"/>
          </a:solidFill>
          <a:ln/>
        </p:spPr>
      </p:sp>
      <p:sp>
        <p:nvSpPr>
          <p:cNvPr id="30" name="Text 28"/>
          <p:cNvSpPr/>
          <p:nvPr/>
        </p:nvSpPr>
        <p:spPr>
          <a:xfrm>
            <a:off x="8216652" y="1191667"/>
            <a:ext cx="39496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spc="72" kern="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BEST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6324600" y="1283940"/>
            <a:ext cx="91763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1080" b="1" spc="86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 3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6324600" y="1571476"/>
            <a:ext cx="1373081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013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XGBoost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324600" y="2071539"/>
            <a:ext cx="2260171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Gradient Boosting</a:t>
            </a:r>
            <a:endParaRPr lang="en-US" sz="1370" dirty="0"/>
          </a:p>
          <a:p>
            <a:pPr algn="l" indent="0" marL="0">
              <a:lnSpc>
                <a:spcPts val="2257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(sequential trees)</a:t>
            </a:r>
            <a:endParaRPr lang="en-US" sz="1370" dirty="0"/>
          </a:p>
        </p:txBody>
      </p:sp>
      <p:sp>
        <p:nvSpPr>
          <p:cNvPr id="34" name="Text 32"/>
          <p:cNvSpPr/>
          <p:nvPr/>
        </p:nvSpPr>
        <p:spPr>
          <a:xfrm>
            <a:off x="6324600" y="2685901"/>
            <a:ext cx="2235986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Reduces bias and</a:t>
            </a:r>
            <a:endParaRPr lang="en-US" sz="1370" dirty="0"/>
          </a:p>
          <a:p>
            <a:pPr algn="l" indent="0" marL="0">
              <a:lnSpc>
                <a:spcPts val="2257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variance</a:t>
            </a:r>
            <a:endParaRPr lang="en-US" sz="1370" dirty="0"/>
          </a:p>
        </p:txBody>
      </p:sp>
      <p:sp>
        <p:nvSpPr>
          <p:cNvPr id="35" name="Text 33"/>
          <p:cNvSpPr/>
          <p:nvPr/>
        </p:nvSpPr>
        <p:spPr>
          <a:xfrm>
            <a:off x="6324600" y="3300264"/>
            <a:ext cx="2295190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No feature scaling</a:t>
            </a:r>
            <a:endParaRPr lang="en-US" sz="1370" dirty="0"/>
          </a:p>
          <a:p>
            <a:pPr algn="l" indent="0" marL="0">
              <a:lnSpc>
                <a:spcPts val="2257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needed</a:t>
            </a:r>
            <a:endParaRPr lang="en-US" sz="1370" dirty="0"/>
          </a:p>
        </p:txBody>
      </p:sp>
      <p:sp>
        <p:nvSpPr>
          <p:cNvPr id="36" name="Text 34"/>
          <p:cNvSpPr/>
          <p:nvPr/>
        </p:nvSpPr>
        <p:spPr>
          <a:xfrm>
            <a:off x="6324600" y="3914626"/>
            <a:ext cx="2500275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Advanced</a:t>
            </a:r>
            <a:endParaRPr lang="en-US" sz="1370" dirty="0"/>
          </a:p>
          <a:p>
            <a:pPr algn="l" indent="0" marL="0">
              <a:lnSpc>
                <a:spcPts val="2257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hyperparameter tuning</a:t>
            </a:r>
            <a:endParaRPr lang="en-US" sz="1370" dirty="0"/>
          </a:p>
        </p:txBody>
      </p:sp>
      <p:sp>
        <p:nvSpPr>
          <p:cNvPr id="37" name="Text 35"/>
          <p:cNvSpPr/>
          <p:nvPr/>
        </p:nvSpPr>
        <p:spPr>
          <a:xfrm>
            <a:off x="6324600" y="4528989"/>
            <a:ext cx="2592564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Best performance on</a:t>
            </a:r>
            <a:endParaRPr lang="en-US" sz="1370" dirty="0"/>
          </a:p>
          <a:p>
            <a:pPr algn="l" indent="0" marL="0">
              <a:lnSpc>
                <a:spcPts val="2257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data</a:t>
            </a:r>
            <a:endParaRPr lang="en-US" sz="1370" dirty="0"/>
          </a:p>
        </p:txBody>
      </p:sp>
      <p:sp>
        <p:nvSpPr>
          <p:cNvPr id="38" name="Shape 36"/>
          <p:cNvSpPr/>
          <p:nvPr/>
        </p:nvSpPr>
        <p:spPr>
          <a:xfrm>
            <a:off x="6324600" y="5534658"/>
            <a:ext cx="2133600" cy="771525"/>
          </a:xfrm>
          <a:prstGeom prst="roundRect">
            <a:avLst>
              <a:gd name="adj" fmla="val 7111"/>
            </a:avLst>
          </a:prstGeom>
          <a:solidFill>
            <a:srgbClr val="252525"/>
          </a:solidFill>
          <a:ln/>
        </p:spPr>
      </p:sp>
      <p:sp>
        <p:nvSpPr>
          <p:cNvPr id="39" name="Text 37"/>
          <p:cNvSpPr/>
          <p:nvPr/>
        </p:nvSpPr>
        <p:spPr>
          <a:xfrm>
            <a:off x="7017082" y="5627043"/>
            <a:ext cx="74863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203"/>
              </a:spcAft>
              <a:buNone/>
            </a:pPr>
            <a:r>
              <a:rPr lang="en-US" sz="94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</a:t>
            </a:r>
            <a:endParaRPr lang="en-US" sz="940" dirty="0"/>
          </a:p>
        </p:txBody>
      </p:sp>
      <p:sp>
        <p:nvSpPr>
          <p:cNvPr id="40" name="Text 38"/>
          <p:cNvSpPr/>
          <p:nvPr/>
        </p:nvSpPr>
        <p:spPr>
          <a:xfrm>
            <a:off x="6705596" y="5830937"/>
            <a:ext cx="1371533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98.28%</a:t>
            </a:r>
            <a:endParaRPr lang="en-US" sz="2160" dirty="0"/>
          </a:p>
        </p:txBody>
      </p:sp>
      <p:sp>
        <p:nvSpPr>
          <p:cNvPr id="41" name="Shape 39"/>
          <p:cNvSpPr/>
          <p:nvPr/>
        </p:nvSpPr>
        <p:spPr>
          <a:xfrm>
            <a:off x="0" y="5118757"/>
            <a:ext cx="9144000" cy="23812"/>
          </a:xfrm>
          <a:prstGeom prst="rect">
            <a:avLst/>
          </a:prstGeom>
          <a:solidFill>
            <a:srgbClr val="1DA462"/>
          </a:solidFill>
          <a:ln/>
        </p:spPr>
      </p:sp>
      <p:pic>
        <p:nvPicPr>
          <p:cNvPr id="4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079934"/>
            <a:ext cx="2590800" cy="5405438"/>
          </a:xfrm>
          <a:prstGeom prst="rect">
            <a:avLst/>
          </a:prstGeom>
        </p:spPr>
      </p:pic>
      <p:pic>
        <p:nvPicPr>
          <p:cNvPr id="4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6600" y="1079934"/>
            <a:ext cx="2590800" cy="5405438"/>
          </a:xfrm>
          <a:prstGeom prst="rect">
            <a:avLst/>
          </a:prstGeom>
        </p:spPr>
      </p:pic>
      <p:pic>
        <p:nvPicPr>
          <p:cNvPr id="4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6000" y="1079934"/>
            <a:ext cx="2590800" cy="540543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FFE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10443"/>
            <a:ext cx="1719984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790" b="1" spc="174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BLINKIT CAPSTONE</a:t>
            </a:r>
            <a:endParaRPr lang="en-US" sz="790" dirty="0"/>
          </a:p>
        </p:txBody>
      </p:sp>
      <p:sp>
        <p:nvSpPr>
          <p:cNvPr id="5" name="Text 3"/>
          <p:cNvSpPr/>
          <p:nvPr/>
        </p:nvSpPr>
        <p:spPr>
          <a:xfrm>
            <a:off x="457200" y="340519"/>
            <a:ext cx="7578648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Hyperparameter vs Parameter</a:t>
            </a:r>
            <a:endParaRPr lang="en-US" sz="2880" dirty="0"/>
          </a:p>
        </p:txBody>
      </p:sp>
      <p:sp>
        <p:nvSpPr>
          <p:cNvPr id="6" name="Shape 4"/>
          <p:cNvSpPr/>
          <p:nvPr/>
        </p:nvSpPr>
        <p:spPr>
          <a:xfrm>
            <a:off x="457498" y="1079413"/>
            <a:ext cx="4338637" cy="2366963"/>
          </a:xfrm>
          <a:prstGeom prst="roundRect">
            <a:avLst>
              <a:gd name="adj" fmla="val 4636"/>
            </a:avLst>
          </a:prstGeom>
          <a:solidFill>
            <a:srgbClr val="1A1A1A"/>
          </a:solidFill>
          <a:ln/>
        </p:spPr>
      </p:sp>
      <p:sp>
        <p:nvSpPr>
          <p:cNvPr id="7" name="Shape 5"/>
          <p:cNvSpPr/>
          <p:nvPr/>
        </p:nvSpPr>
        <p:spPr>
          <a:xfrm>
            <a:off x="456158" y="1079711"/>
            <a:ext cx="2171700" cy="419100"/>
          </a:xfrm>
          <a:prstGeom prst="rect">
            <a:avLst/>
          </a:prstGeom>
          <a:solidFill>
            <a:srgbClr val="FFE000"/>
          </a:solidFill>
          <a:ln/>
        </p:spPr>
      </p:sp>
      <p:sp>
        <p:nvSpPr>
          <p:cNvPr id="8" name="Text 6"/>
          <p:cNvSpPr/>
          <p:nvPr/>
        </p:nvSpPr>
        <p:spPr>
          <a:xfrm>
            <a:off x="637178" y="1177454"/>
            <a:ext cx="180966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Hyperparameter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2625775" y="1079711"/>
            <a:ext cx="2171700" cy="419100"/>
          </a:xfrm>
          <a:prstGeom prst="rect">
            <a:avLst/>
          </a:prstGeom>
          <a:solidFill>
            <a:srgbClr val="1DA462"/>
          </a:solidFill>
          <a:ln/>
        </p:spPr>
      </p:sp>
      <p:sp>
        <p:nvSpPr>
          <p:cNvPr id="10" name="Text 8"/>
          <p:cNvSpPr/>
          <p:nvPr/>
        </p:nvSpPr>
        <p:spPr>
          <a:xfrm>
            <a:off x="3123999" y="1177454"/>
            <a:ext cx="117525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Parameter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456158" y="1497509"/>
            <a:ext cx="2171700" cy="652463"/>
          </a:xfrm>
          <a:prstGeom prst="rect">
            <a:avLst/>
          </a:prstGeom>
          <a:ln/>
        </p:spPr>
      </p:sp>
      <p:sp>
        <p:nvSpPr>
          <p:cNvPr id="12" name="Text 10"/>
          <p:cNvSpPr/>
          <p:nvPr/>
        </p:nvSpPr>
        <p:spPr>
          <a:xfrm>
            <a:off x="640035" y="1605260"/>
            <a:ext cx="1926037" cy="425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before training</a:t>
            </a:r>
            <a:endParaRPr lang="en-US" sz="1300" dirty="0"/>
          </a:p>
          <a:p>
            <a:pPr algn="l" indent="0" marL="0">
              <a:lnSpc>
                <a:spcPts val="181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begins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625775" y="1497509"/>
            <a:ext cx="2171700" cy="652463"/>
          </a:xfrm>
          <a:prstGeom prst="rect">
            <a:avLst/>
          </a:prstGeom>
          <a:ln/>
        </p:spPr>
      </p:sp>
      <p:sp>
        <p:nvSpPr>
          <p:cNvPr id="14" name="Text 12"/>
          <p:cNvSpPr/>
          <p:nvPr/>
        </p:nvSpPr>
        <p:spPr>
          <a:xfrm>
            <a:off x="2814414" y="1605260"/>
            <a:ext cx="1600513" cy="425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Learned during</a:t>
            </a:r>
            <a:endParaRPr lang="en-US" sz="1300" dirty="0"/>
          </a:p>
          <a:p>
            <a:pPr algn="l" indent="0" marL="0">
              <a:lnSpc>
                <a:spcPts val="181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6158" y="2148185"/>
            <a:ext cx="2171700" cy="652463"/>
          </a:xfrm>
          <a:prstGeom prst="rect">
            <a:avLst/>
          </a:prstGeom>
          <a:ln/>
        </p:spPr>
      </p:sp>
      <p:sp>
        <p:nvSpPr>
          <p:cNvPr id="16" name="Text 14"/>
          <p:cNvSpPr/>
          <p:nvPr/>
        </p:nvSpPr>
        <p:spPr>
          <a:xfrm>
            <a:off x="640035" y="2255937"/>
            <a:ext cx="1838392" cy="425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e.g. n_estimators,</a:t>
            </a:r>
            <a:endParaRPr lang="en-US" sz="1300" dirty="0"/>
          </a:p>
          <a:p>
            <a:pPr algn="l" indent="0" marL="0">
              <a:lnSpc>
                <a:spcPts val="181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max_depth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625775" y="2148185"/>
            <a:ext cx="2171700" cy="652463"/>
          </a:xfrm>
          <a:prstGeom prst="rect">
            <a:avLst/>
          </a:prstGeom>
          <a:ln/>
        </p:spPr>
      </p:sp>
      <p:sp>
        <p:nvSpPr>
          <p:cNvPr id="18" name="Text 16"/>
          <p:cNvSpPr/>
          <p:nvPr/>
        </p:nvSpPr>
        <p:spPr>
          <a:xfrm>
            <a:off x="2814414" y="2255937"/>
            <a:ext cx="1370372" cy="425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e.g. tree split</a:t>
            </a:r>
            <a:endParaRPr lang="en-US" sz="1300" dirty="0"/>
          </a:p>
          <a:p>
            <a:pPr algn="l" indent="0" marL="0">
              <a:lnSpc>
                <a:spcPts val="181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thresholds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35" y="2906613"/>
            <a:ext cx="1709150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Controlled by us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625775" y="2798862"/>
            <a:ext cx="2171700" cy="647700"/>
          </a:xfrm>
          <a:prstGeom prst="rect">
            <a:avLst/>
          </a:prstGeom>
          <a:ln/>
        </p:spPr>
      </p:sp>
      <p:sp>
        <p:nvSpPr>
          <p:cNvPr id="21" name="Text 19"/>
          <p:cNvSpPr/>
          <p:nvPr/>
        </p:nvSpPr>
        <p:spPr>
          <a:xfrm>
            <a:off x="2814414" y="2906613"/>
            <a:ext cx="1579424" cy="425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Learned by the</a:t>
            </a:r>
            <a:endParaRPr lang="en-US" sz="1300" dirty="0"/>
          </a:p>
          <a:p>
            <a:pPr algn="l" indent="0" marL="0">
              <a:lnSpc>
                <a:spcPts val="181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algorithm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71393" y="1080157"/>
            <a:ext cx="3614738" cy="3857625"/>
          </a:xfrm>
          <a:prstGeom prst="roundRect">
            <a:avLst>
              <a:gd name="adj" fmla="val 3036"/>
            </a:avLst>
          </a:prstGeom>
          <a:solidFill>
            <a:srgbClr val="1A1A1A"/>
          </a:solidFill>
          <a:ln/>
        </p:spPr>
      </p:sp>
      <p:sp>
        <p:nvSpPr>
          <p:cNvPr id="23" name="Text 21"/>
          <p:cNvSpPr/>
          <p:nvPr/>
        </p:nvSpPr>
        <p:spPr>
          <a:xfrm>
            <a:off x="5299323" y="1239143"/>
            <a:ext cx="1827654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010" b="1" spc="121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IS TUNING?</a:t>
            </a:r>
            <a:endParaRPr lang="en-US" sz="1010" dirty="0"/>
          </a:p>
        </p:txBody>
      </p:sp>
      <p:sp>
        <p:nvSpPr>
          <p:cNvPr id="24" name="Text 22"/>
          <p:cNvSpPr/>
          <p:nvPr/>
        </p:nvSpPr>
        <p:spPr>
          <a:xfrm>
            <a:off x="5299323" y="1562546"/>
            <a:ext cx="4135442" cy="10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4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ML model has</a:t>
            </a:r>
            <a:endParaRPr lang="en-US" sz="1440" dirty="0"/>
          </a:p>
          <a:p>
            <a:pPr algn="l" indent="0" marL="0">
              <a:lnSpc>
                <a:spcPts val="2304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hyperparameters — settings chosen</a:t>
            </a:r>
            <a:endParaRPr lang="en-US" sz="1440" dirty="0"/>
          </a:p>
          <a:p>
            <a:pPr algn="l" indent="0" marL="0">
              <a:lnSpc>
                <a:spcPts val="2304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training that shape how the</a:t>
            </a:r>
            <a:endParaRPr lang="en-US" sz="1440" dirty="0"/>
          </a:p>
          <a:p>
            <a:pPr algn="l" indent="0" marL="0">
              <a:lnSpc>
                <a:spcPts val="2304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learns.</a:t>
            </a:r>
            <a:endParaRPr lang="en-US" sz="1440" dirty="0"/>
          </a:p>
        </p:txBody>
      </p:sp>
      <p:sp>
        <p:nvSpPr>
          <p:cNvPr id="25" name="Text 23"/>
          <p:cNvSpPr/>
          <p:nvPr/>
        </p:nvSpPr>
        <p:spPr>
          <a:xfrm>
            <a:off x="5299323" y="2861518"/>
            <a:ext cx="4009683" cy="10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4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used </a:t>
            </a:r>
            <a:pPr algn="l" indent="0" marL="0">
              <a:lnSpc>
                <a:spcPts val="2304"/>
              </a:lnSpc>
              <a:buNone/>
            </a:pPr>
            <a:r>
              <a:rPr lang="en-US" sz="1440" b="1" dirty="0">
                <a:solidFill>
                  <a:srgbClr val="FFE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GridSearchCV</a:t>
            </a:r>
            <a:pPr algn="l" indent="0" marL="0">
              <a:lnSpc>
                <a:spcPts val="2304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</a:t>
            </a:r>
            <a:endParaRPr lang="en-US" sz="1440" dirty="0"/>
          </a:p>
          <a:p>
            <a:pPr algn="l" indent="0" marL="0">
              <a:lnSpc>
                <a:spcPts val="2304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systematically test combinations of</a:t>
            </a:r>
            <a:endParaRPr lang="en-US" sz="1440" dirty="0"/>
          </a:p>
          <a:p>
            <a:pPr algn="l" indent="0" marL="0">
              <a:lnSpc>
                <a:spcPts val="2304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hyperparameters and find the</a:t>
            </a:r>
            <a:endParaRPr lang="en-US" sz="1440" dirty="0"/>
          </a:p>
          <a:p>
            <a:pPr algn="l" indent="0" marL="0">
              <a:lnSpc>
                <a:spcPts val="2304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optimal configuration.</a:t>
            </a:r>
            <a:endParaRPr lang="en-US" sz="1440" dirty="0"/>
          </a:p>
        </p:txBody>
      </p:sp>
      <p:sp>
        <p:nvSpPr>
          <p:cNvPr id="26" name="Shape 24"/>
          <p:cNvSpPr/>
          <p:nvPr/>
        </p:nvSpPr>
        <p:spPr>
          <a:xfrm>
            <a:off x="5299993" y="4126669"/>
            <a:ext cx="3157538" cy="633412"/>
          </a:xfrm>
          <a:prstGeom prst="roundRect">
            <a:avLst>
              <a:gd name="adj" fmla="val 11549"/>
            </a:avLst>
          </a:prstGeom>
          <a:solidFill>
            <a:srgbClr val="252525"/>
          </a:solidFill>
          <a:ln/>
        </p:spPr>
      </p:sp>
      <p:sp>
        <p:nvSpPr>
          <p:cNvPr id="27" name="Text 25"/>
          <p:cNvSpPr/>
          <p:nvPr/>
        </p:nvSpPr>
        <p:spPr>
          <a:xfrm>
            <a:off x="5515496" y="4209008"/>
            <a:ext cx="162624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03"/>
              </a:spcAft>
              <a:buNone/>
            </a:pPr>
            <a:r>
              <a:rPr lang="en-US" sz="94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Optimization metric</a:t>
            </a:r>
            <a:endParaRPr lang="en-US" sz="940" dirty="0"/>
          </a:p>
        </p:txBody>
      </p:sp>
      <p:sp>
        <p:nvSpPr>
          <p:cNvPr id="28" name="Text 26"/>
          <p:cNvSpPr/>
          <p:nvPr/>
        </p:nvSpPr>
        <p:spPr>
          <a:xfrm>
            <a:off x="5515496" y="4431953"/>
            <a:ext cx="3489327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F1 Score (for class imbalance)</a:t>
            </a:r>
            <a:endParaRPr lang="en-US" sz="1440" dirty="0"/>
          </a:p>
        </p:txBody>
      </p:sp>
      <p:sp>
        <p:nvSpPr>
          <p:cNvPr id="29" name="Shape 27"/>
          <p:cNvSpPr/>
          <p:nvPr/>
        </p:nvSpPr>
        <p:spPr>
          <a:xfrm>
            <a:off x="0" y="5118757"/>
            <a:ext cx="9144000" cy="23812"/>
          </a:xfrm>
          <a:prstGeom prst="rect">
            <a:avLst/>
          </a:prstGeom>
          <a:solidFill>
            <a:srgbClr val="1DA462"/>
          </a:solidFill>
          <a:ln/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6158" y="1497509"/>
            <a:ext cx="2171700" cy="652463"/>
          </a:xfrm>
          <a:prstGeom prst="rect">
            <a:avLst/>
          </a:prstGeom>
        </p:spPr>
      </p:pic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25775" y="1497509"/>
            <a:ext cx="2171700" cy="652463"/>
          </a:xfrm>
          <a:prstGeom prst="rect">
            <a:avLst/>
          </a:prstGeom>
        </p:spPr>
      </p:pic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6158" y="2148185"/>
            <a:ext cx="2171700" cy="652463"/>
          </a:xfrm>
          <a:prstGeom prst="rect">
            <a:avLst/>
          </a:prstGeom>
        </p:spPr>
      </p:pic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625775" y="2148185"/>
            <a:ext cx="2171700" cy="652463"/>
          </a:xfrm>
          <a:prstGeom prst="rect">
            <a:avLst/>
          </a:prstGeom>
        </p:spPr>
      </p:pic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625775" y="2798862"/>
            <a:ext cx="2171700" cy="647700"/>
          </a:xfrm>
          <a:prstGeom prst="rect">
            <a:avLst/>
          </a:prstGeom>
        </p:spPr>
      </p:pic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99993" y="4126669"/>
            <a:ext cx="3157538" cy="63341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FFE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10443"/>
            <a:ext cx="1719984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790" b="1" spc="174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BLINKIT CAPSTONE</a:t>
            </a:r>
            <a:endParaRPr lang="en-US" sz="790" dirty="0"/>
          </a:p>
        </p:txBody>
      </p:sp>
      <p:sp>
        <p:nvSpPr>
          <p:cNvPr id="5" name="Text 3"/>
          <p:cNvSpPr/>
          <p:nvPr/>
        </p:nvSpPr>
        <p:spPr>
          <a:xfrm>
            <a:off x="457200" y="340519"/>
            <a:ext cx="4336368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is XGBoost?</a:t>
            </a:r>
            <a:endParaRPr lang="en-US" sz="2880" dirty="0"/>
          </a:p>
        </p:txBody>
      </p:sp>
      <p:sp>
        <p:nvSpPr>
          <p:cNvPr id="6" name="Shape 4"/>
          <p:cNvSpPr/>
          <p:nvPr/>
        </p:nvSpPr>
        <p:spPr>
          <a:xfrm>
            <a:off x="458205" y="1079897"/>
            <a:ext cx="3786188" cy="2333625"/>
          </a:xfrm>
          <a:prstGeom prst="roundRect">
            <a:avLst>
              <a:gd name="adj" fmla="val 4702"/>
            </a:avLst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39143"/>
            <a:ext cx="1185505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1010" b="1" spc="121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DEFINITION</a:t>
            </a:r>
            <a:endParaRPr lang="en-US" sz="1010" dirty="0"/>
          </a:p>
        </p:txBody>
      </p:sp>
      <p:sp>
        <p:nvSpPr>
          <p:cNvPr id="8" name="Text 6"/>
          <p:cNvSpPr/>
          <p:nvPr/>
        </p:nvSpPr>
        <p:spPr>
          <a:xfrm>
            <a:off x="685800" y="1536799"/>
            <a:ext cx="4279873" cy="1682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4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XGBoost (Extreme Gradient Boosting)</a:t>
            </a:r>
            <a:endParaRPr lang="en-US" sz="1440" dirty="0"/>
          </a:p>
          <a:p>
            <a:pPr algn="l" indent="0" marL="0">
              <a:lnSpc>
                <a:spcPts val="2304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an advanced ensemble algorithm</a:t>
            </a:r>
            <a:endParaRPr lang="en-US" sz="1440" dirty="0"/>
          </a:p>
          <a:p>
            <a:pPr algn="l" indent="0" marL="0">
              <a:lnSpc>
                <a:spcPts val="2304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based on gradient boosting. It builds</a:t>
            </a:r>
            <a:endParaRPr lang="en-US" sz="1440" dirty="0"/>
          </a:p>
          <a:p>
            <a:pPr algn="l" indent="0" marL="0">
              <a:lnSpc>
                <a:spcPts val="2304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trees sequentially, where</a:t>
            </a:r>
            <a:endParaRPr lang="en-US" sz="1440" dirty="0"/>
          </a:p>
          <a:p>
            <a:pPr algn="l" indent="0" marL="0">
              <a:lnSpc>
                <a:spcPts val="2304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new tree focuses on correcting</a:t>
            </a:r>
            <a:endParaRPr lang="en-US" sz="1440" dirty="0"/>
          </a:p>
          <a:p>
            <a:pPr algn="l" indent="0" marL="0">
              <a:lnSpc>
                <a:spcPts val="2304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mistakes made by previous trees.</a:t>
            </a:r>
            <a:endParaRPr lang="en-US" sz="1440" dirty="0"/>
          </a:p>
        </p:txBody>
      </p:sp>
      <p:sp>
        <p:nvSpPr>
          <p:cNvPr id="9" name="Shape 7"/>
          <p:cNvSpPr/>
          <p:nvPr/>
        </p:nvSpPr>
        <p:spPr>
          <a:xfrm>
            <a:off x="458205" y="3541142"/>
            <a:ext cx="3786188" cy="1990725"/>
          </a:xfrm>
          <a:prstGeom prst="roundRect">
            <a:avLst>
              <a:gd name="adj" fmla="val 5512"/>
            </a:avLst>
          </a:prstGeom>
          <a:solidFill>
            <a:srgbClr val="1A1A1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675236"/>
            <a:ext cx="1720275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1010" b="1" spc="121" kern="0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ADVANTAGE</a:t>
            </a:r>
            <a:endParaRPr lang="en-US" sz="1010" dirty="0"/>
          </a:p>
        </p:txBody>
      </p:sp>
      <p:sp>
        <p:nvSpPr>
          <p:cNvPr id="11" name="Text 9"/>
          <p:cNvSpPr/>
          <p:nvPr/>
        </p:nvSpPr>
        <p:spPr>
          <a:xfrm>
            <a:off x="685800" y="3972892"/>
            <a:ext cx="4135442" cy="1389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4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Unlike Random Forest which builds</a:t>
            </a:r>
            <a:endParaRPr lang="en-US" sz="1440" dirty="0"/>
          </a:p>
          <a:p>
            <a:pPr algn="l" indent="0" marL="0">
              <a:lnSpc>
                <a:spcPts val="2304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trees independently, XGBoost builds</a:t>
            </a:r>
            <a:endParaRPr lang="en-US" sz="1440" dirty="0"/>
          </a:p>
          <a:p>
            <a:pPr algn="l" indent="0" marL="0">
              <a:lnSpc>
                <a:spcPts val="2304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them one after another — each</a:t>
            </a:r>
            <a:endParaRPr lang="en-US" sz="1440" dirty="0"/>
          </a:p>
          <a:p>
            <a:pPr algn="l" indent="0" marL="0">
              <a:lnSpc>
                <a:spcPts val="2304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from the previous —</a:t>
            </a:r>
            <a:endParaRPr lang="en-US" sz="1440" dirty="0"/>
          </a:p>
          <a:p>
            <a:pPr algn="l" indent="0" marL="0">
              <a:lnSpc>
                <a:spcPts val="2304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progressively improving predictions.</a:t>
            </a:r>
            <a:endParaRPr lang="en-US" sz="1440" dirty="0"/>
          </a:p>
        </p:txBody>
      </p:sp>
      <p:sp>
        <p:nvSpPr>
          <p:cNvPr id="12" name="Shape 10"/>
          <p:cNvSpPr/>
          <p:nvPr/>
        </p:nvSpPr>
        <p:spPr>
          <a:xfrm>
            <a:off x="4519650" y="1079153"/>
            <a:ext cx="4167187" cy="4452937"/>
          </a:xfrm>
          <a:prstGeom prst="roundRect">
            <a:avLst>
              <a:gd name="adj" fmla="val 2633"/>
            </a:avLst>
          </a:prstGeom>
          <a:solidFill>
            <a:srgbClr val="1A1A1A"/>
          </a:solidFill>
          <a:ln/>
        </p:spPr>
      </p:sp>
      <p:sp>
        <p:nvSpPr>
          <p:cNvPr id="13" name="Shape 11"/>
          <p:cNvSpPr/>
          <p:nvPr/>
        </p:nvSpPr>
        <p:spPr>
          <a:xfrm>
            <a:off x="4519650" y="1079711"/>
            <a:ext cx="4167187" cy="41910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14" name="Text 12"/>
          <p:cNvSpPr/>
          <p:nvPr/>
        </p:nvSpPr>
        <p:spPr>
          <a:xfrm>
            <a:off x="4746728" y="1177454"/>
            <a:ext cx="162943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Random Forest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7177017" y="1177454"/>
            <a:ext cx="94066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XGBoost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4519650" y="1497509"/>
            <a:ext cx="4167187" cy="652463"/>
          </a:xfrm>
          <a:prstGeom prst="rect">
            <a:avLst/>
          </a:prstGeom>
          <a:ln/>
        </p:spPr>
      </p:sp>
      <p:sp>
        <p:nvSpPr>
          <p:cNvPr id="17" name="Text 15"/>
          <p:cNvSpPr/>
          <p:nvPr/>
        </p:nvSpPr>
        <p:spPr>
          <a:xfrm>
            <a:off x="4702522" y="1610023"/>
            <a:ext cx="1498163" cy="425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Trees built</a:t>
            </a:r>
            <a:endParaRPr lang="en-US" sz="1300" dirty="0"/>
          </a:p>
          <a:p>
            <a:pPr algn="l" indent="0" marL="0">
              <a:lnSpc>
                <a:spcPts val="181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independently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90804" y="1610023"/>
            <a:ext cx="1270055" cy="425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Trees built</a:t>
            </a:r>
            <a:endParaRPr lang="en-US" sz="1300" dirty="0"/>
          </a:p>
          <a:p>
            <a:pPr algn="l" indent="0" marL="0">
              <a:lnSpc>
                <a:spcPts val="181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sequentially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19650" y="2149673"/>
            <a:ext cx="4167187" cy="419100"/>
          </a:xfrm>
          <a:prstGeom prst="rect">
            <a:avLst/>
          </a:prstGeom>
          <a:ln/>
        </p:spPr>
      </p:sp>
      <p:sp>
        <p:nvSpPr>
          <p:cNvPr id="20" name="Text 18"/>
          <p:cNvSpPr/>
          <p:nvPr/>
        </p:nvSpPr>
        <p:spPr>
          <a:xfrm>
            <a:off x="4702522" y="2260699"/>
            <a:ext cx="1458791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 Bagging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90804" y="2260699"/>
            <a:ext cx="1515673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 Boosting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19650" y="2568476"/>
            <a:ext cx="4167187" cy="652463"/>
          </a:xfrm>
          <a:prstGeom prst="rect">
            <a:avLst/>
          </a:prstGeom>
          <a:ln/>
        </p:spPr>
      </p:sp>
      <p:sp>
        <p:nvSpPr>
          <p:cNvPr id="23" name="Text 21"/>
          <p:cNvSpPr/>
          <p:nvPr/>
        </p:nvSpPr>
        <p:spPr>
          <a:xfrm>
            <a:off x="4702522" y="2680990"/>
            <a:ext cx="1860835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Reduces variance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90804" y="2680990"/>
            <a:ext cx="1847195" cy="425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Reduces bias and</a:t>
            </a:r>
            <a:endParaRPr lang="en-US" sz="1300" dirty="0"/>
          </a:p>
          <a:p>
            <a:pPr algn="l" indent="0" marL="0">
              <a:lnSpc>
                <a:spcPts val="181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variance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19650" y="3219152"/>
            <a:ext cx="4167187" cy="652463"/>
          </a:xfrm>
          <a:prstGeom prst="rect">
            <a:avLst/>
          </a:prstGeom>
          <a:ln/>
        </p:spPr>
      </p:sp>
      <p:sp>
        <p:nvSpPr>
          <p:cNvPr id="26" name="Text 24"/>
          <p:cNvSpPr/>
          <p:nvPr/>
        </p:nvSpPr>
        <p:spPr>
          <a:xfrm>
            <a:off x="4702522" y="3331666"/>
            <a:ext cx="1449601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 to train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790804" y="3331666"/>
            <a:ext cx="1679451" cy="425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parameter</a:t>
            </a:r>
            <a:endParaRPr lang="en-US" sz="1300" dirty="0"/>
          </a:p>
          <a:p>
            <a:pPr algn="l" indent="0" marL="0">
              <a:lnSpc>
                <a:spcPts val="181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tuning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19650" y="3869829"/>
            <a:ext cx="4167187" cy="652463"/>
          </a:xfrm>
          <a:prstGeom prst="rect">
            <a:avLst/>
          </a:prstGeom>
          <a:ln/>
        </p:spPr>
      </p:sp>
      <p:sp>
        <p:nvSpPr>
          <p:cNvPr id="29" name="Text 27"/>
          <p:cNvSpPr/>
          <p:nvPr/>
        </p:nvSpPr>
        <p:spPr>
          <a:xfrm>
            <a:off x="4702522" y="3982343"/>
            <a:ext cx="1849420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Easier to interpret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790804" y="3982343"/>
            <a:ext cx="1553981" cy="425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4"/>
              </a:lnSpc>
              <a:buNone/>
            </a:pPr>
            <a:r>
              <a:rPr lang="en-US" sz="1300" b="1" dirty="0">
                <a:solidFill>
                  <a:srgbClr val="FFE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accurate</a:t>
            </a:r>
            <a:endParaRPr lang="en-US" sz="1300" dirty="0"/>
          </a:p>
          <a:p>
            <a:pPr algn="l" indent="0" marL="0">
              <a:lnSpc>
                <a:spcPts val="1814"/>
              </a:lnSpc>
              <a:buNone/>
            </a:pPr>
            <a:r>
              <a:rPr lang="en-US" sz="1300" b="1" dirty="0">
                <a:solidFill>
                  <a:srgbClr val="FFE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overall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0" y="5118757"/>
            <a:ext cx="9144000" cy="23812"/>
          </a:xfrm>
          <a:prstGeom prst="rect">
            <a:avLst/>
          </a:prstGeom>
          <a:solidFill>
            <a:srgbClr val="1DA462"/>
          </a:solidFill>
          <a:ln/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02016" y="1079711"/>
            <a:ext cx="2085975" cy="419100"/>
          </a:xfrm>
          <a:prstGeom prst="rect">
            <a:avLst/>
          </a:prstGeom>
        </p:spPr>
      </p:pic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19650" y="1497509"/>
            <a:ext cx="4167187" cy="652463"/>
          </a:xfrm>
          <a:prstGeom prst="rect">
            <a:avLst/>
          </a:prstGeom>
        </p:spPr>
      </p:pic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2016" y="1502271"/>
            <a:ext cx="2085975" cy="647700"/>
          </a:xfrm>
          <a:prstGeom prst="rect">
            <a:avLst/>
          </a:prstGeom>
        </p:spPr>
      </p:pic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19650" y="2149673"/>
            <a:ext cx="4167187" cy="419100"/>
          </a:xfrm>
          <a:prstGeom prst="rect">
            <a:avLst/>
          </a:prstGeom>
        </p:spPr>
      </p:pic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2016" y="2154436"/>
            <a:ext cx="2085975" cy="414338"/>
          </a:xfrm>
          <a:prstGeom prst="rect">
            <a:avLst/>
          </a:prstGeom>
        </p:spPr>
      </p:pic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519650" y="2568476"/>
            <a:ext cx="4167187" cy="652463"/>
          </a:xfrm>
          <a:prstGeom prst="rect">
            <a:avLst/>
          </a:prstGeom>
        </p:spPr>
      </p:pic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02016" y="2573238"/>
            <a:ext cx="2085975" cy="647700"/>
          </a:xfrm>
          <a:prstGeom prst="rect">
            <a:avLst/>
          </a:prstGeom>
        </p:spPr>
      </p:pic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519650" y="3219152"/>
            <a:ext cx="4167187" cy="652463"/>
          </a:xfrm>
          <a:prstGeom prst="rect">
            <a:avLst/>
          </a:prstGeom>
        </p:spPr>
      </p:pic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602016" y="3223915"/>
            <a:ext cx="2085975" cy="647700"/>
          </a:xfrm>
          <a:prstGeom prst="rect">
            <a:avLst/>
          </a:prstGeom>
        </p:spPr>
      </p:pic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519650" y="3869829"/>
            <a:ext cx="4167187" cy="652463"/>
          </a:xfrm>
          <a:prstGeom prst="rect">
            <a:avLst/>
          </a:prstGeom>
        </p:spPr>
      </p:pic>
      <p:pic>
        <p:nvPicPr>
          <p:cNvPr id="42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602016" y="3874591"/>
            <a:ext cx="2085975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FFE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10443"/>
            <a:ext cx="1719984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790" b="1" spc="174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BLINKIT CAPSTONE</a:t>
            </a:r>
            <a:endParaRPr lang="en-US" sz="790" dirty="0"/>
          </a:p>
        </p:txBody>
      </p:sp>
      <p:sp>
        <p:nvSpPr>
          <p:cNvPr id="5" name="Text 3"/>
          <p:cNvSpPr/>
          <p:nvPr/>
        </p:nvSpPr>
        <p:spPr>
          <a:xfrm>
            <a:off x="457200" y="340519"/>
            <a:ext cx="7998976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 Performance Comparison</a:t>
            </a:r>
            <a:endParaRPr lang="en-US" sz="2880" dirty="0"/>
          </a:p>
        </p:txBody>
      </p:sp>
      <p:sp>
        <p:nvSpPr>
          <p:cNvPr id="6" name="Shape 4"/>
          <p:cNvSpPr/>
          <p:nvPr/>
        </p:nvSpPr>
        <p:spPr>
          <a:xfrm>
            <a:off x="456567" y="1079897"/>
            <a:ext cx="2571750" cy="1109662"/>
          </a:xfrm>
          <a:prstGeom prst="roundRect">
            <a:avLst>
              <a:gd name="adj" fmla="val 8240"/>
            </a:avLst>
          </a:prstGeom>
          <a:solidFill>
            <a:srgbClr val="1C1C1C"/>
          </a:solidFill>
          <a:ln/>
        </p:spPr>
      </p:sp>
      <p:sp>
        <p:nvSpPr>
          <p:cNvPr id="7" name="Text 5"/>
          <p:cNvSpPr/>
          <p:nvPr/>
        </p:nvSpPr>
        <p:spPr>
          <a:xfrm>
            <a:off x="904507" y="1227758"/>
            <a:ext cx="1675872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405"/>
              </a:spcAft>
              <a:buNone/>
            </a:pPr>
            <a:r>
              <a:rPr lang="en-US" sz="1010" b="1" dirty="0">
                <a:solidFill>
                  <a:srgbClr val="8888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Logistic Regression</a:t>
            </a:r>
            <a:endParaRPr lang="en-US" sz="1010" dirty="0"/>
          </a:p>
        </p:txBody>
      </p:sp>
      <p:sp>
        <p:nvSpPr>
          <p:cNvPr id="8" name="Text 6"/>
          <p:cNvSpPr/>
          <p:nvPr/>
        </p:nvSpPr>
        <p:spPr>
          <a:xfrm>
            <a:off x="928412" y="1342579"/>
            <a:ext cx="1627986" cy="8334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680" b="1" dirty="0">
                <a:solidFill>
                  <a:srgbClr val="CCCC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97%</a:t>
            </a:r>
            <a:endParaRPr lang="en-US" sz="4680" dirty="0"/>
          </a:p>
        </p:txBody>
      </p:sp>
      <p:sp>
        <p:nvSpPr>
          <p:cNvPr id="9" name="Shape 7"/>
          <p:cNvSpPr/>
          <p:nvPr/>
        </p:nvSpPr>
        <p:spPr>
          <a:xfrm>
            <a:off x="3255132" y="1079897"/>
            <a:ext cx="2633662" cy="1109662"/>
          </a:xfrm>
          <a:prstGeom prst="roundRect">
            <a:avLst>
              <a:gd name="adj" fmla="val 8240"/>
            </a:avLst>
          </a:prstGeom>
          <a:solidFill>
            <a:srgbClr val="1C1C1C"/>
          </a:solidFill>
          <a:ln/>
        </p:spPr>
      </p:sp>
      <p:sp>
        <p:nvSpPr>
          <p:cNvPr id="10" name="Text 8"/>
          <p:cNvSpPr/>
          <p:nvPr/>
        </p:nvSpPr>
        <p:spPr>
          <a:xfrm>
            <a:off x="3902448" y="1227758"/>
            <a:ext cx="1339029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405"/>
              </a:spcAft>
              <a:buNone/>
            </a:pPr>
            <a:r>
              <a:rPr lang="en-US" sz="101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Random Forest</a:t>
            </a:r>
            <a:endParaRPr lang="en-US" sz="1010" dirty="0"/>
          </a:p>
        </p:txBody>
      </p:sp>
      <p:sp>
        <p:nvSpPr>
          <p:cNvPr id="11" name="Text 9"/>
          <p:cNvSpPr/>
          <p:nvPr/>
        </p:nvSpPr>
        <p:spPr>
          <a:xfrm>
            <a:off x="3070693" y="1342579"/>
            <a:ext cx="3002540" cy="8334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68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98.04%</a:t>
            </a:r>
            <a:endParaRPr lang="en-US" sz="4680" dirty="0"/>
          </a:p>
        </p:txBody>
      </p:sp>
      <p:sp>
        <p:nvSpPr>
          <p:cNvPr id="12" name="Shape 10"/>
          <p:cNvSpPr/>
          <p:nvPr/>
        </p:nvSpPr>
        <p:spPr>
          <a:xfrm>
            <a:off x="6115645" y="1079897"/>
            <a:ext cx="2571750" cy="1109662"/>
          </a:xfrm>
          <a:prstGeom prst="roundRect">
            <a:avLst>
              <a:gd name="adj" fmla="val 8240"/>
            </a:avLst>
          </a:prstGeom>
          <a:solidFill>
            <a:srgbClr val="1C1C1C"/>
          </a:solidFill>
          <a:ln/>
        </p:spPr>
      </p:sp>
      <p:sp>
        <p:nvSpPr>
          <p:cNvPr id="13" name="Shape 11"/>
          <p:cNvSpPr/>
          <p:nvPr/>
        </p:nvSpPr>
        <p:spPr>
          <a:xfrm>
            <a:off x="7972537" y="1172133"/>
            <a:ext cx="576262" cy="166688"/>
          </a:xfrm>
          <a:prstGeom prst="roundRect">
            <a:avLst>
              <a:gd name="adj" fmla="val 21943"/>
            </a:avLst>
          </a:prstGeom>
          <a:solidFill>
            <a:srgbClr val="FFE000"/>
          </a:solidFill>
          <a:ln/>
        </p:spPr>
      </p:sp>
      <p:sp>
        <p:nvSpPr>
          <p:cNvPr id="14" name="Text 12"/>
          <p:cNvSpPr/>
          <p:nvPr/>
        </p:nvSpPr>
        <p:spPr>
          <a:xfrm>
            <a:off x="7951503" y="1186904"/>
            <a:ext cx="61832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20" b="1" spc="72" kern="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WINNER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7014638" y="1227758"/>
            <a:ext cx="773690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405"/>
              </a:spcAft>
              <a:buNone/>
            </a:pPr>
            <a:r>
              <a:rPr lang="en-US" sz="101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XGBoost</a:t>
            </a:r>
            <a:endParaRPr lang="en-US" sz="1010" dirty="0"/>
          </a:p>
        </p:txBody>
      </p:sp>
      <p:sp>
        <p:nvSpPr>
          <p:cNvPr id="16" name="Text 14"/>
          <p:cNvSpPr/>
          <p:nvPr/>
        </p:nvSpPr>
        <p:spPr>
          <a:xfrm>
            <a:off x="5948872" y="1342579"/>
            <a:ext cx="2905222" cy="8334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68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98.28%</a:t>
            </a:r>
            <a:endParaRPr lang="en-US" sz="4680" dirty="0"/>
          </a:p>
        </p:txBody>
      </p:sp>
      <p:sp>
        <p:nvSpPr>
          <p:cNvPr id="17" name="Shape 15"/>
          <p:cNvSpPr/>
          <p:nvPr/>
        </p:nvSpPr>
        <p:spPr>
          <a:xfrm>
            <a:off x="457200" y="2369865"/>
            <a:ext cx="8229600" cy="1576388"/>
          </a:xfrm>
          <a:prstGeom prst="roundRect">
            <a:avLst>
              <a:gd name="adj" fmla="val 6961"/>
            </a:avLst>
          </a:prstGeom>
          <a:solidFill>
            <a:srgbClr val="1A1A1A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2368302"/>
            <a:ext cx="8229600" cy="36195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35" y="2451199"/>
            <a:ext cx="61794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2978523" y="2451199"/>
            <a:ext cx="94240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Accuracy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4495554" y="2451199"/>
            <a:ext cx="90090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Precision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6133605" y="2451199"/>
            <a:ext cx="61736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Recall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7550211" y="2451199"/>
            <a:ext cx="77678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F1 Score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457200" y="2729731"/>
            <a:ext cx="8229600" cy="404813"/>
          </a:xfrm>
          <a:prstGeom prst="rect">
            <a:avLst/>
          </a:prstGeom>
          <a:ln/>
        </p:spPr>
      </p:sp>
      <p:sp>
        <p:nvSpPr>
          <p:cNvPr id="25" name="Text 23"/>
          <p:cNvSpPr/>
          <p:nvPr/>
        </p:nvSpPr>
        <p:spPr>
          <a:xfrm>
            <a:off x="640035" y="2834878"/>
            <a:ext cx="2030611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041693" y="2834878"/>
            <a:ext cx="816062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97.00%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10523" y="2834878"/>
            <a:ext cx="271038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06767" y="2834878"/>
            <a:ext cx="271038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803085" y="2834878"/>
            <a:ext cx="271038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3135585"/>
            <a:ext cx="8229600" cy="404813"/>
          </a:xfrm>
          <a:prstGeom prst="rect">
            <a:avLst/>
          </a:prstGeom>
          <a:ln/>
        </p:spPr>
      </p:sp>
      <p:sp>
        <p:nvSpPr>
          <p:cNvPr id="31" name="Text 29"/>
          <p:cNvSpPr/>
          <p:nvPr/>
        </p:nvSpPr>
        <p:spPr>
          <a:xfrm>
            <a:off x="640035" y="3240732"/>
            <a:ext cx="1608252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A4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006276" y="3240732"/>
            <a:ext cx="886971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A4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98.04%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691825" y="3240732"/>
            <a:ext cx="508434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0.89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189122" y="3240732"/>
            <a:ext cx="506403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0.95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683698" y="3240732"/>
            <a:ext cx="509885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0.92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57200" y="3541440"/>
            <a:ext cx="8229600" cy="404813"/>
          </a:xfrm>
          <a:prstGeom prst="rect">
            <a:avLst/>
          </a:prstGeom>
          <a:solidFill>
            <a:srgbClr val="FFE000">
              <a:alpha val="6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40035" y="3646587"/>
            <a:ext cx="955849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E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XGBoost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009963" y="3646587"/>
            <a:ext cx="879522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E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98.28%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680421" y="3646587"/>
            <a:ext cx="531168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E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0.93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178105" y="3646587"/>
            <a:ext cx="528362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E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0.92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673057" y="3646587"/>
            <a:ext cx="531168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E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0.93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0" y="5118757"/>
            <a:ext cx="9144000" cy="23812"/>
          </a:xfrm>
          <a:prstGeom prst="rect">
            <a:avLst/>
          </a:prstGeom>
          <a:solidFill>
            <a:srgbClr val="1DA462"/>
          </a:solidFill>
          <a:ln/>
        </p:spPr>
      </p:sp>
      <p:pic>
        <p:nvPicPr>
          <p:cNvPr id="4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6567" y="1079897"/>
            <a:ext cx="2571750" cy="1109662"/>
          </a:xfrm>
          <a:prstGeom prst="rect">
            <a:avLst/>
          </a:prstGeom>
        </p:spPr>
      </p:pic>
      <p:pic>
        <p:nvPicPr>
          <p:cNvPr id="4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55132" y="1079897"/>
            <a:ext cx="2633662" cy="1109662"/>
          </a:xfrm>
          <a:prstGeom prst="rect">
            <a:avLst/>
          </a:prstGeom>
        </p:spPr>
      </p:pic>
      <p:pic>
        <p:nvPicPr>
          <p:cNvPr id="4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15645" y="1079897"/>
            <a:ext cx="2571750" cy="1109662"/>
          </a:xfrm>
          <a:prstGeom prst="rect">
            <a:avLst/>
          </a:prstGeom>
        </p:spPr>
      </p:pic>
      <p:pic>
        <p:nvPicPr>
          <p:cNvPr id="4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7200" y="2729731"/>
            <a:ext cx="8229600" cy="404813"/>
          </a:xfrm>
          <a:prstGeom prst="rect">
            <a:avLst/>
          </a:prstGeom>
        </p:spPr>
      </p:pic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7200" y="3135585"/>
            <a:ext cx="8229600" cy="404813"/>
          </a:xfrm>
          <a:prstGeom prst="rect">
            <a:avLst/>
          </a:prstGeom>
        </p:spPr>
      </p:pic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57200" y="3541440"/>
            <a:ext cx="8229600" cy="40481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FFE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10443"/>
            <a:ext cx="1719984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790" b="1" spc="174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BLINKIT CAPSTONE</a:t>
            </a:r>
            <a:endParaRPr lang="en-US" sz="790" dirty="0"/>
          </a:p>
        </p:txBody>
      </p:sp>
      <p:sp>
        <p:nvSpPr>
          <p:cNvPr id="5" name="Text 3"/>
          <p:cNvSpPr/>
          <p:nvPr/>
        </p:nvSpPr>
        <p:spPr>
          <a:xfrm>
            <a:off x="457200" y="340519"/>
            <a:ext cx="702279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Business Recommendations</a:t>
            </a:r>
            <a:endParaRPr lang="en-US" sz="2880" dirty="0"/>
          </a:p>
        </p:txBody>
      </p:sp>
      <p:sp>
        <p:nvSpPr>
          <p:cNvPr id="6" name="Shape 4"/>
          <p:cNvSpPr/>
          <p:nvPr/>
        </p:nvSpPr>
        <p:spPr>
          <a:xfrm>
            <a:off x="457200" y="1078929"/>
            <a:ext cx="4000500" cy="1866900"/>
          </a:xfrm>
          <a:prstGeom prst="roundRect">
            <a:avLst>
              <a:gd name="adj" fmla="val 4898"/>
            </a:avLst>
          </a:prstGeom>
          <a:solidFill>
            <a:srgbClr val="1C1C1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47924"/>
            <a:ext cx="2009329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pPr algn="l" indent="0" marL="0">
              <a:spcAft>
                <a:spcPts val="607"/>
              </a:spcAft>
              <a:buNone/>
            </a:pPr>
            <a:r>
              <a:rPr lang="en-US" sz="108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Improve Routing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686967"/>
            <a:ext cx="4391218" cy="10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 delivery route algorithms to</a:t>
            </a:r>
            <a:endParaRPr lang="en-US" sz="1440" dirty="0"/>
          </a:p>
          <a:p>
            <a:pPr algn="l" indent="0" marL="0">
              <a:lnSpc>
                <a:spcPts val="2232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 average transit time, especially</a:t>
            </a:r>
            <a:endParaRPr lang="en-US" sz="1440" dirty="0"/>
          </a:p>
          <a:p>
            <a:pPr algn="l" indent="0" marL="0">
              <a:lnSpc>
                <a:spcPts val="2232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high-distance orders that show the</a:t>
            </a:r>
            <a:endParaRPr lang="en-US" sz="1440" dirty="0"/>
          </a:p>
          <a:p>
            <a:pPr algn="l" indent="0" marL="0">
              <a:lnSpc>
                <a:spcPts val="2232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strongest correlation with delays.</a:t>
            </a:r>
            <a:endParaRPr lang="en-US" sz="1440" dirty="0"/>
          </a:p>
        </p:txBody>
      </p:sp>
      <p:sp>
        <p:nvSpPr>
          <p:cNvPr id="9" name="Shape 7"/>
          <p:cNvSpPr/>
          <p:nvPr/>
        </p:nvSpPr>
        <p:spPr>
          <a:xfrm>
            <a:off x="4686300" y="1078929"/>
            <a:ext cx="4000500" cy="1866900"/>
          </a:xfrm>
          <a:prstGeom prst="roundRect">
            <a:avLst>
              <a:gd name="adj" fmla="val 4898"/>
            </a:avLst>
          </a:prstGeom>
          <a:solidFill>
            <a:srgbClr val="1C1C1C"/>
          </a:solidFill>
          <a:ln/>
        </p:spPr>
      </p:sp>
      <p:sp>
        <p:nvSpPr>
          <p:cNvPr id="10" name="Text 8"/>
          <p:cNvSpPr/>
          <p:nvPr/>
        </p:nvSpPr>
        <p:spPr>
          <a:xfrm>
            <a:off x="4914900" y="1247924"/>
            <a:ext cx="2327211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pPr algn="l" indent="0" marL="0">
              <a:spcAft>
                <a:spcPts val="607"/>
              </a:spcAft>
              <a:buNone/>
            </a:pPr>
            <a:r>
              <a:rPr lang="en-US" sz="108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Increase Resources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14900" y="1686967"/>
            <a:ext cx="4524524" cy="10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Allocate additional delivery personnel</a:t>
            </a:r>
            <a:endParaRPr lang="en-US" sz="1440" dirty="0"/>
          </a:p>
          <a:p>
            <a:pPr algn="l" indent="0" marL="0">
              <a:lnSpc>
                <a:spcPts val="2232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vehicles to cities and time windows</a:t>
            </a:r>
            <a:endParaRPr lang="en-US" sz="1440" dirty="0"/>
          </a:p>
          <a:p>
            <a:pPr algn="l" indent="0" marL="0">
              <a:lnSpc>
                <a:spcPts val="2232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the highest delay rates identified in</a:t>
            </a:r>
            <a:endParaRPr lang="en-US" sz="1440" dirty="0"/>
          </a:p>
          <a:p>
            <a:pPr algn="l" indent="0" marL="0">
              <a:lnSpc>
                <a:spcPts val="2232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SQL and EDA analysis.</a:t>
            </a:r>
            <a:endParaRPr lang="en-US" sz="1440" dirty="0"/>
          </a:p>
        </p:txBody>
      </p:sp>
      <p:sp>
        <p:nvSpPr>
          <p:cNvPr id="12" name="Shape 10"/>
          <p:cNvSpPr/>
          <p:nvPr/>
        </p:nvSpPr>
        <p:spPr>
          <a:xfrm>
            <a:off x="457200" y="3072073"/>
            <a:ext cx="4000500" cy="1866900"/>
          </a:xfrm>
          <a:prstGeom prst="roundRect">
            <a:avLst>
              <a:gd name="adj" fmla="val 4898"/>
            </a:avLst>
          </a:prstGeom>
          <a:solidFill>
            <a:srgbClr val="1C1C1C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241030"/>
            <a:ext cx="2518752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pPr algn="l" indent="0" marL="0">
              <a:spcAft>
                <a:spcPts val="607"/>
              </a:spcAft>
              <a:buNone/>
            </a:pPr>
            <a:r>
              <a:rPr lang="en-US" sz="108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Predictive Monitoring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5800" y="3680073"/>
            <a:ext cx="4591757" cy="10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the XGBoost model in operations</a:t>
            </a:r>
            <a:endParaRPr lang="en-US" sz="1440" dirty="0"/>
          </a:p>
          <a:p>
            <a:pPr algn="l" indent="0" marL="0">
              <a:lnSpc>
                <a:spcPts val="2232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flag at-risk orders before dispatch,</a:t>
            </a:r>
            <a:endParaRPr lang="en-US" sz="1440" dirty="0"/>
          </a:p>
          <a:p>
            <a:pPr algn="l" indent="0" marL="0">
              <a:lnSpc>
                <a:spcPts val="2232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enabling proactive intervention before</a:t>
            </a:r>
            <a:endParaRPr lang="en-US" sz="1440" dirty="0"/>
          </a:p>
          <a:p>
            <a:pPr algn="l" indent="0" marL="0">
              <a:lnSpc>
                <a:spcPts val="2232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delays impact customers.</a:t>
            </a:r>
            <a:endParaRPr lang="en-US" sz="1440" dirty="0"/>
          </a:p>
        </p:txBody>
      </p:sp>
      <p:sp>
        <p:nvSpPr>
          <p:cNvPr id="15" name="Shape 13"/>
          <p:cNvSpPr/>
          <p:nvPr/>
        </p:nvSpPr>
        <p:spPr>
          <a:xfrm>
            <a:off x="4686300" y="3072073"/>
            <a:ext cx="4000500" cy="1866900"/>
          </a:xfrm>
          <a:prstGeom prst="roundRect">
            <a:avLst>
              <a:gd name="adj" fmla="val 4898"/>
            </a:avLst>
          </a:prstGeom>
          <a:solidFill>
            <a:srgbClr val="1C1C1C"/>
          </a:solidFill>
          <a:ln/>
        </p:spPr>
      </p:sp>
      <p:sp>
        <p:nvSpPr>
          <p:cNvPr id="16" name="Text 14"/>
          <p:cNvSpPr/>
          <p:nvPr/>
        </p:nvSpPr>
        <p:spPr>
          <a:xfrm>
            <a:off x="4914900" y="3241030"/>
            <a:ext cx="2110710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pPr algn="l" indent="0" marL="0">
              <a:spcAft>
                <a:spcPts val="607"/>
              </a:spcAft>
              <a:buNone/>
            </a:pPr>
            <a:r>
              <a:rPr lang="en-US" sz="108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Partner Tracking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914900" y="3680073"/>
            <a:ext cx="4651444" cy="10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Establish delivery partner performance</a:t>
            </a:r>
            <a:endParaRPr lang="en-US" sz="1440" dirty="0"/>
          </a:p>
          <a:p>
            <a:pPr algn="l" indent="0" marL="0">
              <a:lnSpc>
                <a:spcPts val="2232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scorecards and accountability systems</a:t>
            </a:r>
            <a:endParaRPr lang="en-US" sz="1440" dirty="0"/>
          </a:p>
          <a:p>
            <a:pPr algn="l" indent="0" marL="0">
              <a:lnSpc>
                <a:spcPts val="2232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identify underperforming partners and</a:t>
            </a:r>
            <a:endParaRPr lang="en-US" sz="1440" dirty="0"/>
          </a:p>
          <a:p>
            <a:pPr algn="l" indent="0" marL="0">
              <a:lnSpc>
                <a:spcPts val="2232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 consistent on-time delivery.</a:t>
            </a:r>
            <a:endParaRPr lang="en-US" sz="1440" dirty="0"/>
          </a:p>
        </p:txBody>
      </p:sp>
      <p:sp>
        <p:nvSpPr>
          <p:cNvPr id="18" name="Shape 16"/>
          <p:cNvSpPr/>
          <p:nvPr/>
        </p:nvSpPr>
        <p:spPr>
          <a:xfrm>
            <a:off x="0" y="5118757"/>
            <a:ext cx="9144000" cy="23812"/>
          </a:xfrm>
          <a:prstGeom prst="rect">
            <a:avLst/>
          </a:prstGeom>
          <a:solidFill>
            <a:srgbClr val="1DA462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078929"/>
            <a:ext cx="4000500" cy="1866900"/>
          </a:xfrm>
          <a:prstGeom prst="rect">
            <a:avLst/>
          </a:prstGeom>
        </p:spPr>
      </p:pic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86300" y="1078929"/>
            <a:ext cx="4000500" cy="1866900"/>
          </a:xfrm>
          <a:prstGeom prst="rect">
            <a:avLst/>
          </a:prstGeom>
        </p:spPr>
      </p:pic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200" y="3072073"/>
            <a:ext cx="4000500" cy="1866900"/>
          </a:xfrm>
          <a:prstGeom prst="rect">
            <a:avLst/>
          </a:prstGeom>
        </p:spPr>
      </p:pic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86300" y="3072073"/>
            <a:ext cx="4000500" cy="18669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FFE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10443"/>
            <a:ext cx="1719984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790" b="1" spc="174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BLINKIT CAPSTONE</a:t>
            </a:r>
            <a:endParaRPr lang="en-US" sz="790" dirty="0"/>
          </a:p>
        </p:txBody>
      </p:sp>
      <p:sp>
        <p:nvSpPr>
          <p:cNvPr id="5" name="Text 3"/>
          <p:cNvSpPr/>
          <p:nvPr/>
        </p:nvSpPr>
        <p:spPr>
          <a:xfrm>
            <a:off x="457200" y="340519"/>
            <a:ext cx="5571716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Interactive Dashboard</a:t>
            </a:r>
            <a:endParaRPr lang="en-US" sz="2880" dirty="0"/>
          </a:p>
        </p:txBody>
      </p:sp>
      <p:sp>
        <p:nvSpPr>
          <p:cNvPr id="6" name="Shape 4"/>
          <p:cNvSpPr/>
          <p:nvPr/>
        </p:nvSpPr>
        <p:spPr>
          <a:xfrm>
            <a:off x="457200" y="1081087"/>
            <a:ext cx="8229600" cy="1119188"/>
          </a:xfrm>
          <a:prstGeom prst="roundRect">
            <a:avLst>
              <a:gd name="adj" fmla="val 9804"/>
            </a:avLst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764828" y="1232520"/>
            <a:ext cx="9742393" cy="80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68"/>
              </a:lnSpc>
              <a:buNone/>
            </a:pPr>
            <a:r>
              <a:rPr lang="en-US" sz="151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in </a:t>
            </a:r>
            <a:pPr algn="l" indent="0" marL="0">
              <a:lnSpc>
                <a:spcPts val="2268"/>
              </a:lnSpc>
              <a:buNone/>
            </a:pPr>
            <a:r>
              <a:rPr lang="en-US" sz="1510" b="1" dirty="0">
                <a:solidFill>
                  <a:srgbClr val="FFE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Tableau</a:t>
            </a:r>
            <a:pPr algn="l" indent="0" marL="0">
              <a:lnSpc>
                <a:spcPts val="2268"/>
              </a:lnSpc>
              <a:buNone/>
            </a:pPr>
            <a:r>
              <a:rPr lang="en-US" sz="151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an executive-friendly dashboard presenting all key findings in a</a:t>
            </a:r>
            <a:endParaRPr lang="en-US" sz="1510" dirty="0"/>
          </a:p>
          <a:p>
            <a:pPr algn="l" indent="0" marL="0">
              <a:lnSpc>
                <a:spcPts val="2268"/>
              </a:lnSpc>
              <a:buNone/>
            </a:pPr>
            <a:r>
              <a:rPr lang="en-US" sz="151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interactive interface, designed for operations teams to explore delivery</a:t>
            </a:r>
            <a:endParaRPr lang="en-US" sz="1510" dirty="0"/>
          </a:p>
          <a:p>
            <a:pPr algn="l" indent="0" marL="0">
              <a:lnSpc>
                <a:spcPts val="2268"/>
              </a:lnSpc>
              <a:buNone/>
            </a:pPr>
            <a:r>
              <a:rPr lang="en-US" sz="151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data without writing SQL.</a:t>
            </a:r>
            <a:endParaRPr lang="en-US" sz="1510" dirty="0"/>
          </a:p>
        </p:txBody>
      </p:sp>
      <p:sp>
        <p:nvSpPr>
          <p:cNvPr id="8" name="Shape 6"/>
          <p:cNvSpPr/>
          <p:nvPr/>
        </p:nvSpPr>
        <p:spPr>
          <a:xfrm>
            <a:off x="457200" y="2356582"/>
            <a:ext cx="2590800" cy="3238500"/>
          </a:xfrm>
          <a:prstGeom prst="roundRect">
            <a:avLst>
              <a:gd name="adj" fmla="val 4235"/>
            </a:avLst>
          </a:prstGeom>
          <a:solidFill>
            <a:srgbClr val="1C1C1C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573610"/>
            <a:ext cx="1028112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2880" dirty="0">
                <a:solidFill>
                  <a:srgbClr val="FFE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KPIs</a:t>
            </a:r>
            <a:endParaRPr lang="en-US" sz="2880" dirty="0"/>
          </a:p>
        </p:txBody>
      </p:sp>
      <p:sp>
        <p:nvSpPr>
          <p:cNvPr id="10" name="Text 8"/>
          <p:cNvSpPr/>
          <p:nvPr/>
        </p:nvSpPr>
        <p:spPr>
          <a:xfrm>
            <a:off x="685800" y="3205981"/>
            <a:ext cx="2514593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15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Performance Metrics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85800" y="3561606"/>
            <a:ext cx="2360488" cy="520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76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Avg delivery time</a:t>
            </a:r>
            <a:endParaRPr lang="en-US" sz="1440" dirty="0"/>
          </a:p>
          <a:p>
            <a:pPr algn="l" indent="0" marL="0">
              <a:lnSpc>
                <a:spcPts val="2376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at-a-glance</a:t>
            </a:r>
            <a:endParaRPr lang="en-US" sz="1440" dirty="0"/>
          </a:p>
        </p:txBody>
      </p:sp>
      <p:sp>
        <p:nvSpPr>
          <p:cNvPr id="12" name="Text 10"/>
          <p:cNvSpPr/>
          <p:nvPr/>
        </p:nvSpPr>
        <p:spPr>
          <a:xfrm>
            <a:off x="685800" y="4206180"/>
            <a:ext cx="2581342" cy="520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76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Overall late delivery</a:t>
            </a:r>
            <a:endParaRPr lang="en-US" sz="1440" dirty="0"/>
          </a:p>
          <a:p>
            <a:pPr algn="l" indent="0" marL="0">
              <a:lnSpc>
                <a:spcPts val="2376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</a:t>
            </a:r>
            <a:endParaRPr lang="en-US" sz="1440" dirty="0"/>
          </a:p>
        </p:txBody>
      </p:sp>
      <p:sp>
        <p:nvSpPr>
          <p:cNvPr id="13" name="Text 11"/>
          <p:cNvSpPr/>
          <p:nvPr/>
        </p:nvSpPr>
        <p:spPr>
          <a:xfrm>
            <a:off x="685800" y="4850755"/>
            <a:ext cx="2362713" cy="520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76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City and category</a:t>
            </a:r>
            <a:endParaRPr lang="en-US" sz="1440" dirty="0"/>
          </a:p>
          <a:p>
            <a:pPr algn="l" indent="0" marL="0">
              <a:lnSpc>
                <a:spcPts val="2376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</a:t>
            </a:r>
            <a:endParaRPr lang="en-US" sz="1440" dirty="0"/>
          </a:p>
        </p:txBody>
      </p:sp>
      <p:sp>
        <p:nvSpPr>
          <p:cNvPr id="14" name="Shape 12"/>
          <p:cNvSpPr/>
          <p:nvPr/>
        </p:nvSpPr>
        <p:spPr>
          <a:xfrm>
            <a:off x="3276600" y="2356582"/>
            <a:ext cx="2590800" cy="3238500"/>
          </a:xfrm>
          <a:prstGeom prst="roundRect">
            <a:avLst>
              <a:gd name="adj" fmla="val 4235"/>
            </a:avLst>
          </a:prstGeom>
          <a:solidFill>
            <a:srgbClr val="1C1C1C"/>
          </a:solidFill>
          <a:ln/>
        </p:spPr>
      </p:sp>
      <p:sp>
        <p:nvSpPr>
          <p:cNvPr id="15" name="Text 13"/>
          <p:cNvSpPr/>
          <p:nvPr/>
        </p:nvSpPr>
        <p:spPr>
          <a:xfrm>
            <a:off x="3505200" y="2573610"/>
            <a:ext cx="1413227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2880" dirty="0">
                <a:solidFill>
                  <a:srgbClr val="1DA46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Filters</a:t>
            </a:r>
            <a:endParaRPr lang="en-US" sz="2880" dirty="0"/>
          </a:p>
        </p:txBody>
      </p:sp>
      <p:sp>
        <p:nvSpPr>
          <p:cNvPr id="16" name="Text 14"/>
          <p:cNvSpPr/>
          <p:nvPr/>
        </p:nvSpPr>
        <p:spPr>
          <a:xfrm>
            <a:off x="3505200" y="3205981"/>
            <a:ext cx="1769418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15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Interactive Filters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505200" y="3561606"/>
            <a:ext cx="2227957" cy="520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76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Filter by city and</a:t>
            </a:r>
            <a:endParaRPr lang="en-US" sz="1440" dirty="0"/>
          </a:p>
          <a:p>
            <a:pPr algn="l" indent="0" marL="0">
              <a:lnSpc>
                <a:spcPts val="2376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</a:t>
            </a:r>
            <a:endParaRPr lang="en-US" sz="1440" dirty="0"/>
          </a:p>
        </p:txBody>
      </p:sp>
      <p:sp>
        <p:nvSpPr>
          <p:cNvPr id="18" name="Text 16"/>
          <p:cNvSpPr/>
          <p:nvPr/>
        </p:nvSpPr>
        <p:spPr>
          <a:xfrm>
            <a:off x="3505200" y="4206180"/>
            <a:ext cx="2205514" cy="520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76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Filter by product</a:t>
            </a:r>
            <a:endParaRPr lang="en-US" sz="1440" dirty="0"/>
          </a:p>
          <a:p>
            <a:pPr algn="l" indent="0" marL="0">
              <a:lnSpc>
                <a:spcPts val="2376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3505200" y="4850755"/>
            <a:ext cx="2311636" cy="520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76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Filter by date and</a:t>
            </a:r>
            <a:endParaRPr lang="en-US" sz="1440" dirty="0"/>
          </a:p>
          <a:p>
            <a:pPr algn="l" indent="0" marL="0">
              <a:lnSpc>
                <a:spcPts val="2376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range</a:t>
            </a:r>
            <a:endParaRPr lang="en-US" sz="1440" dirty="0"/>
          </a:p>
        </p:txBody>
      </p:sp>
      <p:sp>
        <p:nvSpPr>
          <p:cNvPr id="20" name="Shape 18"/>
          <p:cNvSpPr/>
          <p:nvPr/>
        </p:nvSpPr>
        <p:spPr>
          <a:xfrm>
            <a:off x="6096000" y="2356582"/>
            <a:ext cx="2590800" cy="3238500"/>
          </a:xfrm>
          <a:prstGeom prst="roundRect">
            <a:avLst>
              <a:gd name="adj" fmla="val 4235"/>
            </a:avLst>
          </a:prstGeom>
          <a:solidFill>
            <a:srgbClr val="1C1C1C"/>
          </a:solidFill>
          <a:ln/>
        </p:spPr>
      </p:sp>
      <p:sp>
        <p:nvSpPr>
          <p:cNvPr id="21" name="Text 19"/>
          <p:cNvSpPr/>
          <p:nvPr/>
        </p:nvSpPr>
        <p:spPr>
          <a:xfrm>
            <a:off x="6324600" y="2573610"/>
            <a:ext cx="1848259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2880" dirty="0">
                <a:solidFill>
                  <a:srgbClr val="FFE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Insights</a:t>
            </a:r>
            <a:endParaRPr lang="en-US" sz="2880" dirty="0"/>
          </a:p>
        </p:txBody>
      </p:sp>
      <p:sp>
        <p:nvSpPr>
          <p:cNvPr id="22" name="Text 20"/>
          <p:cNvSpPr/>
          <p:nvPr/>
        </p:nvSpPr>
        <p:spPr>
          <a:xfrm>
            <a:off x="6324600" y="3205981"/>
            <a:ext cx="2058955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15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Operational Insights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324600" y="3561606"/>
            <a:ext cx="2032739" cy="520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76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Delay hotspots</a:t>
            </a:r>
            <a:endParaRPr lang="en-US" sz="1440" dirty="0"/>
          </a:p>
          <a:p>
            <a:pPr algn="l" indent="0" marL="0">
              <a:lnSpc>
                <a:spcPts val="2376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identified</a:t>
            </a:r>
            <a:endParaRPr lang="en-US" sz="1440" dirty="0"/>
          </a:p>
        </p:txBody>
      </p:sp>
      <p:sp>
        <p:nvSpPr>
          <p:cNvPr id="24" name="Text 22"/>
          <p:cNvSpPr/>
          <p:nvPr/>
        </p:nvSpPr>
        <p:spPr>
          <a:xfrm>
            <a:off x="6324600" y="4206180"/>
            <a:ext cx="2254270" cy="520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76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Model prediction</a:t>
            </a:r>
            <a:endParaRPr lang="en-US" sz="1440" dirty="0"/>
          </a:p>
          <a:p>
            <a:pPr algn="l" indent="0" marL="0">
              <a:lnSpc>
                <a:spcPts val="2376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summary</a:t>
            </a:r>
            <a:endParaRPr lang="en-US" sz="1440" dirty="0"/>
          </a:p>
        </p:txBody>
      </p:sp>
      <p:sp>
        <p:nvSpPr>
          <p:cNvPr id="25" name="Text 23"/>
          <p:cNvSpPr/>
          <p:nvPr/>
        </p:nvSpPr>
        <p:spPr>
          <a:xfrm>
            <a:off x="6324600" y="4850755"/>
            <a:ext cx="2344236" cy="520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76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Trend charts over</a:t>
            </a:r>
            <a:endParaRPr lang="en-US" sz="1440" dirty="0"/>
          </a:p>
          <a:p>
            <a:pPr algn="l" indent="0" marL="0">
              <a:lnSpc>
                <a:spcPts val="2376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</a:t>
            </a:r>
            <a:endParaRPr lang="en-US" sz="1440" dirty="0"/>
          </a:p>
        </p:txBody>
      </p:sp>
      <p:sp>
        <p:nvSpPr>
          <p:cNvPr id="26" name="Shape 24"/>
          <p:cNvSpPr/>
          <p:nvPr/>
        </p:nvSpPr>
        <p:spPr>
          <a:xfrm>
            <a:off x="0" y="5118757"/>
            <a:ext cx="9144000" cy="23812"/>
          </a:xfrm>
          <a:prstGeom prst="rect">
            <a:avLst/>
          </a:prstGeom>
          <a:solidFill>
            <a:srgbClr val="1DA462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081087"/>
            <a:ext cx="8229600" cy="1119188"/>
          </a:xfrm>
          <a:prstGeom prst="rect">
            <a:avLst/>
          </a:prstGeom>
        </p:spPr>
      </p:pic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2356582"/>
            <a:ext cx="2590800" cy="3238500"/>
          </a:xfrm>
          <a:prstGeom prst="rect">
            <a:avLst/>
          </a:prstGeom>
        </p:spPr>
      </p:pic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76600" y="2356582"/>
            <a:ext cx="2590800" cy="3238500"/>
          </a:xfrm>
          <a:prstGeom prst="rect">
            <a:avLst/>
          </a:prstGeom>
        </p:spPr>
      </p:pic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96000" y="2356582"/>
            <a:ext cx="2590800" cy="3238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FFE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10443"/>
            <a:ext cx="1719984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790" b="1" spc="174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BLINKIT CAPSTONE</a:t>
            </a:r>
            <a:endParaRPr lang="en-US" sz="790" dirty="0"/>
          </a:p>
        </p:txBody>
      </p:sp>
      <p:sp>
        <p:nvSpPr>
          <p:cNvPr id="5" name="Text 3"/>
          <p:cNvSpPr/>
          <p:nvPr/>
        </p:nvSpPr>
        <p:spPr>
          <a:xfrm>
            <a:off x="457200" y="340519"/>
            <a:ext cx="5834167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Challenges &amp; Learnings</a:t>
            </a:r>
            <a:endParaRPr lang="en-US" sz="2880" dirty="0"/>
          </a:p>
        </p:txBody>
      </p:sp>
      <p:sp>
        <p:nvSpPr>
          <p:cNvPr id="6" name="Shape 4"/>
          <p:cNvSpPr/>
          <p:nvPr/>
        </p:nvSpPr>
        <p:spPr>
          <a:xfrm>
            <a:off x="457200" y="1081050"/>
            <a:ext cx="4000500" cy="1866900"/>
          </a:xfrm>
          <a:prstGeom prst="roundRect">
            <a:avLst>
              <a:gd name="adj" fmla="val 4898"/>
            </a:avLst>
          </a:prstGeom>
          <a:solidFill>
            <a:srgbClr val="1C1C1C"/>
          </a:solidFill>
          <a:ln/>
        </p:spPr>
      </p:sp>
      <p:sp>
        <p:nvSpPr>
          <p:cNvPr id="7" name="Shape 5"/>
          <p:cNvSpPr/>
          <p:nvPr/>
        </p:nvSpPr>
        <p:spPr>
          <a:xfrm>
            <a:off x="686135" y="1225153"/>
            <a:ext cx="361950" cy="285750"/>
          </a:xfrm>
          <a:prstGeom prst="roundRect">
            <a:avLst>
              <a:gd name="adj" fmla="val 19200"/>
            </a:avLst>
          </a:prstGeom>
          <a:solidFill>
            <a:srgbClr val="FFE000"/>
          </a:solidFill>
          <a:ln/>
        </p:spPr>
      </p:sp>
      <p:sp>
        <p:nvSpPr>
          <p:cNvPr id="8" name="Text 6"/>
          <p:cNvSpPr/>
          <p:nvPr/>
        </p:nvSpPr>
        <p:spPr>
          <a:xfrm>
            <a:off x="795486" y="1269950"/>
            <a:ext cx="24337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22"/>
              </a:spcBef>
              <a:buNone/>
            </a:pPr>
            <a:r>
              <a:rPr lang="en-US" sz="108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1231255" y="1213470"/>
            <a:ext cx="221750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86"/>
              </a:spcAft>
              <a:buNone/>
            </a:pPr>
            <a:r>
              <a:rPr lang="en-US" sz="130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Preprocessing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1255" y="1541115"/>
            <a:ext cx="3763387" cy="1251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Handling missing values, encoding</a:t>
            </a:r>
            <a:endParaRPr lang="en-US" sz="1370" dirty="0"/>
          </a:p>
          <a:p>
            <a:pPr algn="l" indent="0" marL="0">
              <a:lnSpc>
                <a:spcPts val="2052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categoricals, and scaling features</a:t>
            </a:r>
            <a:endParaRPr lang="en-US" sz="1370" dirty="0"/>
          </a:p>
          <a:p>
            <a:pPr algn="l" indent="0" marL="0">
              <a:lnSpc>
                <a:spcPts val="2052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correctly for each model type</a:t>
            </a:r>
            <a:endParaRPr lang="en-US" sz="1370" dirty="0"/>
          </a:p>
          <a:p>
            <a:pPr algn="l" indent="0" marL="0">
              <a:lnSpc>
                <a:spcPts val="2052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required careful planning and</a:t>
            </a:r>
            <a:endParaRPr lang="en-US" sz="1370" dirty="0"/>
          </a:p>
          <a:p>
            <a:pPr algn="l" indent="0" marL="0">
              <a:lnSpc>
                <a:spcPts val="2052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iteration.</a:t>
            </a:r>
            <a:endParaRPr lang="en-US" sz="1370" dirty="0"/>
          </a:p>
        </p:txBody>
      </p:sp>
      <p:sp>
        <p:nvSpPr>
          <p:cNvPr id="11" name="Shape 9"/>
          <p:cNvSpPr/>
          <p:nvPr/>
        </p:nvSpPr>
        <p:spPr>
          <a:xfrm>
            <a:off x="4686300" y="1081050"/>
            <a:ext cx="4000500" cy="1866900"/>
          </a:xfrm>
          <a:prstGeom prst="roundRect">
            <a:avLst>
              <a:gd name="adj" fmla="val 4898"/>
            </a:avLst>
          </a:prstGeom>
          <a:solidFill>
            <a:srgbClr val="1C1C1C"/>
          </a:solidFill>
          <a:ln/>
        </p:spPr>
      </p:sp>
      <p:sp>
        <p:nvSpPr>
          <p:cNvPr id="12" name="Shape 10"/>
          <p:cNvSpPr/>
          <p:nvPr/>
        </p:nvSpPr>
        <p:spPr>
          <a:xfrm>
            <a:off x="4915793" y="1225153"/>
            <a:ext cx="385763" cy="285750"/>
          </a:xfrm>
          <a:prstGeom prst="roundRect">
            <a:avLst>
              <a:gd name="adj" fmla="val 19200"/>
            </a:avLst>
          </a:prstGeom>
          <a:solidFill>
            <a:srgbClr val="1DA462"/>
          </a:solidFill>
          <a:ln/>
        </p:spPr>
      </p:sp>
      <p:sp>
        <p:nvSpPr>
          <p:cNvPr id="13" name="Text 11"/>
          <p:cNvSpPr/>
          <p:nvPr/>
        </p:nvSpPr>
        <p:spPr>
          <a:xfrm>
            <a:off x="5024586" y="1269950"/>
            <a:ext cx="2757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22"/>
              </a:spcBef>
              <a:buNone/>
            </a:pPr>
            <a:r>
              <a:rPr lang="en-US" sz="10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5485284" y="1213470"/>
            <a:ext cx="154247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86"/>
              </a:spcAft>
              <a:buNone/>
            </a:pPr>
            <a:r>
              <a:rPr lang="en-US" sz="130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 Tuning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5284" y="1541115"/>
            <a:ext cx="3842519" cy="1251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Finding the optimal XGBoost</a:t>
            </a:r>
            <a:endParaRPr lang="en-US" sz="1370" dirty="0"/>
          </a:p>
          <a:p>
            <a:pPr algn="l" indent="0" marL="0">
              <a:lnSpc>
                <a:spcPts val="2052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hyperparameters via GridSearchCV</a:t>
            </a:r>
            <a:endParaRPr lang="en-US" sz="1370" dirty="0"/>
          </a:p>
          <a:p>
            <a:pPr algn="l" indent="0" marL="0">
              <a:lnSpc>
                <a:spcPts val="2052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was computationally intensive —</a:t>
            </a:r>
            <a:endParaRPr lang="en-US" sz="1370" dirty="0"/>
          </a:p>
          <a:p>
            <a:pPr algn="l" indent="0" marL="0">
              <a:lnSpc>
                <a:spcPts val="2052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taught us to balance tuning depth</a:t>
            </a:r>
            <a:endParaRPr lang="en-US" sz="1370" dirty="0"/>
          </a:p>
          <a:p>
            <a:pPr algn="l" indent="0" marL="0">
              <a:lnSpc>
                <a:spcPts val="2052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practical training time.</a:t>
            </a:r>
            <a:endParaRPr lang="en-US" sz="1370" dirty="0"/>
          </a:p>
        </p:txBody>
      </p:sp>
      <p:sp>
        <p:nvSpPr>
          <p:cNvPr id="16" name="Shape 14"/>
          <p:cNvSpPr/>
          <p:nvPr/>
        </p:nvSpPr>
        <p:spPr>
          <a:xfrm>
            <a:off x="457200" y="3078398"/>
            <a:ext cx="4000500" cy="1866900"/>
          </a:xfrm>
          <a:prstGeom prst="roundRect">
            <a:avLst>
              <a:gd name="adj" fmla="val 4898"/>
            </a:avLst>
          </a:prstGeom>
          <a:solidFill>
            <a:srgbClr val="1C1C1C"/>
          </a:solidFill>
          <a:ln/>
        </p:spPr>
      </p:sp>
      <p:sp>
        <p:nvSpPr>
          <p:cNvPr id="17" name="Shape 15"/>
          <p:cNvSpPr/>
          <p:nvPr/>
        </p:nvSpPr>
        <p:spPr>
          <a:xfrm>
            <a:off x="684758" y="3222501"/>
            <a:ext cx="395287" cy="285750"/>
          </a:xfrm>
          <a:prstGeom prst="roundRect">
            <a:avLst>
              <a:gd name="adj" fmla="val 19200"/>
            </a:avLst>
          </a:prstGeom>
          <a:solidFill>
            <a:srgbClr val="FFE00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486" y="3267298"/>
            <a:ext cx="28313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22"/>
              </a:spcBef>
              <a:buNone/>
            </a:pPr>
            <a:r>
              <a:rPr lang="en-US" sz="108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1261839" y="3210818"/>
            <a:ext cx="263309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86"/>
              </a:spcAft>
              <a:buNone/>
            </a:pPr>
            <a:r>
              <a:rPr lang="en-US" sz="130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Business Interpretation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61839" y="3538463"/>
            <a:ext cx="3692188" cy="1251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Translating model outputs and</a:t>
            </a:r>
            <a:endParaRPr lang="en-US" sz="1370" dirty="0"/>
          </a:p>
          <a:p>
            <a:pPr algn="l" indent="0" marL="0">
              <a:lnSpc>
                <a:spcPts val="2052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statistical findings into actionable</a:t>
            </a:r>
            <a:endParaRPr lang="en-US" sz="1370" dirty="0"/>
          </a:p>
          <a:p>
            <a:pPr algn="l" indent="0" marL="0">
              <a:lnSpc>
                <a:spcPts val="2052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language — bridging the</a:t>
            </a:r>
            <a:endParaRPr lang="en-US" sz="1370" dirty="0"/>
          </a:p>
          <a:p>
            <a:pPr algn="l" indent="0" marL="0">
              <a:lnSpc>
                <a:spcPts val="2052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 between data science and</a:t>
            </a:r>
            <a:endParaRPr lang="en-US" sz="1370" dirty="0"/>
          </a:p>
          <a:p>
            <a:pPr algn="l" indent="0" marL="0">
              <a:lnSpc>
                <a:spcPts val="2052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decisions.</a:t>
            </a:r>
            <a:endParaRPr lang="en-US" sz="1370" dirty="0"/>
          </a:p>
        </p:txBody>
      </p:sp>
      <p:sp>
        <p:nvSpPr>
          <p:cNvPr id="21" name="Shape 19"/>
          <p:cNvSpPr/>
          <p:nvPr/>
        </p:nvSpPr>
        <p:spPr>
          <a:xfrm>
            <a:off x="4686300" y="3078398"/>
            <a:ext cx="4000500" cy="1866900"/>
          </a:xfrm>
          <a:prstGeom prst="roundRect">
            <a:avLst>
              <a:gd name="adj" fmla="val 4898"/>
            </a:avLst>
          </a:prstGeom>
          <a:solidFill>
            <a:srgbClr val="1C1C1C"/>
          </a:solidFill>
          <a:ln/>
        </p:spPr>
      </p:sp>
      <p:sp>
        <p:nvSpPr>
          <p:cNvPr id="22" name="Shape 20"/>
          <p:cNvSpPr/>
          <p:nvPr/>
        </p:nvSpPr>
        <p:spPr>
          <a:xfrm>
            <a:off x="4914640" y="3222501"/>
            <a:ext cx="404813" cy="285750"/>
          </a:xfrm>
          <a:prstGeom prst="roundRect">
            <a:avLst>
              <a:gd name="adj" fmla="val 19200"/>
            </a:avLst>
          </a:prstGeom>
          <a:solidFill>
            <a:srgbClr val="1DA462"/>
          </a:solidFill>
          <a:ln/>
        </p:spPr>
      </p:sp>
      <p:sp>
        <p:nvSpPr>
          <p:cNvPr id="23" name="Text 21"/>
          <p:cNvSpPr/>
          <p:nvPr/>
        </p:nvSpPr>
        <p:spPr>
          <a:xfrm>
            <a:off x="5024586" y="3267298"/>
            <a:ext cx="29754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22"/>
              </a:spcBef>
              <a:buNone/>
            </a:pPr>
            <a:r>
              <a:rPr lang="en-US" sz="10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5502027" y="3210818"/>
            <a:ext cx="241920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86"/>
              </a:spcAft>
              <a:buNone/>
            </a:pPr>
            <a:r>
              <a:rPr lang="en-US" sz="130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Tools &amp; Collaboration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502027" y="3538463"/>
            <a:ext cx="3705538" cy="1251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Using GitHub for version control</a:t>
            </a:r>
            <a:endParaRPr lang="en-US" sz="1370" dirty="0"/>
          </a:p>
          <a:p>
            <a:pPr algn="l" indent="0" marL="0">
              <a:lnSpc>
                <a:spcPts val="2052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Tableau for dashboard design</a:t>
            </a:r>
            <a:endParaRPr lang="en-US" sz="1370" dirty="0"/>
          </a:p>
          <a:p>
            <a:pPr algn="l" indent="0" marL="0">
              <a:lnSpc>
                <a:spcPts val="2052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strengthened real-world project</a:t>
            </a:r>
            <a:endParaRPr lang="en-US" sz="1370" dirty="0"/>
          </a:p>
          <a:p>
            <a:pPr algn="l" indent="0" marL="0">
              <a:lnSpc>
                <a:spcPts val="2052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collaboration and professional</a:t>
            </a:r>
            <a:endParaRPr lang="en-US" sz="1370" dirty="0"/>
          </a:p>
          <a:p>
            <a:pPr algn="l" indent="0" marL="0">
              <a:lnSpc>
                <a:spcPts val="2052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presentation skills.</a:t>
            </a:r>
            <a:endParaRPr lang="en-US" sz="1370" dirty="0"/>
          </a:p>
        </p:txBody>
      </p:sp>
      <p:sp>
        <p:nvSpPr>
          <p:cNvPr id="26" name="Shape 24"/>
          <p:cNvSpPr/>
          <p:nvPr/>
        </p:nvSpPr>
        <p:spPr>
          <a:xfrm>
            <a:off x="0" y="5118757"/>
            <a:ext cx="9144000" cy="23812"/>
          </a:xfrm>
          <a:prstGeom prst="rect">
            <a:avLst/>
          </a:prstGeom>
          <a:solidFill>
            <a:srgbClr val="1DA462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FFE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10443"/>
            <a:ext cx="1719984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790" b="1" spc="174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BLINKIT CAPSTONE</a:t>
            </a:r>
            <a:endParaRPr lang="en-US" sz="790" dirty="0"/>
          </a:p>
        </p:txBody>
      </p:sp>
      <p:sp>
        <p:nvSpPr>
          <p:cNvPr id="5" name="Text 3"/>
          <p:cNvSpPr/>
          <p:nvPr/>
        </p:nvSpPr>
        <p:spPr>
          <a:xfrm>
            <a:off x="457200" y="340519"/>
            <a:ext cx="2820189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Conclusion</a:t>
            </a:r>
            <a:endParaRPr lang="en-US" sz="2880" dirty="0"/>
          </a:p>
        </p:txBody>
      </p:sp>
      <p:sp>
        <p:nvSpPr>
          <p:cNvPr id="6" name="Shape 4"/>
          <p:cNvSpPr/>
          <p:nvPr/>
        </p:nvSpPr>
        <p:spPr>
          <a:xfrm>
            <a:off x="457200" y="1081050"/>
            <a:ext cx="8229600" cy="1123950"/>
          </a:xfrm>
          <a:prstGeom prst="roundRect">
            <a:avLst>
              <a:gd name="adj" fmla="val 9763"/>
            </a:avLst>
          </a:prstGeom>
          <a:solidFill>
            <a:srgbClr val="1C1C1C"/>
          </a:solidFill>
          <a:ln/>
        </p:spPr>
      </p:sp>
      <p:sp>
        <p:nvSpPr>
          <p:cNvPr id="7" name="Text 5"/>
          <p:cNvSpPr/>
          <p:nvPr/>
        </p:nvSpPr>
        <p:spPr>
          <a:xfrm>
            <a:off x="774353" y="1383953"/>
            <a:ext cx="553611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2880" dirty="0"/>
          </a:p>
        </p:txBody>
      </p:sp>
      <p:sp>
        <p:nvSpPr>
          <p:cNvPr id="8" name="Text 6"/>
          <p:cNvSpPr/>
          <p:nvPr/>
        </p:nvSpPr>
        <p:spPr>
          <a:xfrm>
            <a:off x="1430536" y="1243905"/>
            <a:ext cx="3715211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43"/>
              </a:spcAft>
              <a:buNone/>
            </a:pPr>
            <a:r>
              <a:rPr lang="en-US" sz="144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End-to-End Analytics Pipeline</a:t>
            </a:r>
            <a:endParaRPr lang="en-US" sz="1440" dirty="0"/>
          </a:p>
        </p:txBody>
      </p:sp>
      <p:sp>
        <p:nvSpPr>
          <p:cNvPr id="9" name="Text 7"/>
          <p:cNvSpPr/>
          <p:nvPr/>
        </p:nvSpPr>
        <p:spPr>
          <a:xfrm>
            <a:off x="1430536" y="1553840"/>
            <a:ext cx="8526973" cy="475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Successfully built a complete pipeline from raw data ingestion through SQL</a:t>
            </a:r>
            <a:endParaRPr lang="en-US" sz="1440" dirty="0"/>
          </a:p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analysis, EDA, feature engineering, ML modeling, and Tableau visualization.</a:t>
            </a:r>
            <a:endParaRPr lang="en-US" sz="1440" dirty="0"/>
          </a:p>
        </p:txBody>
      </p:sp>
      <p:sp>
        <p:nvSpPr>
          <p:cNvPr id="10" name="Shape 8"/>
          <p:cNvSpPr/>
          <p:nvPr/>
        </p:nvSpPr>
        <p:spPr>
          <a:xfrm>
            <a:off x="457200" y="2334890"/>
            <a:ext cx="8229600" cy="1381125"/>
          </a:xfrm>
          <a:prstGeom prst="roundRect">
            <a:avLst>
              <a:gd name="adj" fmla="val 7945"/>
            </a:avLst>
          </a:prstGeom>
          <a:solidFill>
            <a:srgbClr val="1C1C1C"/>
          </a:solidFill>
          <a:ln/>
        </p:spPr>
      </p:sp>
      <p:sp>
        <p:nvSpPr>
          <p:cNvPr id="11" name="Text 9"/>
          <p:cNvSpPr/>
          <p:nvPr/>
        </p:nvSpPr>
        <p:spPr>
          <a:xfrm>
            <a:off x="774353" y="2766343"/>
            <a:ext cx="640095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2880" dirty="0"/>
          </a:p>
        </p:txBody>
      </p:sp>
      <p:sp>
        <p:nvSpPr>
          <p:cNvPr id="12" name="Text 10"/>
          <p:cNvSpPr/>
          <p:nvPr/>
        </p:nvSpPr>
        <p:spPr>
          <a:xfrm>
            <a:off x="1497062" y="2498303"/>
            <a:ext cx="3929293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43"/>
              </a:spcAft>
              <a:buNone/>
            </a:pPr>
            <a:r>
              <a:rPr lang="en-US" sz="144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XGBoost Selected as Best Model</a:t>
            </a:r>
            <a:endParaRPr lang="en-US" sz="1440" dirty="0"/>
          </a:p>
        </p:txBody>
      </p:sp>
      <p:sp>
        <p:nvSpPr>
          <p:cNvPr id="13" name="Text 11"/>
          <p:cNvSpPr/>
          <p:nvPr/>
        </p:nvSpPr>
        <p:spPr>
          <a:xfrm>
            <a:off x="1497062" y="2808238"/>
            <a:ext cx="8971776" cy="731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XGBoost achieved the highest accuracy of </a:t>
            </a:r>
            <a:pPr algn="l" indent="0" marL="0">
              <a:lnSpc>
                <a:spcPts val="2016"/>
              </a:lnSpc>
              <a:buNone/>
            </a:pPr>
            <a:r>
              <a:rPr lang="en-US" sz="1440" b="1" dirty="0">
                <a:solidFill>
                  <a:srgbClr val="FFE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98.28%</a:t>
            </a:r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with precision 0.93, recall</a:t>
            </a:r>
            <a:endParaRPr lang="en-US" sz="1440" dirty="0"/>
          </a:p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0.92, and F1 score 0.93 — outperforming both Logistic Regression and Random</a:t>
            </a:r>
            <a:endParaRPr lang="en-US" sz="1440" dirty="0"/>
          </a:p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Forest.</a:t>
            </a:r>
            <a:endParaRPr lang="en-US" sz="1440" dirty="0"/>
          </a:p>
        </p:txBody>
      </p:sp>
      <p:sp>
        <p:nvSpPr>
          <p:cNvPr id="14" name="Shape 12"/>
          <p:cNvSpPr/>
          <p:nvPr/>
        </p:nvSpPr>
        <p:spPr>
          <a:xfrm>
            <a:off x="457200" y="3845347"/>
            <a:ext cx="8229600" cy="1381125"/>
          </a:xfrm>
          <a:prstGeom prst="roundRect">
            <a:avLst>
              <a:gd name="adj" fmla="val 7945"/>
            </a:avLst>
          </a:prstGeom>
          <a:solidFill>
            <a:srgbClr val="1C1C1C"/>
          </a:solidFill>
          <a:ln/>
        </p:spPr>
      </p:sp>
      <p:sp>
        <p:nvSpPr>
          <p:cNvPr id="15" name="Text 13"/>
          <p:cNvSpPr/>
          <p:nvPr/>
        </p:nvSpPr>
        <p:spPr>
          <a:xfrm>
            <a:off x="774353" y="4276799"/>
            <a:ext cx="659636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2880" dirty="0"/>
          </a:p>
        </p:txBody>
      </p:sp>
      <p:sp>
        <p:nvSpPr>
          <p:cNvPr id="16" name="Text 14"/>
          <p:cNvSpPr/>
          <p:nvPr/>
        </p:nvSpPr>
        <p:spPr>
          <a:xfrm>
            <a:off x="1512094" y="4008760"/>
            <a:ext cx="3569717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43"/>
              </a:spcAft>
              <a:buNone/>
            </a:pPr>
            <a:r>
              <a:rPr lang="en-US" sz="144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Actionable Business Insights</a:t>
            </a:r>
            <a:endParaRPr lang="en-US" sz="1440" dirty="0"/>
          </a:p>
        </p:txBody>
      </p:sp>
      <p:sp>
        <p:nvSpPr>
          <p:cNvPr id="17" name="Text 15"/>
          <p:cNvSpPr/>
          <p:nvPr/>
        </p:nvSpPr>
        <p:spPr>
          <a:xfrm>
            <a:off x="1512094" y="4318695"/>
            <a:ext cx="9003603" cy="731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Delivered concrete recommendations — route optimization, resource allocation,</a:t>
            </a:r>
            <a:endParaRPr lang="en-US" sz="1440" dirty="0"/>
          </a:p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monitoring, and partner accountability — to reduce late deliveries</a:t>
            </a:r>
            <a:endParaRPr lang="en-US" sz="1440" dirty="0"/>
          </a:p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improve customer satisfaction.</a:t>
            </a:r>
            <a:endParaRPr lang="en-US" sz="1440" dirty="0"/>
          </a:p>
        </p:txBody>
      </p:sp>
      <p:sp>
        <p:nvSpPr>
          <p:cNvPr id="18" name="Shape 16"/>
          <p:cNvSpPr/>
          <p:nvPr/>
        </p:nvSpPr>
        <p:spPr>
          <a:xfrm>
            <a:off x="0" y="5118757"/>
            <a:ext cx="9144000" cy="23812"/>
          </a:xfrm>
          <a:prstGeom prst="rect">
            <a:avLst/>
          </a:prstGeom>
          <a:solidFill>
            <a:srgbClr val="1DA462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081050"/>
            <a:ext cx="8229600" cy="1123950"/>
          </a:xfrm>
          <a:prstGeom prst="rect">
            <a:avLst/>
          </a:prstGeom>
        </p:spPr>
      </p:pic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2334890"/>
            <a:ext cx="8229600" cy="1381125"/>
          </a:xfrm>
          <a:prstGeom prst="rect">
            <a:avLst/>
          </a:prstGeom>
        </p:spPr>
      </p:pic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200" y="3845347"/>
            <a:ext cx="8229600" cy="138112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60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-1079"/>
            <a:ext cx="9144000" cy="38100"/>
          </a:xfrm>
          <a:prstGeom prst="rect">
            <a:avLst/>
          </a:prstGeom>
          <a:solidFill>
            <a:srgbClr val="FFE00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5205"/>
            <a:ext cx="898676" cy="280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b="1" spc="-32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blinkit</a:t>
            </a:r>
            <a:endParaRPr lang="en-US" sz="1580" dirty="0"/>
          </a:p>
        </p:txBody>
      </p:sp>
      <p:sp>
        <p:nvSpPr>
          <p:cNvPr id="6" name="Text 3"/>
          <p:cNvSpPr/>
          <p:nvPr/>
        </p:nvSpPr>
        <p:spPr>
          <a:xfrm>
            <a:off x="1920184" y="1128340"/>
            <a:ext cx="5303557" cy="1023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1013"/>
              </a:spcAft>
              <a:buNone/>
            </a:pPr>
            <a:r>
              <a:rPr lang="en-US" sz="576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</a:t>
            </a:r>
            <a:endParaRPr lang="en-US" sz="5760" dirty="0"/>
          </a:p>
        </p:txBody>
      </p:sp>
      <p:sp>
        <p:nvSpPr>
          <p:cNvPr id="7" name="Shape 4"/>
          <p:cNvSpPr/>
          <p:nvPr/>
        </p:nvSpPr>
        <p:spPr>
          <a:xfrm>
            <a:off x="3886200" y="2136800"/>
            <a:ext cx="1371600" cy="19050"/>
          </a:xfrm>
          <a:prstGeom prst="rect">
            <a:avLst/>
          </a:prstGeom>
          <a:solidFill>
            <a:srgbClr val="FFE000"/>
          </a:solidFill>
          <a:ln/>
        </p:spPr>
      </p:sp>
      <p:sp>
        <p:nvSpPr>
          <p:cNvPr id="8" name="Text 5"/>
          <p:cNvSpPr/>
          <p:nvPr/>
        </p:nvSpPr>
        <p:spPr>
          <a:xfrm>
            <a:off x="3091685" y="2390849"/>
            <a:ext cx="2960556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2025"/>
              </a:spcAft>
              <a:buNone/>
            </a:pPr>
            <a:r>
              <a:rPr lang="en-US" sz="158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 &amp; Discussion</a:t>
            </a:r>
            <a:endParaRPr lang="en-US" sz="1580" dirty="0"/>
          </a:p>
        </p:txBody>
      </p:sp>
      <p:sp>
        <p:nvSpPr>
          <p:cNvPr id="9" name="Text 6"/>
          <p:cNvSpPr/>
          <p:nvPr/>
        </p:nvSpPr>
        <p:spPr>
          <a:xfrm>
            <a:off x="2854966" y="2935412"/>
            <a:ext cx="55312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324"/>
              </a:spcAft>
              <a:buNone/>
            </a:pPr>
            <a:r>
              <a:rPr lang="en-US" sz="860" spc="130" kern="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</a:t>
            </a:r>
            <a:endParaRPr lang="en-US" sz="860" dirty="0"/>
          </a:p>
        </p:txBody>
      </p:sp>
      <p:sp>
        <p:nvSpPr>
          <p:cNvPr id="10" name="Text 7"/>
          <p:cNvSpPr/>
          <p:nvPr/>
        </p:nvSpPr>
        <p:spPr>
          <a:xfrm>
            <a:off x="2565030" y="3131567"/>
            <a:ext cx="113307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CC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Aryan Giri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228381" y="3378473"/>
            <a:ext cx="180637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CC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Aakash Sharma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276073" y="3625379"/>
            <a:ext cx="17109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CC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Mrinal Shaurya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261321" y="2920454"/>
            <a:ext cx="9525" cy="947737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4" name="Text 11"/>
          <p:cNvSpPr/>
          <p:nvPr/>
        </p:nvSpPr>
        <p:spPr>
          <a:xfrm>
            <a:off x="5273576" y="2935412"/>
            <a:ext cx="86588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324"/>
              </a:spcAft>
              <a:buNone/>
            </a:pPr>
            <a:r>
              <a:rPr lang="en-US" sz="860" spc="130" kern="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</a:t>
            </a:r>
            <a:endParaRPr lang="en-US" sz="860" dirty="0"/>
          </a:p>
        </p:txBody>
      </p:sp>
      <p:sp>
        <p:nvSpPr>
          <p:cNvPr id="15" name="Text 12"/>
          <p:cNvSpPr/>
          <p:nvPr/>
        </p:nvSpPr>
        <p:spPr>
          <a:xfrm>
            <a:off x="4519404" y="3131567"/>
            <a:ext cx="23742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CC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Blinkit SLA Diagnostic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405640" y="3392760"/>
            <a:ext cx="260175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Analytics &amp; ML Capstone</a:t>
            </a:r>
            <a:endParaRPr lang="en-US" sz="1080" dirty="0"/>
          </a:p>
        </p:txBody>
      </p:sp>
      <p:sp>
        <p:nvSpPr>
          <p:cNvPr id="17" name="Text 14"/>
          <p:cNvSpPr/>
          <p:nvPr/>
        </p:nvSpPr>
        <p:spPr>
          <a:xfrm>
            <a:off x="5456713" y="3624114"/>
            <a:ext cx="49953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Bef>
                <a:spcPts val="203"/>
              </a:spcBef>
              <a:buNone/>
            </a:pPr>
            <a:r>
              <a:rPr lang="en-US" sz="108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</a:t>
            </a:r>
            <a:endParaRPr lang="en-US" sz="1080" dirty="0"/>
          </a:p>
        </p:txBody>
      </p:sp>
      <p:sp>
        <p:nvSpPr>
          <p:cNvPr id="18" name="Shape 15"/>
          <p:cNvSpPr/>
          <p:nvPr/>
        </p:nvSpPr>
        <p:spPr>
          <a:xfrm>
            <a:off x="0" y="5118757"/>
            <a:ext cx="9144000" cy="23812"/>
          </a:xfrm>
          <a:prstGeom prst="rect">
            <a:avLst/>
          </a:prstGeom>
          <a:solidFill>
            <a:srgbClr val="1DA462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2026-07-27T13:09:58Z</dcterms:created>
  <dcterms:modified xsi:type="dcterms:W3CDTF">2026-07-27T13:09:58Z</dcterms:modified>
</cp:coreProperties>
</file>